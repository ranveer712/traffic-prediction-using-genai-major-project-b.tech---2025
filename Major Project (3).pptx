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5143500" cx="9144000"/>
  <p:notesSz cx="6858000" cy="9144000"/>
  <p:embeddedFontLst>
    <p:embeddedFont>
      <p:font typeface="Economica"/>
      <p:regular r:id="rId75"/>
      <p:bold r:id="rId76"/>
      <p:italic r:id="rId77"/>
      <p:boldItalic r:id="rId78"/>
    </p:embeddedFont>
    <p:embeddedFont>
      <p:font typeface="Roboto Mono"/>
      <p:regular r:id="rId79"/>
      <p:bold r:id="rId80"/>
      <p:italic r:id="rId81"/>
      <p:boldItalic r:id="rId82"/>
    </p:embeddedFont>
    <p:embeddedFont>
      <p:font typeface="Cambria Math"/>
      <p:regular r:id="rId83"/>
    </p:embeddedFont>
    <p:embeddedFont>
      <p:font typeface="Open Sans"/>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2C37F3-269D-42A0-BB0A-0287565DEFEB}">
  <a:tblStyle styleId="{C82C37F3-269D-42A0-BB0A-0287565DEFEB}" styleName="Table_0">
    <a:wholeTbl>
      <a:tcTxStyle b="off" i="off">
        <a:font>
          <a:latin typeface="Trebuchet MS"/>
          <a:ea typeface="Trebuchet MS"/>
          <a:cs typeface="Trebuchet M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OpenSans-regular.fntdata"/><Relationship Id="rId83" Type="http://schemas.openxmlformats.org/officeDocument/2006/relationships/font" Target="fonts/CambriaMath-regular.fntdata"/><Relationship Id="rId42" Type="http://schemas.openxmlformats.org/officeDocument/2006/relationships/slide" Target="slides/slide36.xml"/><Relationship Id="rId86" Type="http://schemas.openxmlformats.org/officeDocument/2006/relationships/font" Target="fonts/OpenSans-italic.fntdata"/><Relationship Id="rId41" Type="http://schemas.openxmlformats.org/officeDocument/2006/relationships/slide" Target="slides/slide35.xml"/><Relationship Id="rId85" Type="http://schemas.openxmlformats.org/officeDocument/2006/relationships/font" Target="fonts/OpenSans-bold.fntdata"/><Relationship Id="rId44" Type="http://schemas.openxmlformats.org/officeDocument/2006/relationships/slide" Target="slides/slide38.xml"/><Relationship Id="rId43" Type="http://schemas.openxmlformats.org/officeDocument/2006/relationships/slide" Target="slides/slide37.xml"/><Relationship Id="rId87" Type="http://schemas.openxmlformats.org/officeDocument/2006/relationships/font" Target="fonts/OpenSans-boldItalic.fnt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RobotoMono-bold.fntdata"/><Relationship Id="rId82" Type="http://schemas.openxmlformats.org/officeDocument/2006/relationships/font" Target="fonts/RobotoMono-boldItalic.fntdata"/><Relationship Id="rId81"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Economica-regular.fntdata"/><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Economica-italic.fntdata"/><Relationship Id="rId32" Type="http://schemas.openxmlformats.org/officeDocument/2006/relationships/slide" Target="slides/slide26.xml"/><Relationship Id="rId76" Type="http://schemas.openxmlformats.org/officeDocument/2006/relationships/font" Target="fonts/Economica-bold.fntdata"/><Relationship Id="rId35" Type="http://schemas.openxmlformats.org/officeDocument/2006/relationships/slide" Target="slides/slide29.xml"/><Relationship Id="rId79" Type="http://schemas.openxmlformats.org/officeDocument/2006/relationships/font" Target="fonts/RobotoMono-regular.fntdata"/><Relationship Id="rId34" Type="http://schemas.openxmlformats.org/officeDocument/2006/relationships/slide" Target="slides/slide28.xml"/><Relationship Id="rId78" Type="http://schemas.openxmlformats.org/officeDocument/2006/relationships/font" Target="fonts/Economica-bol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1ef67435af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1ef67435a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ef67435a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ef67435a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1ef67435a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1ef67435a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bf2228b17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bf2228b17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bf2228b17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1bf2228b17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bf2228b1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1bf2228b1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bf2228b1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bf2228b1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bf2228b17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bf2228b17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bf2228b1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1bf2228b1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bf2228b17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1bf2228b17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bf2228b17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bf2228b17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efb795aa0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1efb795aa0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efb795aa0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1efb795aa0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1efb795aa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1efb795aa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1efb795aa0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1efb795aa0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1efb795aa0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1efb795aa0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efb795aa0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1efb795aa0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1bf2228b17_1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g31bf2228b17_1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1bf2228b17_1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1bf2228b17_1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1ef67435af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1ef67435af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1bf2228b17_1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1bf2228b17_1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3"/>
          <p:cNvSpPr txBox="1"/>
          <p:nvPr>
            <p:ph type="title"/>
          </p:nvPr>
        </p:nvSpPr>
        <p:spPr>
          <a:xfrm>
            <a:off x="508001" y="457200"/>
            <a:ext cx="6447600" cy="990600"/>
          </a:xfrm>
          <a:prstGeom prst="rect">
            <a:avLst/>
          </a:prstGeom>
          <a:noFill/>
          <a:ln>
            <a:noFill/>
          </a:ln>
        </p:spPr>
        <p:txBody>
          <a:bodyPr anchorCtr="0" anchor="t" bIns="45700" lIns="91425" spcFirstLastPara="1" rIns="91425" wrap="square" tIns="45700">
            <a:normAutofit/>
          </a:bodyPr>
          <a:lstStyle>
            <a:lvl1pPr lvl="0" rtl="0" algn="l">
              <a:spcBef>
                <a:spcPts val="0"/>
              </a:spcBef>
              <a:spcAft>
                <a:spcPts val="0"/>
              </a:spcAft>
              <a:buClr>
                <a:schemeClr val="accent1"/>
              </a:buClr>
              <a:buSzPts val="2700"/>
              <a:buFont typeface="Trebuchet MS"/>
              <a:buNone/>
              <a:defRPr sz="2700"/>
            </a:lvl1pPr>
            <a:lvl2pPr lvl="1" rtl="0" algn="l">
              <a:spcBef>
                <a:spcPts val="0"/>
              </a:spcBef>
              <a:spcAft>
                <a:spcPts val="0"/>
              </a:spcAft>
              <a:buSzPts val="4200"/>
              <a:buNone/>
              <a:defRPr/>
            </a:lvl2pPr>
            <a:lvl3pPr lvl="2" rtl="0" algn="l">
              <a:spcBef>
                <a:spcPts val="0"/>
              </a:spcBef>
              <a:spcAft>
                <a:spcPts val="0"/>
              </a:spcAft>
              <a:buSzPts val="4200"/>
              <a:buNone/>
              <a:defRPr/>
            </a:lvl3pPr>
            <a:lvl4pPr lvl="3" rtl="0" algn="l">
              <a:spcBef>
                <a:spcPts val="0"/>
              </a:spcBef>
              <a:spcAft>
                <a:spcPts val="0"/>
              </a:spcAft>
              <a:buSzPts val="4200"/>
              <a:buNone/>
              <a:defRPr/>
            </a:lvl4pPr>
            <a:lvl5pPr lvl="4" rtl="0" algn="l">
              <a:spcBef>
                <a:spcPts val="0"/>
              </a:spcBef>
              <a:spcAft>
                <a:spcPts val="0"/>
              </a:spcAft>
              <a:buSzPts val="4200"/>
              <a:buNone/>
              <a:defRPr/>
            </a:lvl5pPr>
            <a:lvl6pPr lvl="5" rtl="0" algn="l">
              <a:spcBef>
                <a:spcPts val="0"/>
              </a:spcBef>
              <a:spcAft>
                <a:spcPts val="0"/>
              </a:spcAft>
              <a:buSzPts val="4200"/>
              <a:buNone/>
              <a:defRPr/>
            </a:lvl6pPr>
            <a:lvl7pPr lvl="6" rtl="0" algn="l">
              <a:spcBef>
                <a:spcPts val="0"/>
              </a:spcBef>
              <a:spcAft>
                <a:spcPts val="0"/>
              </a:spcAft>
              <a:buSzPts val="4200"/>
              <a:buNone/>
              <a:defRPr/>
            </a:lvl7pPr>
            <a:lvl8pPr lvl="7" rtl="0" algn="l">
              <a:spcBef>
                <a:spcPts val="0"/>
              </a:spcBef>
              <a:spcAft>
                <a:spcPts val="0"/>
              </a:spcAft>
              <a:buSzPts val="4200"/>
              <a:buNone/>
              <a:defRPr/>
            </a:lvl8pPr>
            <a:lvl9pPr lvl="8" algn="l">
              <a:spcBef>
                <a:spcPts val="0"/>
              </a:spcBef>
              <a:spcAft>
                <a:spcPts val="0"/>
              </a:spcAft>
              <a:buSzPts val="4200"/>
              <a:buNone/>
              <a:defRPr/>
            </a:lvl9pPr>
          </a:lstStyle>
          <a:p/>
        </p:txBody>
      </p:sp>
      <p:sp>
        <p:nvSpPr>
          <p:cNvPr id="60" name="Google Shape;60;p13"/>
          <p:cNvSpPr txBox="1"/>
          <p:nvPr>
            <p:ph idx="1" type="body"/>
          </p:nvPr>
        </p:nvSpPr>
        <p:spPr>
          <a:xfrm>
            <a:off x="508001" y="1620442"/>
            <a:ext cx="6447600" cy="2910600"/>
          </a:xfrm>
          <a:prstGeom prst="rect">
            <a:avLst/>
          </a:prstGeom>
          <a:noFill/>
          <a:ln>
            <a:noFill/>
          </a:ln>
        </p:spPr>
        <p:txBody>
          <a:bodyPr anchorCtr="0" anchor="t" bIns="45700" lIns="91425" spcFirstLastPara="1" rIns="91425" wrap="square" tIns="45700">
            <a:normAutofit/>
          </a:bodyPr>
          <a:lstStyle>
            <a:lvl1pPr indent="-320040" lvl="0" marL="457200" rtl="0" algn="l">
              <a:spcBef>
                <a:spcPts val="750"/>
              </a:spcBef>
              <a:spcAft>
                <a:spcPts val="0"/>
              </a:spcAft>
              <a:buSzPts val="1440"/>
              <a:buChar char="●"/>
              <a:defRPr/>
            </a:lvl1pPr>
            <a:lvl2pPr indent="-320040" lvl="1" marL="914400" rtl="0" algn="l">
              <a:spcBef>
                <a:spcPts val="750"/>
              </a:spcBef>
              <a:spcAft>
                <a:spcPts val="0"/>
              </a:spcAft>
              <a:buSzPts val="1440"/>
              <a:buChar char="○"/>
              <a:defRPr/>
            </a:lvl2pPr>
            <a:lvl3pPr indent="-320039" lvl="2" marL="1371600" rtl="0" algn="l">
              <a:spcBef>
                <a:spcPts val="750"/>
              </a:spcBef>
              <a:spcAft>
                <a:spcPts val="0"/>
              </a:spcAft>
              <a:buSzPts val="1440"/>
              <a:buChar char="■"/>
              <a:defRPr/>
            </a:lvl3pPr>
            <a:lvl4pPr indent="-320039" lvl="3" marL="1828800" rtl="0" algn="l">
              <a:spcBef>
                <a:spcPts val="750"/>
              </a:spcBef>
              <a:spcAft>
                <a:spcPts val="0"/>
              </a:spcAft>
              <a:buSzPts val="1440"/>
              <a:buChar char="●"/>
              <a:defRPr/>
            </a:lvl4pPr>
            <a:lvl5pPr indent="-320039" lvl="4" marL="2286000" rtl="0" algn="l">
              <a:spcBef>
                <a:spcPts val="750"/>
              </a:spcBef>
              <a:spcAft>
                <a:spcPts val="0"/>
              </a:spcAft>
              <a:buSzPts val="1440"/>
              <a:buChar char="○"/>
              <a:defRPr/>
            </a:lvl5pPr>
            <a:lvl6pPr indent="-320039" lvl="5" marL="2743200" rtl="0" algn="l">
              <a:spcBef>
                <a:spcPts val="750"/>
              </a:spcBef>
              <a:spcAft>
                <a:spcPts val="0"/>
              </a:spcAft>
              <a:buSzPts val="1440"/>
              <a:buChar char="■"/>
              <a:defRPr/>
            </a:lvl6pPr>
            <a:lvl7pPr indent="-320039" lvl="6" marL="3200400" rtl="0" algn="l">
              <a:spcBef>
                <a:spcPts val="750"/>
              </a:spcBef>
              <a:spcAft>
                <a:spcPts val="0"/>
              </a:spcAft>
              <a:buSzPts val="1440"/>
              <a:buChar char="●"/>
              <a:defRPr/>
            </a:lvl7pPr>
            <a:lvl8pPr indent="-320040" lvl="7" marL="3657600" rtl="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61" name="Google Shape;61;p13"/>
          <p:cNvSpPr txBox="1"/>
          <p:nvPr>
            <p:ph idx="10" type="dt"/>
          </p:nvPr>
        </p:nvSpPr>
        <p:spPr>
          <a:xfrm>
            <a:off x="5403850" y="4531022"/>
            <a:ext cx="684000" cy="2739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idx="11" type="ftr"/>
          </p:nvPr>
        </p:nvSpPr>
        <p:spPr>
          <a:xfrm>
            <a:off x="508001" y="4531022"/>
            <a:ext cx="47232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2" type="sldNum"/>
          </p:nvPr>
        </p:nvSpPr>
        <p:spPr>
          <a:xfrm>
            <a:off x="6442998" y="4531022"/>
            <a:ext cx="512400" cy="273900"/>
          </a:xfrm>
          <a:prstGeom prst="rect">
            <a:avLst/>
          </a:prstGeom>
          <a:noFill/>
          <a:ln>
            <a:noFill/>
          </a:ln>
        </p:spPr>
        <p:txBody>
          <a:bodyPr anchorCtr="0" anchor="ctr" bIns="45700" lIns="91425" spcFirstLastPara="1" rIns="91425" wrap="square" tIns="45700">
            <a:normAutofit/>
          </a:bodyPr>
          <a:lstStyle>
            <a:lvl1pPr indent="0" lvl="0" marL="115570" algn="r">
              <a:lnSpc>
                <a:spcPct val="100000"/>
              </a:lnSpc>
              <a:spcBef>
                <a:spcPts val="0"/>
              </a:spcBef>
              <a:spcAft>
                <a:spcPts val="0"/>
              </a:spcAft>
              <a:buNone/>
              <a:defRPr/>
            </a:lvl1pPr>
            <a:lvl2pPr indent="0" lvl="1" marL="115570" algn="r">
              <a:lnSpc>
                <a:spcPct val="100000"/>
              </a:lnSpc>
              <a:spcBef>
                <a:spcPts val="0"/>
              </a:spcBef>
              <a:spcAft>
                <a:spcPts val="0"/>
              </a:spcAft>
              <a:buNone/>
              <a:defRPr/>
            </a:lvl2pPr>
            <a:lvl3pPr indent="0" lvl="2" marL="115570" algn="r">
              <a:lnSpc>
                <a:spcPct val="100000"/>
              </a:lnSpc>
              <a:spcBef>
                <a:spcPts val="0"/>
              </a:spcBef>
              <a:spcAft>
                <a:spcPts val="0"/>
              </a:spcAft>
              <a:buNone/>
              <a:defRPr/>
            </a:lvl3pPr>
            <a:lvl4pPr indent="0" lvl="3" marL="115570" algn="r">
              <a:lnSpc>
                <a:spcPct val="100000"/>
              </a:lnSpc>
              <a:spcBef>
                <a:spcPts val="0"/>
              </a:spcBef>
              <a:spcAft>
                <a:spcPts val="0"/>
              </a:spcAft>
              <a:buNone/>
              <a:defRPr/>
            </a:lvl4pPr>
            <a:lvl5pPr indent="0" lvl="4" marL="115570" algn="r">
              <a:lnSpc>
                <a:spcPct val="100000"/>
              </a:lnSpc>
              <a:spcBef>
                <a:spcPts val="0"/>
              </a:spcBef>
              <a:spcAft>
                <a:spcPts val="0"/>
              </a:spcAft>
              <a:buNone/>
              <a:defRPr/>
            </a:lvl5pPr>
            <a:lvl6pPr indent="0" lvl="5" marL="115570" algn="r">
              <a:lnSpc>
                <a:spcPct val="100000"/>
              </a:lnSpc>
              <a:spcBef>
                <a:spcPts val="0"/>
              </a:spcBef>
              <a:spcAft>
                <a:spcPts val="0"/>
              </a:spcAft>
              <a:buNone/>
              <a:defRPr/>
            </a:lvl6pPr>
            <a:lvl7pPr indent="0" lvl="6" marL="115570" algn="r">
              <a:lnSpc>
                <a:spcPct val="100000"/>
              </a:lnSpc>
              <a:spcBef>
                <a:spcPts val="0"/>
              </a:spcBef>
              <a:spcAft>
                <a:spcPts val="0"/>
              </a:spcAft>
              <a:buNone/>
              <a:defRPr/>
            </a:lvl7pPr>
            <a:lvl8pPr indent="0" lvl="7" marL="115570" algn="r">
              <a:lnSpc>
                <a:spcPct val="100000"/>
              </a:lnSpc>
              <a:spcBef>
                <a:spcPts val="0"/>
              </a:spcBef>
              <a:spcAft>
                <a:spcPts val="0"/>
              </a:spcAft>
              <a:buNone/>
              <a:defRPr/>
            </a:lvl8pPr>
            <a:lvl9pPr indent="0" lvl="8" marL="115570" algn="r">
              <a:lnSpc>
                <a:spcPct val="100000"/>
              </a:lnSpc>
              <a:spcBef>
                <a:spcPts val="0"/>
              </a:spcBef>
              <a:spcAft>
                <a:spcPts val="0"/>
              </a:spcAft>
              <a:buNone/>
              <a:defRPr/>
            </a:lvl9pPr>
          </a:lstStyle>
          <a:p>
            <a:pPr indent="0" lvl="0" marL="11557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pritamBikram/Traffic_Dataset" TargetMode="External"/><Relationship Id="rId4" Type="http://schemas.openxmlformats.org/officeDocument/2006/relationships/hyperlink" Target="https://github.com/pritamBikram/Traffic_Datas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jpg"/><Relationship Id="rId4" Type="http://schemas.openxmlformats.org/officeDocument/2006/relationships/hyperlink" Target="http://pems.dot.ca.gov/"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jpg"/><Relationship Id="rId4" Type="http://schemas.openxmlformats.org/officeDocument/2006/relationships/image" Target="../media/image20.png"/><Relationship Id="rId5"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www.sciencedirect.com/science/article/pii/S0925231224012128" TargetMode="External"/><Relationship Id="rId4" Type="http://schemas.openxmlformats.org/officeDocument/2006/relationships/hyperlink" Target="https://ieeexplore.ieee.org/stamp/stamp.jsp?tp=&amp;arnumber=8903252" TargetMode="External"/><Relationship Id="rId5" Type="http://schemas.openxmlformats.org/officeDocument/2006/relationships/hyperlink" Target="https://arxiv.org/pdf/2006.11583"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49000" y="1828050"/>
            <a:ext cx="8492400" cy="300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t/>
            </a:r>
            <a:endParaRPr sz="1700"/>
          </a:p>
          <a:p>
            <a:pPr indent="0" lvl="0" marL="0" rtl="0" algn="l">
              <a:lnSpc>
                <a:spcPct val="100000"/>
              </a:lnSpc>
              <a:spcBef>
                <a:spcPts val="0"/>
              </a:spcBef>
              <a:spcAft>
                <a:spcPts val="0"/>
              </a:spcAft>
              <a:buSzPts val="990"/>
              <a:buNone/>
            </a:pPr>
            <a:r>
              <a:t/>
            </a:r>
            <a:endParaRPr b="1" sz="1700" u="sng">
              <a:solidFill>
                <a:srgbClr val="000000"/>
              </a:solidFill>
            </a:endParaRPr>
          </a:p>
          <a:p>
            <a:pPr indent="0" lvl="0" marL="0" rtl="0" algn="ctr">
              <a:lnSpc>
                <a:spcPct val="100000"/>
              </a:lnSpc>
              <a:spcBef>
                <a:spcPts val="0"/>
              </a:spcBef>
              <a:spcAft>
                <a:spcPts val="0"/>
              </a:spcAft>
              <a:buSzPts val="990"/>
              <a:buNone/>
            </a:pPr>
            <a:r>
              <a:t/>
            </a:r>
            <a:endParaRPr b="1" sz="1700" u="sng">
              <a:solidFill>
                <a:srgbClr val="000000"/>
              </a:solidFill>
            </a:endParaRPr>
          </a:p>
          <a:p>
            <a:pPr indent="0" lvl="0" marL="0" rtl="0" algn="ctr">
              <a:lnSpc>
                <a:spcPct val="100000"/>
              </a:lnSpc>
              <a:spcBef>
                <a:spcPts val="0"/>
              </a:spcBef>
              <a:spcAft>
                <a:spcPts val="0"/>
              </a:spcAft>
              <a:buSzPts val="990"/>
              <a:buNone/>
            </a:pPr>
            <a:r>
              <a:rPr b="1" lang="en-US" sz="1800" u="sng">
                <a:solidFill>
                  <a:srgbClr val="000000"/>
                </a:solidFill>
              </a:rPr>
              <a:t>Team Members</a:t>
            </a:r>
            <a:endParaRPr sz="1800" u="sng">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Ranveer Sahay - 2021CSB024</a:t>
            </a:r>
            <a:endParaRPr sz="1800">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Raksha Pahariya - 2021CSB029</a:t>
            </a:r>
            <a:endParaRPr sz="1800">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Ayush Yadav - 2021CSB032</a:t>
            </a:r>
            <a:endParaRPr sz="1800">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Bezawada Hamsa Tejaswini - 2021CSB069</a:t>
            </a:r>
            <a:endParaRPr sz="1800">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Sree Sanjana Nettem - 2021CSB080</a:t>
            </a:r>
            <a:endParaRPr sz="1800">
              <a:solidFill>
                <a:srgbClr val="000000"/>
              </a:solidFill>
            </a:endParaRPr>
          </a:p>
          <a:p>
            <a:pPr indent="0" lvl="0" marL="0" rtl="0" algn="ctr">
              <a:lnSpc>
                <a:spcPct val="100000"/>
              </a:lnSpc>
              <a:spcBef>
                <a:spcPts val="0"/>
              </a:spcBef>
              <a:spcAft>
                <a:spcPts val="0"/>
              </a:spcAft>
              <a:buSzPts val="990"/>
              <a:buNone/>
            </a:pPr>
            <a:r>
              <a:rPr lang="en-US" sz="1800">
                <a:solidFill>
                  <a:srgbClr val="000000"/>
                </a:solidFill>
              </a:rPr>
              <a:t>Pulkit - 2021CSB083</a:t>
            </a:r>
            <a:endParaRPr b="1" sz="1800"/>
          </a:p>
          <a:p>
            <a:pPr indent="0" lvl="0" marL="0" rtl="0" algn="ctr">
              <a:lnSpc>
                <a:spcPct val="100000"/>
              </a:lnSpc>
              <a:spcBef>
                <a:spcPts val="0"/>
              </a:spcBef>
              <a:spcAft>
                <a:spcPts val="0"/>
              </a:spcAft>
              <a:buSzPts val="1800"/>
              <a:buNone/>
            </a:pPr>
            <a:r>
              <a:t/>
            </a:r>
            <a:endParaRPr b="1" sz="1700"/>
          </a:p>
          <a:p>
            <a:pPr indent="0" lvl="0" marL="0" rtl="0" algn="ctr">
              <a:lnSpc>
                <a:spcPct val="100000"/>
              </a:lnSpc>
              <a:spcBef>
                <a:spcPts val="0"/>
              </a:spcBef>
              <a:spcAft>
                <a:spcPts val="0"/>
              </a:spcAft>
              <a:buSzPts val="1800"/>
              <a:buNone/>
            </a:pPr>
            <a:r>
              <a:rPr b="1" lang="en-US" sz="1700"/>
              <a:t>Under the supervision of</a:t>
            </a:r>
            <a:r>
              <a:rPr lang="en-US" sz="1700"/>
              <a:t> </a:t>
            </a:r>
            <a:r>
              <a:rPr b="1" lang="en-US" sz="1700"/>
              <a:t>Dr.</a:t>
            </a:r>
            <a:r>
              <a:rPr lang="en-US" sz="1700"/>
              <a:t> </a:t>
            </a:r>
            <a:r>
              <a:rPr b="1" lang="en-US" sz="1700"/>
              <a:t>Asit</a:t>
            </a:r>
            <a:r>
              <a:rPr lang="en-US" sz="1700"/>
              <a:t> </a:t>
            </a:r>
            <a:r>
              <a:rPr b="1" lang="en-US" sz="1700"/>
              <a:t>Kumar</a:t>
            </a:r>
            <a:r>
              <a:rPr lang="en-US" sz="1700"/>
              <a:t> </a:t>
            </a:r>
            <a:r>
              <a:rPr b="1" lang="en-US" sz="1700"/>
              <a:t>Das,</a:t>
            </a:r>
            <a:endParaRPr b="1" sz="1700"/>
          </a:p>
          <a:p>
            <a:pPr indent="0" lvl="0" marL="0" rtl="0" algn="ctr">
              <a:lnSpc>
                <a:spcPct val="100000"/>
              </a:lnSpc>
              <a:spcBef>
                <a:spcPts val="0"/>
              </a:spcBef>
              <a:spcAft>
                <a:spcPts val="0"/>
              </a:spcAft>
              <a:buClr>
                <a:schemeClr val="dk1"/>
              </a:buClr>
              <a:buSzPts val="1800"/>
              <a:buFont typeface="Arial"/>
              <a:buNone/>
            </a:pPr>
            <a:r>
              <a:rPr b="1" lang="en-US" sz="1700"/>
              <a:t>Professor of Department of Computer Science and Technology</a:t>
            </a:r>
            <a:endParaRPr b="1" sz="1700"/>
          </a:p>
          <a:p>
            <a:pPr indent="0" lvl="0" marL="0" rtl="0" algn="ctr">
              <a:lnSpc>
                <a:spcPct val="100000"/>
              </a:lnSpc>
              <a:spcBef>
                <a:spcPts val="0"/>
              </a:spcBef>
              <a:spcAft>
                <a:spcPts val="0"/>
              </a:spcAft>
              <a:buClr>
                <a:schemeClr val="dk1"/>
              </a:buClr>
              <a:buSzPts val="5200"/>
              <a:buFont typeface="Arial"/>
              <a:buNone/>
            </a:pPr>
            <a:r>
              <a:rPr lang="en-US" sz="1700"/>
              <a:t>Indian Institute of Engineering Science and Technology, Shibpur </a:t>
            </a:r>
            <a:endParaRPr b="1" sz="1700"/>
          </a:p>
          <a:p>
            <a:pPr indent="0" lvl="0" marL="0" rtl="0" algn="ctr">
              <a:lnSpc>
                <a:spcPct val="100000"/>
              </a:lnSpc>
              <a:spcBef>
                <a:spcPts val="0"/>
              </a:spcBef>
              <a:spcAft>
                <a:spcPts val="0"/>
              </a:spcAft>
              <a:buClr>
                <a:schemeClr val="dk1"/>
              </a:buClr>
              <a:buSzPts val="5200"/>
              <a:buFont typeface="Arial"/>
              <a:buNone/>
            </a:pPr>
            <a:r>
              <a:t/>
            </a:r>
            <a:endParaRPr sz="1700"/>
          </a:p>
          <a:p>
            <a:pPr indent="0" lvl="0" marL="11112" rtl="0" algn="ctr">
              <a:lnSpc>
                <a:spcPct val="100000"/>
              </a:lnSpc>
              <a:spcBef>
                <a:spcPts val="0"/>
              </a:spcBef>
              <a:spcAft>
                <a:spcPts val="0"/>
              </a:spcAft>
              <a:buSzPts val="5200"/>
              <a:buNone/>
            </a:pPr>
            <a:r>
              <a:t/>
            </a:r>
            <a:endParaRPr b="1" sz="1700"/>
          </a:p>
          <a:p>
            <a:pPr indent="0" lvl="0" marL="0" rtl="0" algn="ctr">
              <a:lnSpc>
                <a:spcPct val="100000"/>
              </a:lnSpc>
              <a:spcBef>
                <a:spcPts val="0"/>
              </a:spcBef>
              <a:spcAft>
                <a:spcPts val="0"/>
              </a:spcAft>
              <a:buSzPts val="5200"/>
              <a:buNone/>
            </a:pPr>
            <a:r>
              <a:t/>
            </a:r>
            <a:endParaRPr b="1" sz="1700"/>
          </a:p>
          <a:p>
            <a:pPr indent="0" lvl="0" marL="0" rtl="0" algn="ctr">
              <a:lnSpc>
                <a:spcPct val="100000"/>
              </a:lnSpc>
              <a:spcBef>
                <a:spcPts val="0"/>
              </a:spcBef>
              <a:spcAft>
                <a:spcPts val="0"/>
              </a:spcAft>
              <a:buSzPts val="5200"/>
              <a:buNone/>
            </a:pPr>
            <a:r>
              <a:t/>
            </a:r>
            <a:endParaRPr sz="1700"/>
          </a:p>
        </p:txBody>
      </p:sp>
      <p:sp>
        <p:nvSpPr>
          <p:cNvPr id="69" name="Google Shape;69;p14"/>
          <p:cNvSpPr txBox="1"/>
          <p:nvPr/>
        </p:nvSpPr>
        <p:spPr>
          <a:xfrm>
            <a:off x="2725475" y="166175"/>
            <a:ext cx="4104900" cy="382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5778"/>
              <a:buFont typeface="Arial"/>
              <a:buNone/>
            </a:pPr>
            <a:r>
              <a:rPr b="1" lang="en-US" sz="3000">
                <a:solidFill>
                  <a:schemeClr val="dk1"/>
                </a:solidFill>
                <a:latin typeface="Economica"/>
                <a:ea typeface="Economica"/>
                <a:cs typeface="Economica"/>
                <a:sym typeface="Economica"/>
              </a:rPr>
              <a:t>B.TECH</a:t>
            </a:r>
            <a:r>
              <a:rPr lang="en-US" sz="3000">
                <a:solidFill>
                  <a:schemeClr val="dk1"/>
                </a:solidFill>
                <a:latin typeface="Times New Roman"/>
                <a:ea typeface="Times New Roman"/>
                <a:cs typeface="Times New Roman"/>
                <a:sym typeface="Times New Roman"/>
              </a:rPr>
              <a:t> </a:t>
            </a:r>
            <a:r>
              <a:rPr b="1" lang="en-US" sz="3000">
                <a:solidFill>
                  <a:schemeClr val="dk1"/>
                </a:solidFill>
                <a:latin typeface="Economica"/>
                <a:ea typeface="Economica"/>
                <a:cs typeface="Economica"/>
                <a:sym typeface="Economica"/>
              </a:rPr>
              <a:t>MAJOR</a:t>
            </a:r>
            <a:r>
              <a:rPr lang="en-US" sz="3000">
                <a:solidFill>
                  <a:schemeClr val="dk1"/>
                </a:solidFill>
                <a:latin typeface="Times New Roman"/>
                <a:ea typeface="Times New Roman"/>
                <a:cs typeface="Times New Roman"/>
                <a:sym typeface="Times New Roman"/>
              </a:rPr>
              <a:t> </a:t>
            </a:r>
            <a:r>
              <a:rPr b="1" lang="en-US" sz="3000">
                <a:solidFill>
                  <a:schemeClr val="dk1"/>
                </a:solidFill>
                <a:latin typeface="Economica"/>
                <a:ea typeface="Economica"/>
                <a:cs typeface="Economica"/>
                <a:sym typeface="Economica"/>
              </a:rPr>
              <a:t>PROJECT</a:t>
            </a:r>
            <a:endParaRPr sz="3000">
              <a:solidFill>
                <a:schemeClr val="dk1"/>
              </a:solidFill>
              <a:latin typeface="Open Sans"/>
              <a:ea typeface="Open Sans"/>
              <a:cs typeface="Open Sans"/>
              <a:sym typeface="Open Sans"/>
            </a:endParaRPr>
          </a:p>
        </p:txBody>
      </p:sp>
      <p:sp>
        <p:nvSpPr>
          <p:cNvPr id="70" name="Google Shape;70;p14"/>
          <p:cNvSpPr txBox="1"/>
          <p:nvPr/>
        </p:nvSpPr>
        <p:spPr>
          <a:xfrm>
            <a:off x="487950" y="797700"/>
            <a:ext cx="8168100" cy="631500"/>
          </a:xfrm>
          <a:prstGeom prst="rect">
            <a:avLst/>
          </a:prstGeom>
          <a:noFill/>
          <a:ln>
            <a:noFill/>
          </a:ln>
        </p:spPr>
        <p:txBody>
          <a:bodyPr anchorCtr="0" anchor="ctr" bIns="91425" lIns="91425" spcFirstLastPara="1" rIns="91425" wrap="square" tIns="91425">
            <a:noAutofit/>
          </a:bodyPr>
          <a:lstStyle/>
          <a:p>
            <a:pPr indent="0" lvl="0" marL="11112" rtl="0" algn="ctr">
              <a:lnSpc>
                <a:spcPct val="115000"/>
              </a:lnSpc>
              <a:spcBef>
                <a:spcPts val="0"/>
              </a:spcBef>
              <a:spcAft>
                <a:spcPts val="0"/>
              </a:spcAft>
              <a:buClr>
                <a:schemeClr val="dk1"/>
              </a:buClr>
              <a:buSzPts val="5778"/>
              <a:buFont typeface="Arial"/>
              <a:buNone/>
            </a:pPr>
            <a:r>
              <a:rPr b="1" lang="en-US" sz="2200">
                <a:solidFill>
                  <a:schemeClr val="dk1"/>
                </a:solidFill>
                <a:latin typeface="Economica"/>
                <a:ea typeface="Economica"/>
                <a:cs typeface="Economica"/>
                <a:sym typeface="Economica"/>
              </a:rPr>
              <a:t>Title - An approach for developing Intelligent Transport System using Large Language Model and Generative AI</a:t>
            </a:r>
            <a:endParaRPr sz="1500">
              <a:solidFill>
                <a:schemeClr val="dk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4939950" y="1101175"/>
            <a:ext cx="4045200" cy="178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US">
                <a:solidFill>
                  <a:schemeClr val="lt1"/>
                </a:solidFill>
              </a:rPr>
              <a:t>Contents</a:t>
            </a:r>
            <a:endParaRPr b="1">
              <a:solidFill>
                <a:schemeClr val="lt1"/>
              </a:solidFill>
            </a:endParaRPr>
          </a:p>
        </p:txBody>
      </p:sp>
      <p:sp>
        <p:nvSpPr>
          <p:cNvPr id="76" name="Google Shape;76;p15"/>
          <p:cNvSpPr txBox="1"/>
          <p:nvPr>
            <p:ph idx="2" type="body"/>
          </p:nvPr>
        </p:nvSpPr>
        <p:spPr>
          <a:xfrm>
            <a:off x="91400" y="132950"/>
            <a:ext cx="4445400" cy="4845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Introduction</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Objective</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Datasets Used</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Literature Survey</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Methodology</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LSTM (Long Short-Term Memory)</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Graph Attention Network (GAT)</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Integration of LSTM and GAT</a:t>
            </a:r>
            <a:endParaRPr b="1">
              <a:solidFill>
                <a:schemeClr val="lt2"/>
              </a:solidFill>
            </a:endParaRPr>
          </a:p>
          <a:p>
            <a:pPr indent="-342900" lvl="0" marL="457200" rtl="0" algn="l">
              <a:lnSpc>
                <a:spcPct val="91283"/>
              </a:lnSpc>
              <a:spcBef>
                <a:spcPts val="0"/>
              </a:spcBef>
              <a:spcAft>
                <a:spcPts val="0"/>
              </a:spcAft>
              <a:buClr>
                <a:schemeClr val="lt2"/>
              </a:buClr>
              <a:buSzPts val="1800"/>
              <a:buAutoNum type="arabicPeriod"/>
            </a:pPr>
            <a:r>
              <a:rPr b="1" lang="en-US">
                <a:solidFill>
                  <a:schemeClr val="lt2"/>
                </a:solidFill>
                <a:highlight>
                  <a:srgbClr val="FFFFFF"/>
                </a:highlight>
              </a:rPr>
              <a:t>Diffusion Convolutional Recurrent Neural Network (DCRNN)</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Graph Partitioning</a:t>
            </a:r>
            <a:endParaRPr b="1">
              <a:solidFill>
                <a:schemeClr val="lt2"/>
              </a:solidFill>
            </a:endParaRPr>
          </a:p>
          <a:p>
            <a:pPr indent="-342900" lvl="0" marL="457200" rtl="0" algn="l">
              <a:lnSpc>
                <a:spcPct val="91283"/>
              </a:lnSpc>
              <a:spcBef>
                <a:spcPts val="0"/>
              </a:spcBef>
              <a:spcAft>
                <a:spcPts val="0"/>
              </a:spcAft>
              <a:buClr>
                <a:schemeClr val="lt2"/>
              </a:buClr>
              <a:buSzPts val="1800"/>
              <a:buAutoNum type="arabicPeriod"/>
            </a:pPr>
            <a:r>
              <a:rPr b="1" lang="en-US">
                <a:solidFill>
                  <a:schemeClr val="lt2"/>
                </a:solidFill>
                <a:highlight>
                  <a:srgbClr val="FFFFFF"/>
                </a:highlight>
              </a:rPr>
              <a:t>Attention Temporal Graph Convolutional Network </a:t>
            </a:r>
            <a:r>
              <a:rPr b="1" lang="en-US">
                <a:solidFill>
                  <a:schemeClr val="lt2"/>
                </a:solidFill>
              </a:rPr>
              <a:t>(A3TGCN)</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Conclusion and Future Scope</a:t>
            </a:r>
            <a:endParaRPr b="1">
              <a:solidFill>
                <a:schemeClr val="lt2"/>
              </a:solidFill>
            </a:endParaRPr>
          </a:p>
          <a:p>
            <a:pPr indent="-342900" lvl="0" marL="457200" rtl="0" algn="l">
              <a:lnSpc>
                <a:spcPct val="115000"/>
              </a:lnSpc>
              <a:spcBef>
                <a:spcPts val="0"/>
              </a:spcBef>
              <a:spcAft>
                <a:spcPts val="0"/>
              </a:spcAft>
              <a:buClr>
                <a:schemeClr val="lt2"/>
              </a:buClr>
              <a:buSzPts val="1800"/>
              <a:buAutoNum type="arabicPeriod"/>
            </a:pPr>
            <a:r>
              <a:rPr b="1" lang="en-US">
                <a:solidFill>
                  <a:schemeClr val="lt2"/>
                </a:solidFill>
              </a:rPr>
              <a:t>References</a:t>
            </a:r>
            <a:endParaRPr b="1">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idx="1" type="body"/>
          </p:nvPr>
        </p:nvSpPr>
        <p:spPr>
          <a:xfrm>
            <a:off x="311700" y="290825"/>
            <a:ext cx="8520600" cy="47031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018"/>
              <a:buFont typeface="Arial"/>
              <a:buNone/>
            </a:pPr>
            <a:r>
              <a:rPr b="1" lang="en-US" sz="1500" u="sng">
                <a:solidFill>
                  <a:schemeClr val="dk1"/>
                </a:solidFill>
              </a:rPr>
              <a:t>Problem Statement</a:t>
            </a:r>
            <a:r>
              <a:rPr lang="en-US" sz="1500">
                <a:solidFill>
                  <a:schemeClr val="dk1"/>
                </a:solidFill>
              </a:rPr>
              <a:t> </a:t>
            </a:r>
            <a:endParaRPr sz="1500">
              <a:solidFill>
                <a:schemeClr val="dk1"/>
              </a:solidFill>
            </a:endParaRPr>
          </a:p>
          <a:p>
            <a:pPr indent="-304800" lvl="0" marL="457200" rtl="0" algn="l">
              <a:lnSpc>
                <a:spcPct val="95000"/>
              </a:lnSpc>
              <a:spcBef>
                <a:spcPts val="1000"/>
              </a:spcBef>
              <a:spcAft>
                <a:spcPts val="0"/>
              </a:spcAft>
              <a:buSzPts val="1200"/>
              <a:buChar char="●"/>
            </a:pPr>
            <a:r>
              <a:rPr b="1" lang="en-US" sz="1200">
                <a:latin typeface="Arial"/>
                <a:ea typeface="Arial"/>
                <a:cs typeface="Arial"/>
                <a:sym typeface="Arial"/>
              </a:rPr>
              <a:t>Urban Traffic Congestion:</a:t>
            </a:r>
            <a:r>
              <a:rPr lang="en-US" sz="1200">
                <a:latin typeface="Arial"/>
                <a:ea typeface="Arial"/>
                <a:cs typeface="Arial"/>
                <a:sym typeface="Arial"/>
              </a:rPr>
              <a:t> Rapid urbanization has led to severe traffic congestion, increasing travel time, fuel consumption, and air pollution, which significantly impact the quality of life in cities.</a:t>
            </a:r>
            <a:endParaRPr sz="1200">
              <a:latin typeface="Arial"/>
              <a:ea typeface="Arial"/>
              <a:cs typeface="Arial"/>
              <a:sym typeface="Arial"/>
            </a:endParaRPr>
          </a:p>
          <a:p>
            <a:pPr indent="-304800" lvl="0" marL="457200" rtl="0" algn="l">
              <a:lnSpc>
                <a:spcPct val="95000"/>
              </a:lnSpc>
              <a:spcBef>
                <a:spcPts val="1000"/>
              </a:spcBef>
              <a:spcAft>
                <a:spcPts val="0"/>
              </a:spcAft>
              <a:buSzPts val="1200"/>
              <a:buChar char="●"/>
            </a:pPr>
            <a:r>
              <a:rPr b="1" lang="en-US" sz="1200">
                <a:latin typeface="Arial"/>
                <a:ea typeface="Arial"/>
                <a:cs typeface="Arial"/>
                <a:sym typeface="Arial"/>
              </a:rPr>
              <a:t>Ineffective Traditional Systems:</a:t>
            </a:r>
            <a:r>
              <a:rPr lang="en-US" sz="1200">
                <a:latin typeface="Arial"/>
                <a:ea typeface="Arial"/>
                <a:cs typeface="Arial"/>
                <a:sym typeface="Arial"/>
              </a:rPr>
              <a:t> Existing traffic management systems rely on outdated models that do not adapt to dynamic traffic conditions, such as real-time accidents, road closures, or fluctuating traffic volumes.</a:t>
            </a:r>
            <a:endParaRPr sz="1200">
              <a:latin typeface="Arial"/>
              <a:ea typeface="Arial"/>
              <a:cs typeface="Arial"/>
              <a:sym typeface="Arial"/>
            </a:endParaRPr>
          </a:p>
          <a:p>
            <a:pPr indent="-304800" lvl="0" marL="457200" rtl="0" algn="l">
              <a:lnSpc>
                <a:spcPct val="95000"/>
              </a:lnSpc>
              <a:spcBef>
                <a:spcPts val="1000"/>
              </a:spcBef>
              <a:spcAft>
                <a:spcPts val="0"/>
              </a:spcAft>
              <a:buSzPts val="1200"/>
              <a:buChar char="●"/>
            </a:pPr>
            <a:r>
              <a:rPr b="1" lang="en-US" sz="1200">
                <a:latin typeface="Arial"/>
                <a:ea typeface="Arial"/>
                <a:cs typeface="Arial"/>
                <a:sym typeface="Arial"/>
              </a:rPr>
              <a:t>Lack of Personalization:</a:t>
            </a:r>
            <a:r>
              <a:rPr lang="en-US" sz="1200">
                <a:latin typeface="Arial"/>
                <a:ea typeface="Arial"/>
                <a:cs typeface="Arial"/>
                <a:sym typeface="Arial"/>
              </a:rPr>
              <a:t> Current route optimization systems provide generic, one-size-fits-all recommendations, disregarding individual preferences such as avoiding tolls, minimizing travel time, or considering environmental impact.</a:t>
            </a:r>
            <a:endParaRPr sz="1200">
              <a:latin typeface="Arial"/>
              <a:ea typeface="Arial"/>
              <a:cs typeface="Arial"/>
              <a:sym typeface="Arial"/>
            </a:endParaRPr>
          </a:p>
          <a:p>
            <a:pPr indent="-304800" lvl="0" marL="457200" rtl="0" algn="l">
              <a:lnSpc>
                <a:spcPct val="95000"/>
              </a:lnSpc>
              <a:spcBef>
                <a:spcPts val="1000"/>
              </a:spcBef>
              <a:spcAft>
                <a:spcPts val="0"/>
              </a:spcAft>
              <a:buSzPts val="1200"/>
              <a:buChar char="●"/>
            </a:pPr>
            <a:r>
              <a:rPr b="1" lang="en-US" sz="1200">
                <a:latin typeface="Arial"/>
                <a:ea typeface="Arial"/>
                <a:cs typeface="Arial"/>
                <a:sym typeface="Arial"/>
              </a:rPr>
              <a:t>Inaccurate Traffic Prediction:</a:t>
            </a:r>
            <a:r>
              <a:rPr lang="en-US" sz="1200">
                <a:latin typeface="Arial"/>
                <a:ea typeface="Arial"/>
                <a:cs typeface="Arial"/>
                <a:sym typeface="Arial"/>
              </a:rPr>
              <a:t> Traditional forecasting methods fail to accurately predict traffic patterns, lacking the ability to account for complex, time-dependent factors like weather, road conditions, and driver behavior.</a:t>
            </a:r>
            <a:endParaRPr sz="1200">
              <a:latin typeface="Arial"/>
              <a:ea typeface="Arial"/>
              <a:cs typeface="Arial"/>
              <a:sym typeface="Arial"/>
            </a:endParaRPr>
          </a:p>
          <a:p>
            <a:pPr indent="-304800" lvl="0" marL="457200" rtl="0" algn="l">
              <a:lnSpc>
                <a:spcPct val="95000"/>
              </a:lnSpc>
              <a:spcBef>
                <a:spcPts val="1000"/>
              </a:spcBef>
              <a:spcAft>
                <a:spcPts val="0"/>
              </a:spcAft>
              <a:buSzPts val="1200"/>
              <a:buChar char="●"/>
            </a:pPr>
            <a:r>
              <a:rPr b="1" lang="en-US" sz="1200">
                <a:latin typeface="Arial"/>
                <a:ea typeface="Arial"/>
                <a:cs typeface="Arial"/>
                <a:sym typeface="Arial"/>
              </a:rPr>
              <a:t>Absence of Comprehensive Evaluation:</a:t>
            </a:r>
            <a:r>
              <a:rPr lang="en-US" sz="1200">
                <a:latin typeface="Arial"/>
                <a:ea typeface="Arial"/>
                <a:cs typeface="Arial"/>
                <a:sym typeface="Arial"/>
              </a:rPr>
              <a:t> There is a lack of robust frameworks to evaluate the performance of Intelligent Transport Systems (ITS), making it difficult to compare different models and understand their effectiveness in real-world scenarios.</a:t>
            </a:r>
            <a:endParaRPr sz="1200"/>
          </a:p>
          <a:p>
            <a:pPr indent="0" lvl="0" marL="0" rtl="0" algn="l">
              <a:lnSpc>
                <a:spcPct val="95000"/>
              </a:lnSpc>
              <a:spcBef>
                <a:spcPts val="1000"/>
              </a:spcBef>
              <a:spcAft>
                <a:spcPts val="0"/>
              </a:spcAft>
              <a:buClr>
                <a:schemeClr val="dk1"/>
              </a:buClr>
              <a:buSzPts val="1017"/>
              <a:buFont typeface="Arial"/>
              <a:buNone/>
            </a:pPr>
            <a:r>
              <a:rPr b="1" lang="en-US" sz="1500" u="sng">
                <a:solidFill>
                  <a:schemeClr val="dk1"/>
                </a:solidFill>
              </a:rPr>
              <a:t>Objectives</a:t>
            </a:r>
            <a:endParaRPr b="1" sz="1500" u="sng">
              <a:solidFill>
                <a:schemeClr val="dk1"/>
              </a:solidFill>
            </a:endParaRPr>
          </a:p>
          <a:p>
            <a:pPr indent="-304800" lvl="0" marL="457200" rtl="0" algn="l">
              <a:lnSpc>
                <a:spcPct val="95000"/>
              </a:lnSpc>
              <a:spcBef>
                <a:spcPts val="1000"/>
              </a:spcBef>
              <a:spcAft>
                <a:spcPts val="0"/>
              </a:spcAft>
              <a:buClr>
                <a:schemeClr val="dk1"/>
              </a:buClr>
              <a:buSzPts val="1200"/>
              <a:buChar char="●"/>
            </a:pPr>
            <a:r>
              <a:rPr b="1" lang="en-US" sz="1200">
                <a:solidFill>
                  <a:schemeClr val="dk1"/>
                </a:solidFill>
              </a:rPr>
              <a:t>Traffic Prediction Model</a:t>
            </a:r>
            <a:r>
              <a:rPr lang="en-US" sz="1200">
                <a:solidFill>
                  <a:schemeClr val="dk1"/>
                </a:solidFill>
              </a:rPr>
              <a:t>: Develop a model that forecasts traffic using historical and real-time sensor data.</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b="1" lang="en-US" sz="1200">
                <a:solidFill>
                  <a:schemeClr val="dk1"/>
                </a:solidFill>
              </a:rPr>
              <a:t>Route Optimization Model</a:t>
            </a:r>
            <a:r>
              <a:rPr lang="en-US" sz="1200">
                <a:solidFill>
                  <a:schemeClr val="dk1"/>
                </a:solidFill>
              </a:rPr>
              <a:t>: Design a system that suggests optimal routes based on predictions and user preferences.</a:t>
            </a: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b="1" lang="en-US" sz="1200">
                <a:solidFill>
                  <a:schemeClr val="dk1"/>
                </a:solidFill>
              </a:rPr>
              <a:t>Evaluation Framework</a:t>
            </a:r>
            <a:r>
              <a:rPr lang="en-US" sz="1200">
                <a:solidFill>
                  <a:schemeClr val="dk1"/>
                </a:solidFill>
              </a:rPr>
              <a:t>: Measure performance using metrics like prediction accuracy, route efficiency, and traffic reduction.</a:t>
            </a:r>
            <a:endParaRPr sz="1200">
              <a:solidFill>
                <a:schemeClr val="dk1"/>
              </a:solidFill>
            </a:endParaRPr>
          </a:p>
          <a:p>
            <a:pPr indent="0" lvl="0" marL="0" rtl="0" algn="l">
              <a:lnSpc>
                <a:spcPct val="95000"/>
              </a:lnSpc>
              <a:spcBef>
                <a:spcPts val="0"/>
              </a:spcBef>
              <a:spcAft>
                <a:spcPts val="0"/>
              </a:spcAft>
              <a:buClr>
                <a:schemeClr val="dk1"/>
              </a:buClr>
              <a:buSzPts val="1018"/>
              <a:buFont typeface="Arial"/>
              <a:buNone/>
            </a:pPr>
            <a:r>
              <a:t/>
            </a:r>
            <a:endParaRPr sz="1200">
              <a:solidFill>
                <a:schemeClr val="dk1"/>
              </a:solidFill>
            </a:endParaRPr>
          </a:p>
          <a:p>
            <a:pPr indent="0" lvl="0" marL="0" rtl="0" algn="l">
              <a:lnSpc>
                <a:spcPct val="95000"/>
              </a:lnSpc>
              <a:spcBef>
                <a:spcPts val="0"/>
              </a:spcBef>
              <a:spcAft>
                <a:spcPts val="0"/>
              </a:spcAft>
              <a:buSzPts val="1018"/>
              <a:buNone/>
            </a:pPr>
            <a:r>
              <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166175"/>
            <a:ext cx="8520600" cy="47862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605"/>
              <a:buFont typeface="Arial"/>
              <a:buNone/>
            </a:pPr>
            <a:r>
              <a:rPr b="1" lang="en-US" sz="1500" u="sng"/>
              <a:t>Datasets Used</a:t>
            </a:r>
            <a:endParaRPr b="1" sz="1500" u="sng"/>
          </a:p>
          <a:p>
            <a:pPr indent="-317531" lvl="0" marL="457200" rtl="0" algn="l">
              <a:lnSpc>
                <a:spcPct val="95000"/>
              </a:lnSpc>
              <a:spcBef>
                <a:spcPts val="1200"/>
              </a:spcBef>
              <a:spcAft>
                <a:spcPts val="0"/>
              </a:spcAft>
              <a:buSzPts val="1400"/>
              <a:buChar char="●"/>
            </a:pPr>
            <a:r>
              <a:rPr b="1" lang="en-US" sz="1400"/>
              <a:t>Source of Data</a:t>
            </a:r>
            <a:r>
              <a:rPr lang="en-US" sz="1400"/>
              <a:t>: The datasets used in this project are sourced from GitHub repositories, specifically the </a:t>
            </a:r>
            <a:r>
              <a:rPr b="1" lang="en-US" sz="1400"/>
              <a:t>Traffic Dataset</a:t>
            </a:r>
            <a:r>
              <a:rPr lang="en-US" sz="1400"/>
              <a:t> available at</a:t>
            </a:r>
            <a:r>
              <a:rPr lang="en-US" sz="1400">
                <a:solidFill>
                  <a:schemeClr val="accent5"/>
                </a:solidFill>
                <a:uFill>
                  <a:noFill/>
                </a:uFill>
                <a:hlinkClick r:id="rId3">
                  <a:extLst>
                    <a:ext uri="{A12FA001-AC4F-418D-AE19-62706E023703}">
                      <ahyp:hlinkClr val="tx"/>
                    </a:ext>
                  </a:extLst>
                </a:hlinkClick>
              </a:rPr>
              <a:t> </a:t>
            </a:r>
            <a:r>
              <a:rPr lang="en-US" sz="1400" u="sng">
                <a:solidFill>
                  <a:schemeClr val="accent5"/>
                </a:solidFill>
                <a:hlinkClick r:id="rId4">
                  <a:extLst>
                    <a:ext uri="{A12FA001-AC4F-418D-AE19-62706E023703}">
                      <ahyp:hlinkClr val="tx"/>
                    </a:ext>
                  </a:extLst>
                </a:hlinkClick>
              </a:rPr>
              <a:t>GitHub - Traffic Dataset</a:t>
            </a:r>
            <a:r>
              <a:rPr lang="en-US" sz="1400"/>
              <a:t>.</a:t>
            </a:r>
            <a:endParaRPr sz="1400"/>
          </a:p>
          <a:p>
            <a:pPr indent="-317500" lvl="0" marL="457200" rtl="0" algn="l">
              <a:lnSpc>
                <a:spcPct val="95000"/>
              </a:lnSpc>
              <a:spcBef>
                <a:spcPts val="1000"/>
              </a:spcBef>
              <a:spcAft>
                <a:spcPts val="0"/>
              </a:spcAft>
              <a:buSzPts val="1400"/>
              <a:buChar char="●"/>
            </a:pPr>
            <a:r>
              <a:rPr b="1" lang="en-US" sz="1400">
                <a:solidFill>
                  <a:srgbClr val="1F1F1F"/>
                </a:solidFill>
                <a:latin typeface="Georgia"/>
                <a:ea typeface="Georgia"/>
                <a:cs typeface="Georgia"/>
                <a:sym typeface="Georgia"/>
              </a:rPr>
              <a:t>METR-LA Dataset</a:t>
            </a:r>
            <a:r>
              <a:rPr lang="en-US" sz="1400">
                <a:solidFill>
                  <a:srgbClr val="1F1F1F"/>
                </a:solidFill>
                <a:latin typeface="Georgia"/>
                <a:ea typeface="Georgia"/>
                <a:cs typeface="Georgia"/>
                <a:sym typeface="Georgia"/>
              </a:rPr>
              <a:t>:</a:t>
            </a:r>
            <a:r>
              <a:rPr b="1" lang="en-US" sz="1400">
                <a:solidFill>
                  <a:srgbClr val="1F1F1F"/>
                </a:solidFill>
                <a:latin typeface="Georgia"/>
                <a:ea typeface="Georgia"/>
                <a:cs typeface="Georgia"/>
                <a:sym typeface="Georgia"/>
              </a:rPr>
              <a:t> </a:t>
            </a:r>
            <a:r>
              <a:rPr lang="en-US" sz="1400">
                <a:solidFill>
                  <a:srgbClr val="1F1F1F"/>
                </a:solidFill>
                <a:latin typeface="Georgia"/>
                <a:ea typeface="Georgia"/>
                <a:cs typeface="Georgia"/>
                <a:sym typeface="Georgia"/>
              </a:rPr>
              <a:t>This dataset contains the traffic speed from the sensors installed on different road segments. The data was collected from Los Angeles County from the 207 sensors over the four months from 1st March to 30th June in 2012. The data is collected at 5-minute intervals from the sensors. So, the number of data points per day is 288.</a:t>
            </a:r>
            <a:endParaRPr sz="1400">
              <a:solidFill>
                <a:srgbClr val="1F1F1F"/>
              </a:solidFill>
              <a:latin typeface="Georgia"/>
              <a:ea typeface="Georgia"/>
              <a:cs typeface="Georgia"/>
              <a:sym typeface="Georgia"/>
            </a:endParaRPr>
          </a:p>
          <a:p>
            <a:pPr indent="-317500" lvl="0" marL="457200" rtl="0" algn="l">
              <a:lnSpc>
                <a:spcPct val="95000"/>
              </a:lnSpc>
              <a:spcBef>
                <a:spcPts val="1000"/>
              </a:spcBef>
              <a:spcAft>
                <a:spcPts val="0"/>
              </a:spcAft>
              <a:buSzPts val="1400"/>
              <a:buChar char="●"/>
            </a:pPr>
            <a:r>
              <a:rPr b="1" lang="en-US" sz="1400">
                <a:solidFill>
                  <a:srgbClr val="1F1F1F"/>
                </a:solidFill>
                <a:latin typeface="Georgia"/>
                <a:ea typeface="Georgia"/>
                <a:cs typeface="Georgia"/>
                <a:sym typeface="Georgia"/>
              </a:rPr>
              <a:t>PeMS Dataset</a:t>
            </a:r>
            <a:r>
              <a:rPr lang="en-US" sz="1400">
                <a:solidFill>
                  <a:srgbClr val="1F1F1F"/>
                </a:solidFill>
                <a:latin typeface="Georgia"/>
                <a:ea typeface="Georgia"/>
                <a:cs typeface="Georgia"/>
                <a:sym typeface="Georgia"/>
              </a:rPr>
              <a:t>: The traffic speed data of the road segments in California, United States is gathered to build the PeMS dataset. The data is collected from Caltrans Performance Measurement System (PeMS) by 39000 sensors. This dataset incorporates the traffic information of District 7 of California from the 228 sensors. The data is gathered at 5 min intervals, and the number of data points per day is 288.</a:t>
            </a:r>
            <a:endParaRPr sz="1400"/>
          </a:p>
          <a:p>
            <a:pPr indent="-317500" lvl="0" marL="457200" rtl="0" algn="l">
              <a:lnSpc>
                <a:spcPct val="95000"/>
              </a:lnSpc>
              <a:spcBef>
                <a:spcPts val="1000"/>
              </a:spcBef>
              <a:spcAft>
                <a:spcPts val="0"/>
              </a:spcAft>
              <a:buSzPts val="1400"/>
              <a:buChar char="●"/>
            </a:pPr>
            <a:r>
              <a:rPr b="1" lang="en-US" sz="1400"/>
              <a:t>Key Features</a:t>
            </a:r>
            <a:r>
              <a:rPr lang="en-US" sz="1400"/>
              <a:t>:</a:t>
            </a:r>
            <a:endParaRPr sz="1400"/>
          </a:p>
          <a:p>
            <a:pPr indent="-317531" lvl="1" marL="914400" rtl="0" algn="l">
              <a:lnSpc>
                <a:spcPct val="95000"/>
              </a:lnSpc>
              <a:spcBef>
                <a:spcPts val="1000"/>
              </a:spcBef>
              <a:spcAft>
                <a:spcPts val="0"/>
              </a:spcAft>
              <a:buSzPts val="1400"/>
              <a:buChar char="○"/>
            </a:pPr>
            <a:r>
              <a:rPr b="1" lang="en-US"/>
              <a:t>Traffic Speed Data</a:t>
            </a:r>
            <a:r>
              <a:rPr lang="en-US"/>
              <a:t>: Contains traffic speed data across various road junctions at specific time intervals. This dataset records the speed of vehicles passing through different sensors located in key areas of a transport network.</a:t>
            </a:r>
            <a:endParaRPr/>
          </a:p>
          <a:p>
            <a:pPr indent="-317526" lvl="1" marL="914400" rtl="0" algn="l">
              <a:lnSpc>
                <a:spcPct val="95000"/>
              </a:lnSpc>
              <a:spcBef>
                <a:spcPts val="0"/>
              </a:spcBef>
              <a:spcAft>
                <a:spcPts val="0"/>
              </a:spcAft>
              <a:buSzPts val="1400"/>
              <a:buChar char="○"/>
            </a:pPr>
            <a:r>
              <a:rPr b="1" lang="en-US"/>
              <a:t>Sensor Adjacency Matrix</a:t>
            </a:r>
            <a:r>
              <a:rPr lang="en-US"/>
              <a:t>: Represents the connectivity between various sensors across the road network. The adjacency matrix is crucial for understanding the spatial dependencies and interactions between different sensors or junctions.</a:t>
            </a:r>
            <a:endParaRPr/>
          </a:p>
          <a:p>
            <a:pPr indent="0" lvl="0" marL="0" rtl="0" algn="l">
              <a:lnSpc>
                <a:spcPct val="95000"/>
              </a:lnSpc>
              <a:spcBef>
                <a:spcPts val="0"/>
              </a:spcBef>
              <a:spcAft>
                <a:spcPts val="1200"/>
              </a:spcAft>
              <a:buSzPts val="605"/>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idx="1" type="body"/>
          </p:nvPr>
        </p:nvSpPr>
        <p:spPr>
          <a:xfrm>
            <a:off x="311700" y="80550"/>
            <a:ext cx="8520600" cy="46641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Data Processing</a:t>
            </a:r>
            <a:r>
              <a:rPr lang="en-US" sz="1300">
                <a:solidFill>
                  <a:schemeClr val="dk1"/>
                </a:solidFill>
              </a:rPr>
              <a:t>:</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US" sz="1300">
                <a:solidFill>
                  <a:schemeClr val="dk1"/>
                </a:solidFill>
              </a:rPr>
              <a:t>Preprocessing</a:t>
            </a:r>
            <a:r>
              <a:rPr lang="en-US" sz="1300">
                <a:solidFill>
                  <a:schemeClr val="dk1"/>
                </a:solidFill>
              </a:rPr>
              <a:t>:</a:t>
            </a:r>
            <a:endParaRPr sz="1300">
              <a:solidFill>
                <a:schemeClr val="dk1"/>
              </a:solidFill>
            </a:endParaRPr>
          </a:p>
          <a:p>
            <a:pPr indent="-311150" lvl="2" marL="1371600" rtl="0" algn="l">
              <a:lnSpc>
                <a:spcPct val="115000"/>
              </a:lnSpc>
              <a:spcBef>
                <a:spcPts val="0"/>
              </a:spcBef>
              <a:spcAft>
                <a:spcPts val="0"/>
              </a:spcAft>
              <a:buClr>
                <a:schemeClr val="dk1"/>
              </a:buClr>
              <a:buSzPts val="1300"/>
              <a:buChar char="■"/>
            </a:pPr>
            <a:r>
              <a:rPr b="1" lang="en-US" sz="1300">
                <a:solidFill>
                  <a:schemeClr val="dk1"/>
                </a:solidFill>
              </a:rPr>
              <a:t>Data Cleaning</a:t>
            </a:r>
            <a:r>
              <a:rPr lang="en-US" sz="1300">
                <a:solidFill>
                  <a:schemeClr val="dk1"/>
                </a:solidFill>
              </a:rPr>
              <a:t>: The dataset undergoes a cleaning process to handle missing or incorrect entries. This may involve removing outliers, correcting errors, and replacing missing values.</a:t>
            </a:r>
            <a:endParaRPr sz="1300">
              <a:solidFill>
                <a:schemeClr val="dk1"/>
              </a:solidFill>
            </a:endParaRPr>
          </a:p>
          <a:p>
            <a:pPr indent="-311150" lvl="2" marL="1371600" rtl="0" algn="l">
              <a:lnSpc>
                <a:spcPct val="115000"/>
              </a:lnSpc>
              <a:spcBef>
                <a:spcPts val="0"/>
              </a:spcBef>
              <a:spcAft>
                <a:spcPts val="0"/>
              </a:spcAft>
              <a:buClr>
                <a:schemeClr val="dk1"/>
              </a:buClr>
              <a:buSzPts val="1300"/>
              <a:buChar char="■"/>
            </a:pPr>
            <a:r>
              <a:rPr b="1" lang="en-US" sz="1300">
                <a:solidFill>
                  <a:schemeClr val="dk1"/>
                </a:solidFill>
              </a:rPr>
              <a:t>Normalization</a:t>
            </a:r>
            <a:r>
              <a:rPr lang="en-US" sz="1300">
                <a:solidFill>
                  <a:schemeClr val="dk1"/>
                </a:solidFill>
              </a:rPr>
              <a:t>: The speed data is normalized to a standard range (e.g., [0, 1]) to ensure that the LSTM model processes the data efficiently and maintains consistency across inputs.</a:t>
            </a:r>
            <a:endParaRPr sz="1300">
              <a:solidFill>
                <a:schemeClr val="dk1"/>
              </a:solidFill>
            </a:endParaRPr>
          </a:p>
          <a:p>
            <a:pPr indent="-311150" lvl="2" marL="1371600" rtl="0" algn="l">
              <a:lnSpc>
                <a:spcPct val="115000"/>
              </a:lnSpc>
              <a:spcBef>
                <a:spcPts val="0"/>
              </a:spcBef>
              <a:spcAft>
                <a:spcPts val="0"/>
              </a:spcAft>
              <a:buClr>
                <a:schemeClr val="dk1"/>
              </a:buClr>
              <a:buSzPts val="1300"/>
              <a:buChar char="■"/>
            </a:pPr>
            <a:r>
              <a:rPr b="1" lang="en-US" sz="1300">
                <a:solidFill>
                  <a:schemeClr val="dk1"/>
                </a:solidFill>
              </a:rPr>
              <a:t>Handling Missing Values</a:t>
            </a:r>
            <a:r>
              <a:rPr lang="en-US" sz="1300">
                <a:solidFill>
                  <a:schemeClr val="dk1"/>
                </a:solidFill>
              </a:rPr>
              <a:t>: Zero values are replaced with </a:t>
            </a:r>
            <a:r>
              <a:rPr lang="en-US" sz="1300">
                <a:solidFill>
                  <a:srgbClr val="188038"/>
                </a:solidFill>
                <a:latin typeface="Roboto Mono"/>
                <a:ea typeface="Roboto Mono"/>
                <a:cs typeface="Roboto Mono"/>
                <a:sym typeface="Roboto Mono"/>
              </a:rPr>
              <a:t>NaN</a:t>
            </a:r>
            <a:r>
              <a:rPr lang="en-US" sz="1300">
                <a:solidFill>
                  <a:schemeClr val="dk1"/>
                </a:solidFill>
              </a:rPr>
              <a:t>, followed by forward filling (ffill) and filling remaining missing data with the mean of the respective column.</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US" sz="1300">
                <a:solidFill>
                  <a:schemeClr val="dk1"/>
                </a:solidFill>
              </a:rPr>
              <a:t>Sequence Generation</a:t>
            </a:r>
            <a:r>
              <a:rPr lang="en-US" sz="1300">
                <a:solidFill>
                  <a:schemeClr val="dk1"/>
                </a:solidFill>
              </a:rPr>
              <a:t>: The dataset is converted into sequences of data points to be fed into the LSTM model, allowing it to predict traffic speed at future time steps based on historical data.</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Visualization</a:t>
            </a:r>
            <a:r>
              <a:rPr lang="en-US" sz="1300">
                <a:solidFill>
                  <a:schemeClr val="dk1"/>
                </a:solidFill>
              </a:rPr>
              <a:t>:</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US" sz="1300">
                <a:solidFill>
                  <a:schemeClr val="dk1"/>
                </a:solidFill>
              </a:rPr>
              <a:t>Speed vs Time</a:t>
            </a:r>
            <a:r>
              <a:rPr lang="en-US" sz="1300">
                <a:solidFill>
                  <a:schemeClr val="dk1"/>
                </a:solidFill>
              </a:rPr>
              <a:t>: A line graph is used to show how traffic speed varies over time at specific road junctions, helping to visualize peak hours, congestion periods, and overall traffic trends.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US" sz="1300">
                <a:solidFill>
                  <a:schemeClr val="dk1"/>
                </a:solidFill>
              </a:rPr>
              <a:t>Traffic Density Maps</a:t>
            </a:r>
            <a:r>
              <a:rPr lang="en-US" sz="1300">
                <a:solidFill>
                  <a:schemeClr val="dk1"/>
                </a:solidFill>
              </a:rPr>
              <a:t>: Heatmaps are generated to visualize the concentration of traffic at different times of the day. These maps help in understanding traffic congestion patterns across the network.</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US" sz="1300">
                <a:solidFill>
                  <a:schemeClr val="dk1"/>
                </a:solidFill>
              </a:rPr>
              <a:t>Sensor Connectivity</a:t>
            </a:r>
            <a:r>
              <a:rPr lang="en-US" sz="1300">
                <a:solidFill>
                  <a:schemeClr val="dk1"/>
                </a:solidFill>
              </a:rPr>
              <a:t>: Visualizations like adjacency matrices can be plotted to represent the spatial relationships between sensors, helping to better understand the traffic flow dynamics.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300"/>
          </a:p>
          <a:p>
            <a:pPr indent="0" lvl="0" marL="0" rtl="0" algn="l">
              <a:lnSpc>
                <a:spcPct val="115000"/>
              </a:lnSpc>
              <a:spcBef>
                <a:spcPts val="1200"/>
              </a:spcBef>
              <a:spcAft>
                <a:spcPts val="1200"/>
              </a:spcAft>
              <a:buSzPts val="1800"/>
              <a:buNone/>
            </a:pPr>
            <a:r>
              <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216050"/>
            <a:ext cx="8520600" cy="4786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800"/>
              </a:spcBef>
              <a:spcAft>
                <a:spcPts val="0"/>
              </a:spcAft>
              <a:buClr>
                <a:schemeClr val="dk1"/>
              </a:buClr>
              <a:buSzPts val="935"/>
              <a:buFont typeface="Arial"/>
              <a:buNone/>
            </a:pPr>
            <a:r>
              <a:rPr b="1" lang="en-US" u="sng">
                <a:solidFill>
                  <a:schemeClr val="dk1"/>
                </a:solidFill>
              </a:rPr>
              <a:t>Literature Survey</a:t>
            </a:r>
            <a:endParaRPr b="1" u="sng">
              <a:solidFill>
                <a:schemeClr val="dk1"/>
              </a:solidFill>
            </a:endParaRPr>
          </a:p>
          <a:p>
            <a:pPr indent="0" lvl="0" marL="0" rtl="0" algn="l">
              <a:lnSpc>
                <a:spcPct val="95000"/>
              </a:lnSpc>
              <a:spcBef>
                <a:spcPts val="1400"/>
              </a:spcBef>
              <a:spcAft>
                <a:spcPts val="0"/>
              </a:spcAft>
              <a:buClr>
                <a:schemeClr val="dk1"/>
              </a:buClr>
              <a:buSzPts val="935"/>
              <a:buFont typeface="Arial"/>
              <a:buNone/>
            </a:pPr>
            <a:r>
              <a:rPr b="1" lang="en-US" sz="1600" u="sng">
                <a:solidFill>
                  <a:schemeClr val="dk1"/>
                </a:solidFill>
              </a:rPr>
              <a:t>LSTM (Long Short-Term Memory) for Traffic Forecasting</a:t>
            </a:r>
            <a:endParaRPr b="1" sz="1600" u="sng">
              <a:solidFill>
                <a:schemeClr val="dk1"/>
              </a:solidFill>
            </a:endParaRPr>
          </a:p>
          <a:p>
            <a:pPr indent="-330200" lvl="0" marL="457200" rtl="0" algn="l">
              <a:lnSpc>
                <a:spcPct val="95000"/>
              </a:lnSpc>
              <a:spcBef>
                <a:spcPts val="1200"/>
              </a:spcBef>
              <a:spcAft>
                <a:spcPts val="0"/>
              </a:spcAft>
              <a:buClr>
                <a:schemeClr val="dk1"/>
              </a:buClr>
              <a:buSzPts val="1600"/>
              <a:buChar char="●"/>
            </a:pPr>
            <a:r>
              <a:rPr b="1" lang="en-US" sz="1600">
                <a:solidFill>
                  <a:schemeClr val="dk1"/>
                </a:solidFill>
              </a:rPr>
              <a:t>LSTM</a:t>
            </a:r>
            <a:r>
              <a:rPr lang="en-US" sz="1600">
                <a:solidFill>
                  <a:schemeClr val="dk1"/>
                </a:solidFill>
              </a:rPr>
              <a:t> is a specialized type of recurrent neural network (RNN) designed to handle sequential data with long-term dependencies. </a:t>
            </a:r>
            <a:endParaRPr sz="1600">
              <a:solidFill>
                <a:schemeClr val="dk1"/>
              </a:solidFill>
            </a:endParaRPr>
          </a:p>
          <a:p>
            <a:pPr indent="-330200" lvl="0" marL="457200" rtl="0" algn="l">
              <a:lnSpc>
                <a:spcPct val="95000"/>
              </a:lnSpc>
              <a:spcBef>
                <a:spcPts val="1000"/>
              </a:spcBef>
              <a:spcAft>
                <a:spcPts val="0"/>
              </a:spcAft>
              <a:buClr>
                <a:schemeClr val="dk1"/>
              </a:buClr>
              <a:buSzPts val="1600"/>
              <a:buChar char="●"/>
            </a:pPr>
            <a:r>
              <a:rPr lang="en-US" sz="1600">
                <a:solidFill>
                  <a:schemeClr val="dk1"/>
                </a:solidFill>
              </a:rPr>
              <a:t>It addresses the vanishing gradient problem common in traditional RNNs, enabling effective learning of temporal patterns over long time horizons. </a:t>
            </a:r>
            <a:endParaRPr sz="1600">
              <a:solidFill>
                <a:schemeClr val="dk1"/>
              </a:solidFill>
            </a:endParaRPr>
          </a:p>
          <a:p>
            <a:pPr indent="-330200" lvl="0" marL="457200" rtl="0" algn="l">
              <a:lnSpc>
                <a:spcPct val="95000"/>
              </a:lnSpc>
              <a:spcBef>
                <a:spcPts val="1000"/>
              </a:spcBef>
              <a:spcAft>
                <a:spcPts val="0"/>
              </a:spcAft>
              <a:buClr>
                <a:schemeClr val="dk1"/>
              </a:buClr>
              <a:buSzPts val="1600"/>
              <a:buChar char="●"/>
            </a:pPr>
            <a:r>
              <a:rPr lang="en-US" sz="1600">
                <a:solidFill>
                  <a:schemeClr val="dk1"/>
                </a:solidFill>
              </a:rPr>
              <a:t>In traffic forecasting, LSTM is applied to learn and predict temporal dependencies in traffic data, such as periodic traffic flow, congestion patterns, and trends over time. </a:t>
            </a:r>
            <a:endParaRPr sz="1600">
              <a:solidFill>
                <a:schemeClr val="dk1"/>
              </a:solidFill>
            </a:endParaRPr>
          </a:p>
          <a:p>
            <a:pPr indent="-330200" lvl="0" marL="457200" rtl="0" algn="l">
              <a:lnSpc>
                <a:spcPct val="95000"/>
              </a:lnSpc>
              <a:spcBef>
                <a:spcPts val="1000"/>
              </a:spcBef>
              <a:spcAft>
                <a:spcPts val="0"/>
              </a:spcAft>
              <a:buClr>
                <a:schemeClr val="dk1"/>
              </a:buClr>
              <a:buSzPts val="1600"/>
              <a:buChar char="●"/>
            </a:pPr>
            <a:r>
              <a:rPr lang="en-US" sz="1600">
                <a:solidFill>
                  <a:schemeClr val="dk1"/>
                </a:solidFill>
              </a:rPr>
              <a:t>By using historical speed, volume, or flow data as input, LSTM models can predict future traffic conditions at specific locations or across an entire network. </a:t>
            </a:r>
            <a:endParaRPr sz="1600">
              <a:solidFill>
                <a:schemeClr val="dk1"/>
              </a:solidFill>
            </a:endParaRPr>
          </a:p>
          <a:p>
            <a:pPr indent="-330200" lvl="0" marL="457200" rtl="0" algn="l">
              <a:lnSpc>
                <a:spcPct val="95000"/>
              </a:lnSpc>
              <a:spcBef>
                <a:spcPts val="1200"/>
              </a:spcBef>
              <a:spcAft>
                <a:spcPts val="0"/>
              </a:spcAft>
              <a:buClr>
                <a:schemeClr val="dk1"/>
              </a:buClr>
              <a:buSzPts val="1600"/>
              <a:buChar char="●"/>
            </a:pPr>
            <a:r>
              <a:rPr lang="en-US" sz="1600">
                <a:solidFill>
                  <a:schemeClr val="dk1"/>
                </a:solidFill>
              </a:rPr>
              <a:t>The model's inherent ability to retain information over long sequences makes it suitable for time-series tasks like traffic forecasting.</a:t>
            </a:r>
            <a:endParaRPr sz="1600">
              <a:solidFill>
                <a:schemeClr val="dk1"/>
              </a:solidFill>
            </a:endParaRPr>
          </a:p>
          <a:p>
            <a:pPr indent="0" lvl="0" marL="0" rtl="0" algn="l">
              <a:lnSpc>
                <a:spcPct val="95000"/>
              </a:lnSpc>
              <a:spcBef>
                <a:spcPts val="1200"/>
              </a:spcBef>
              <a:spcAft>
                <a:spcPts val="10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99425"/>
            <a:ext cx="8520600" cy="4379700"/>
          </a:xfrm>
          <a:prstGeom prst="rect">
            <a:avLst/>
          </a:prstGeom>
        </p:spPr>
        <p:txBody>
          <a:bodyPr anchorCtr="0" anchor="t" bIns="91425" lIns="91425" spcFirstLastPara="1" rIns="91425" wrap="square" tIns="91425">
            <a:noAutofit/>
          </a:bodyPr>
          <a:lstStyle/>
          <a:p>
            <a:pPr indent="0" lvl="0" marL="0" rtl="0" algn="l">
              <a:lnSpc>
                <a:spcPct val="95000"/>
              </a:lnSpc>
              <a:spcBef>
                <a:spcPts val="1800"/>
              </a:spcBef>
              <a:spcAft>
                <a:spcPts val="0"/>
              </a:spcAft>
              <a:buNone/>
            </a:pPr>
            <a:r>
              <a:rPr b="1" lang="en-US" sz="1500" u="sng"/>
              <a:t>DCRNN (Diffusion Convolutional Recurrent Neural Network)</a:t>
            </a:r>
            <a:endParaRPr b="1" sz="1500" u="sng"/>
          </a:p>
          <a:p>
            <a:pPr indent="-323850" lvl="0" marL="457200" rtl="0" algn="l">
              <a:lnSpc>
                <a:spcPct val="95000"/>
              </a:lnSpc>
              <a:spcBef>
                <a:spcPts val="1200"/>
              </a:spcBef>
              <a:spcAft>
                <a:spcPts val="0"/>
              </a:spcAft>
              <a:buSzPts val="1500"/>
              <a:buChar char="●"/>
            </a:pPr>
            <a:r>
              <a:rPr lang="en-US" sz="1500"/>
              <a:t>DCRNN integrates diffusion convolution to capture spatial dependencies (e.g., how nearby traffic impacts each location) and recurrent neural networks to capture temporal dependencies over time. </a:t>
            </a:r>
            <a:endParaRPr sz="1500"/>
          </a:p>
          <a:p>
            <a:pPr indent="-323850" lvl="0" marL="457200" rtl="0" algn="l">
              <a:lnSpc>
                <a:spcPct val="95000"/>
              </a:lnSpc>
              <a:spcBef>
                <a:spcPts val="1200"/>
              </a:spcBef>
              <a:spcAft>
                <a:spcPts val="0"/>
              </a:spcAft>
              <a:buSzPts val="1500"/>
              <a:buChar char="●"/>
            </a:pPr>
            <a:r>
              <a:rPr lang="en-US" sz="1500"/>
              <a:t>The model employs graph structures to model the road network and diffusion convolutional layers to manage the direction and strength of traffic flows, aiming to accurately forecast traffic conditions in the short term.</a:t>
            </a:r>
            <a:endParaRPr sz="1500"/>
          </a:p>
          <a:p>
            <a:pPr indent="0" lvl="0" marL="457200" rtl="0" algn="l">
              <a:lnSpc>
                <a:spcPct val="95000"/>
              </a:lnSpc>
              <a:spcBef>
                <a:spcPts val="1200"/>
              </a:spcBef>
              <a:spcAft>
                <a:spcPts val="0"/>
              </a:spcAft>
              <a:buNone/>
            </a:pPr>
            <a:r>
              <a:t/>
            </a:r>
            <a:endParaRPr sz="1500"/>
          </a:p>
          <a:p>
            <a:pPr indent="0" lvl="0" marL="0" rtl="0" algn="l">
              <a:lnSpc>
                <a:spcPct val="95000"/>
              </a:lnSpc>
              <a:spcBef>
                <a:spcPts val="1200"/>
              </a:spcBef>
              <a:spcAft>
                <a:spcPts val="0"/>
              </a:spcAft>
              <a:buClr>
                <a:schemeClr val="dk1"/>
              </a:buClr>
              <a:buSzPts val="935"/>
              <a:buFont typeface="Arial"/>
              <a:buNone/>
            </a:pPr>
            <a:r>
              <a:rPr b="1" lang="en-US" sz="1500" u="sng"/>
              <a:t>A3T-GCN model (Attention Temporal Graph Convolutional Network)</a:t>
            </a:r>
            <a:endParaRPr b="1" sz="1500" u="sng"/>
          </a:p>
          <a:p>
            <a:pPr indent="-323850" lvl="0" marL="457200" rtl="0" algn="l">
              <a:lnSpc>
                <a:spcPct val="95000"/>
              </a:lnSpc>
              <a:spcBef>
                <a:spcPts val="1200"/>
              </a:spcBef>
              <a:spcAft>
                <a:spcPts val="0"/>
              </a:spcAft>
              <a:buSzPts val="1500"/>
              <a:buChar char="●"/>
            </a:pPr>
            <a:r>
              <a:rPr lang="en-US" sz="1500"/>
              <a:t>A3T-GCN model (Attention Temporal Graph Convolutional Network) is applied to the METR-LA dataset for traffic forecasting. </a:t>
            </a:r>
            <a:endParaRPr sz="1500"/>
          </a:p>
          <a:p>
            <a:pPr indent="-323850" lvl="0" marL="457200" rtl="0" algn="l">
              <a:lnSpc>
                <a:spcPct val="95000"/>
              </a:lnSpc>
              <a:spcBef>
                <a:spcPts val="1000"/>
              </a:spcBef>
              <a:spcAft>
                <a:spcPts val="0"/>
              </a:spcAft>
              <a:buSzPts val="1500"/>
              <a:buChar char="●"/>
            </a:pPr>
            <a:r>
              <a:rPr lang="en-US" sz="1500"/>
              <a:t>The model combines attention mechanisms and temporal graph convolutions to predict future traffic speeds by effectively capturing spatial and temporal dependencies. </a:t>
            </a:r>
            <a:endParaRPr sz="1500"/>
          </a:p>
          <a:p>
            <a:pPr indent="-323850" lvl="0" marL="457200" rtl="0" algn="l">
              <a:lnSpc>
                <a:spcPct val="95000"/>
              </a:lnSpc>
              <a:spcBef>
                <a:spcPts val="1200"/>
              </a:spcBef>
              <a:spcAft>
                <a:spcPts val="0"/>
              </a:spcAft>
              <a:buSzPts val="1500"/>
              <a:buChar char="●"/>
            </a:pPr>
            <a:r>
              <a:rPr lang="en-US" sz="1500"/>
              <a:t>This method leverages graph-based deep learning in PyTorch Geometric Temporal, enabling efficient traffic forecasting across road networks represented as graphs.</a:t>
            </a:r>
            <a:endParaRPr sz="1500"/>
          </a:p>
          <a:p>
            <a:pPr indent="0" lvl="0" marL="0" rtl="0" algn="l">
              <a:lnSpc>
                <a:spcPct val="95000"/>
              </a:lnSpc>
              <a:spcBef>
                <a:spcPts val="1200"/>
              </a:spcBef>
              <a:spcAft>
                <a:spcPts val="0"/>
              </a:spcAft>
              <a:buClr>
                <a:schemeClr val="dk1"/>
              </a:buClr>
              <a:buSzPts val="935"/>
              <a:buFont typeface="Arial"/>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2" type="body"/>
          </p:nvPr>
        </p:nvSpPr>
        <p:spPr>
          <a:xfrm>
            <a:off x="4814875" y="149550"/>
            <a:ext cx="3837000" cy="4844400"/>
          </a:xfrm>
          <a:prstGeom prst="rect">
            <a:avLst/>
          </a:prstGeom>
          <a:solidFill>
            <a:schemeClr val="lt2"/>
          </a:solid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95"/>
              <a:buNone/>
            </a:pPr>
            <a:r>
              <a:rPr b="1" lang="en-US" sz="1501" u="sng">
                <a:solidFill>
                  <a:schemeClr val="dk1"/>
                </a:solidFill>
              </a:rPr>
              <a:t>Methodology</a:t>
            </a:r>
            <a:endParaRPr b="1" sz="1501" u="sng">
              <a:solidFill>
                <a:schemeClr val="dk1"/>
              </a:solidFill>
            </a:endParaRPr>
          </a:p>
          <a:p>
            <a:pPr indent="0" lvl="0" marL="0" rtl="0" algn="l">
              <a:lnSpc>
                <a:spcPct val="100000"/>
              </a:lnSpc>
              <a:spcBef>
                <a:spcPts val="0"/>
              </a:spcBef>
              <a:spcAft>
                <a:spcPts val="0"/>
              </a:spcAft>
              <a:buSzPts val="1395"/>
              <a:buNone/>
            </a:pPr>
            <a:r>
              <a:t/>
            </a:r>
            <a:endParaRPr b="1" sz="1501" u="sng">
              <a:solidFill>
                <a:schemeClr val="dk1"/>
              </a:solidFill>
            </a:endParaRPr>
          </a:p>
          <a:p>
            <a:pPr indent="-306705" lvl="0" marL="457200" rtl="0" algn="l">
              <a:lnSpc>
                <a:spcPct val="115000"/>
              </a:lnSpc>
              <a:spcBef>
                <a:spcPts val="0"/>
              </a:spcBef>
              <a:spcAft>
                <a:spcPts val="0"/>
              </a:spcAft>
              <a:buClr>
                <a:schemeClr val="dk1"/>
              </a:buClr>
              <a:buSzPts val="1230"/>
              <a:buChar char="●"/>
            </a:pPr>
            <a:r>
              <a:rPr lang="en-US" sz="1230">
                <a:solidFill>
                  <a:schemeClr val="dk1"/>
                </a:solidFill>
              </a:rPr>
              <a:t>The proposed framework has three key components: a missing data imputation model, graph structure learning and a traffic speed prediction model. </a:t>
            </a:r>
            <a:endParaRPr sz="1230">
              <a:solidFill>
                <a:schemeClr val="dk1"/>
              </a:solidFill>
            </a:endParaRPr>
          </a:p>
          <a:p>
            <a:pPr indent="-306705" lvl="0" marL="457200" rtl="0" algn="l">
              <a:lnSpc>
                <a:spcPct val="115000"/>
              </a:lnSpc>
              <a:spcBef>
                <a:spcPts val="1000"/>
              </a:spcBef>
              <a:spcAft>
                <a:spcPts val="0"/>
              </a:spcAft>
              <a:buClr>
                <a:schemeClr val="dk1"/>
              </a:buClr>
              <a:buSzPts val="1230"/>
              <a:buChar char="●"/>
            </a:pPr>
            <a:r>
              <a:rPr lang="en-US" sz="1230">
                <a:solidFill>
                  <a:schemeClr val="dk1"/>
                </a:solidFill>
              </a:rPr>
              <a:t>The first component uses a machine learning-based technique to handle spatial-temporal missing data. </a:t>
            </a:r>
            <a:endParaRPr sz="1230">
              <a:solidFill>
                <a:schemeClr val="dk1"/>
              </a:solidFill>
            </a:endParaRPr>
          </a:p>
          <a:p>
            <a:pPr indent="-306705" lvl="0" marL="457200" rtl="0" algn="l">
              <a:lnSpc>
                <a:spcPct val="115000"/>
              </a:lnSpc>
              <a:spcBef>
                <a:spcPts val="1000"/>
              </a:spcBef>
              <a:spcAft>
                <a:spcPts val="0"/>
              </a:spcAft>
              <a:buClr>
                <a:schemeClr val="dk1"/>
              </a:buClr>
              <a:buSzPts val="1230"/>
              <a:buChar char="●"/>
            </a:pPr>
            <a:r>
              <a:rPr lang="en-US" sz="1230">
                <a:solidFill>
                  <a:schemeClr val="dk1"/>
                </a:solidFill>
              </a:rPr>
              <a:t>This imputation leverages spatial information, temporal trends, and dynamic attention factors, calculated using the traffic data from neighboring nodes and surrounding hours over the past and future three days. </a:t>
            </a:r>
            <a:endParaRPr sz="1230">
              <a:solidFill>
                <a:schemeClr val="dk1"/>
              </a:solidFill>
            </a:endParaRPr>
          </a:p>
          <a:p>
            <a:pPr indent="-306705" lvl="0" marL="457200" rtl="0" algn="l">
              <a:lnSpc>
                <a:spcPct val="115000"/>
              </a:lnSpc>
              <a:spcBef>
                <a:spcPts val="1000"/>
              </a:spcBef>
              <a:spcAft>
                <a:spcPts val="0"/>
              </a:spcAft>
              <a:buClr>
                <a:schemeClr val="dk1"/>
              </a:buClr>
              <a:buSzPts val="1230"/>
              <a:buChar char="●"/>
            </a:pPr>
            <a:r>
              <a:rPr lang="en-US" sz="1230">
                <a:solidFill>
                  <a:schemeClr val="dk1"/>
                </a:solidFill>
              </a:rPr>
              <a:t>The attention factor, estimated via regression, along with neighboring traffic speeds, is used to predict the missing traffic speeds, enhancing the accuracy of traffic speed prediction.</a:t>
            </a:r>
            <a:endParaRPr sz="1230">
              <a:solidFill>
                <a:schemeClr val="dk1"/>
              </a:solidFill>
            </a:endParaRPr>
          </a:p>
          <a:p>
            <a:pPr indent="0" lvl="0" marL="0" rtl="0" algn="l">
              <a:lnSpc>
                <a:spcPct val="115000"/>
              </a:lnSpc>
              <a:spcBef>
                <a:spcPts val="1000"/>
              </a:spcBef>
              <a:spcAft>
                <a:spcPts val="0"/>
              </a:spcAft>
              <a:buClr>
                <a:schemeClr val="dk1"/>
              </a:buClr>
              <a:buSzPts val="852"/>
              <a:buFont typeface="Arial"/>
              <a:buNone/>
            </a:pPr>
            <a:r>
              <a:t/>
            </a:r>
            <a:endParaRPr sz="1230">
              <a:solidFill>
                <a:schemeClr val="dk1"/>
              </a:solidFill>
            </a:endParaRPr>
          </a:p>
          <a:p>
            <a:pPr indent="0" lvl="0" marL="0" rtl="0" algn="l">
              <a:lnSpc>
                <a:spcPct val="115000"/>
              </a:lnSpc>
              <a:spcBef>
                <a:spcPts val="1000"/>
              </a:spcBef>
              <a:spcAft>
                <a:spcPts val="1200"/>
              </a:spcAft>
              <a:buSzPts val="1395"/>
              <a:buNone/>
            </a:pPr>
            <a:r>
              <a:t/>
            </a:r>
            <a:endParaRPr sz="1230"/>
          </a:p>
        </p:txBody>
      </p:sp>
      <p:pic>
        <p:nvPicPr>
          <p:cNvPr id="107" name="Google Shape;107;p21"/>
          <p:cNvPicPr preferRelativeResize="0"/>
          <p:nvPr/>
        </p:nvPicPr>
        <p:blipFill rotWithShape="1">
          <a:blip r:embed="rId3">
            <a:alphaModFix/>
          </a:blip>
          <a:srcRect b="0" l="0" r="0" t="0"/>
          <a:stretch/>
        </p:blipFill>
        <p:spPr>
          <a:xfrm>
            <a:off x="166200" y="95550"/>
            <a:ext cx="4171276" cy="49524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 type="body"/>
          </p:nvPr>
        </p:nvSpPr>
        <p:spPr>
          <a:xfrm>
            <a:off x="311700" y="191125"/>
            <a:ext cx="8520600" cy="48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rPr b="1" lang="en-US" sz="1550" u="sng">
                <a:solidFill>
                  <a:schemeClr val="dk1"/>
                </a:solidFill>
              </a:rPr>
              <a:t>Long Short-Term Memory (LSTM)</a:t>
            </a:r>
            <a:endParaRPr b="1" sz="1200" u="sng">
              <a:solidFill>
                <a:schemeClr val="dk1"/>
              </a:solidFill>
            </a:endParaRPr>
          </a:p>
          <a:p>
            <a:pPr indent="0" lvl="0" marL="0" rtl="0" algn="l">
              <a:lnSpc>
                <a:spcPct val="115000"/>
              </a:lnSpc>
              <a:spcBef>
                <a:spcPts val="1200"/>
              </a:spcBef>
              <a:spcAft>
                <a:spcPts val="0"/>
              </a:spcAft>
              <a:buSzPts val="1800"/>
              <a:buNone/>
            </a:pPr>
            <a:r>
              <a:rPr lang="en-US" sz="1200">
                <a:solidFill>
                  <a:schemeClr val="dk1"/>
                </a:solidFill>
              </a:rPr>
              <a:t>LSTM networks are a type of Recurrent Neural Network (RNN) designed to handle long-term dependencies in sequential data. LSTM overcomes the vanishing gradient problem found in traditional RNNs, making it suitable for time-series tasks like traffic prediction.</a:t>
            </a:r>
            <a:endParaRPr sz="1200">
              <a:solidFill>
                <a:schemeClr val="dk1"/>
              </a:solidFill>
            </a:endParaRPr>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t/>
            </a:r>
            <a:endParaRPr b="1" sz="1200"/>
          </a:p>
          <a:p>
            <a:pPr indent="0" lvl="0" marL="0" rtl="0" algn="l">
              <a:lnSpc>
                <a:spcPct val="100000"/>
              </a:lnSpc>
              <a:spcBef>
                <a:spcPts val="1200"/>
              </a:spcBef>
              <a:spcAft>
                <a:spcPts val="0"/>
              </a:spcAft>
              <a:buSzPts val="1800"/>
              <a:buNone/>
            </a:pPr>
            <a:r>
              <a:rPr b="1" lang="en-US" sz="1200">
                <a:solidFill>
                  <a:schemeClr val="dk1"/>
                </a:solidFill>
              </a:rPr>
              <a:t>Architecture</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Forget Gate</a:t>
            </a:r>
            <a:r>
              <a:rPr lang="en-US" sz="1200">
                <a:solidFill>
                  <a:schemeClr val="dk1"/>
                </a:solidFill>
              </a:rPr>
              <a:t>: Determines which information from the previous time step should be discarded.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Input Gate</a:t>
            </a:r>
            <a:r>
              <a:rPr lang="en-US" sz="1200">
                <a:solidFill>
                  <a:schemeClr val="dk1"/>
                </a:solidFill>
              </a:rPr>
              <a:t>: Decides which new information should be added to the cell state.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Output Gate</a:t>
            </a:r>
            <a:r>
              <a:rPr lang="en-US" sz="1200">
                <a:solidFill>
                  <a:schemeClr val="dk1"/>
                </a:solidFill>
              </a:rPr>
              <a:t>: Determines what information from the cell state should be passed to the next layer.</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Cell State</a:t>
            </a:r>
            <a:r>
              <a:rPr lang="en-US" sz="1200">
                <a:solidFill>
                  <a:schemeClr val="dk1"/>
                </a:solidFill>
              </a:rPr>
              <a:t>: Serves as the memory, retaining long-term information that influences future predictions.</a:t>
            </a:r>
            <a:endParaRPr sz="1200">
              <a:solidFill>
                <a:schemeClr val="dk1"/>
              </a:solidFill>
            </a:endParaRPr>
          </a:p>
          <a:p>
            <a:pPr indent="0" lvl="0" marL="0" rtl="0" algn="l">
              <a:lnSpc>
                <a:spcPct val="115000"/>
              </a:lnSpc>
              <a:spcBef>
                <a:spcPts val="1200"/>
              </a:spcBef>
              <a:spcAft>
                <a:spcPts val="1200"/>
              </a:spcAft>
              <a:buSzPts val="1800"/>
              <a:buNone/>
            </a:pPr>
            <a:r>
              <a:t/>
            </a:r>
            <a:endParaRPr sz="1200"/>
          </a:p>
        </p:txBody>
      </p:sp>
      <p:pic>
        <p:nvPicPr>
          <p:cNvPr id="113" name="Google Shape;113;p22"/>
          <p:cNvPicPr preferRelativeResize="0"/>
          <p:nvPr/>
        </p:nvPicPr>
        <p:blipFill>
          <a:blip r:embed="rId3">
            <a:alphaModFix/>
          </a:blip>
          <a:stretch>
            <a:fillRect/>
          </a:stretch>
        </p:blipFill>
        <p:spPr>
          <a:xfrm>
            <a:off x="1744975" y="1424850"/>
            <a:ext cx="4935749" cy="1890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idx="1" type="body"/>
          </p:nvPr>
        </p:nvSpPr>
        <p:spPr>
          <a:xfrm>
            <a:off x="311700" y="390550"/>
            <a:ext cx="8520600" cy="4188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800"/>
              <a:buFont typeface="Arial"/>
              <a:buNone/>
            </a:pPr>
            <a:r>
              <a:rPr b="1" lang="en-US" sz="1600"/>
              <a:t>Application in Traffic Prediction</a:t>
            </a:r>
            <a:endParaRPr b="1" sz="1600"/>
          </a:p>
          <a:p>
            <a:pPr indent="-330200" lvl="0" marL="457200" rtl="0" algn="l">
              <a:spcBef>
                <a:spcPts val="1200"/>
              </a:spcBef>
              <a:spcAft>
                <a:spcPts val="0"/>
              </a:spcAft>
              <a:buSzPts val="1600"/>
              <a:buChar char="●"/>
            </a:pPr>
            <a:r>
              <a:rPr lang="en-US" sz="1600"/>
              <a:t>LSTM captures temporal dependencies in traffic data.</a:t>
            </a:r>
            <a:endParaRPr sz="1600"/>
          </a:p>
          <a:p>
            <a:pPr indent="-330200" lvl="0" marL="457200" rtl="0" algn="l">
              <a:spcBef>
                <a:spcPts val="0"/>
              </a:spcBef>
              <a:spcAft>
                <a:spcPts val="0"/>
              </a:spcAft>
              <a:buSzPts val="1600"/>
              <a:buChar char="●"/>
            </a:pPr>
            <a:r>
              <a:rPr lang="en-US" sz="1600"/>
              <a:t>It predicts : Traffic congestion levels, Vehicle speeds and Traffic patterns during peak hours.</a:t>
            </a:r>
            <a:endParaRPr sz="1600"/>
          </a:p>
          <a:p>
            <a:pPr indent="-330200" lvl="0" marL="457200" rtl="0" algn="l">
              <a:spcBef>
                <a:spcPts val="0"/>
              </a:spcBef>
              <a:spcAft>
                <a:spcPts val="0"/>
              </a:spcAft>
              <a:buSzPts val="1600"/>
              <a:buChar char="●"/>
            </a:pPr>
            <a:r>
              <a:rPr lang="en-US" sz="1600"/>
              <a:t>Crucial for Intelligent Transport Systems (ITS) that rely on forecasting future traffic conditions.</a:t>
            </a:r>
            <a:endParaRPr sz="1600"/>
          </a:p>
          <a:p>
            <a:pPr indent="0" lvl="0" marL="0" rtl="0" algn="l">
              <a:spcBef>
                <a:spcPts val="1200"/>
              </a:spcBef>
              <a:spcAft>
                <a:spcPts val="0"/>
              </a:spcAft>
              <a:buClr>
                <a:schemeClr val="dk1"/>
              </a:buClr>
              <a:buSzPts val="1800"/>
              <a:buFont typeface="Arial"/>
              <a:buNone/>
            </a:pPr>
            <a:r>
              <a:rPr b="1" lang="en-US" sz="1600"/>
              <a:t>Limitations</a:t>
            </a:r>
            <a:endParaRPr b="1" sz="1600"/>
          </a:p>
          <a:p>
            <a:pPr indent="-330200" lvl="0" marL="457200" rtl="0" algn="l">
              <a:spcBef>
                <a:spcPts val="1200"/>
              </a:spcBef>
              <a:spcAft>
                <a:spcPts val="0"/>
              </a:spcAft>
              <a:buSzPts val="1600"/>
              <a:buChar char="●"/>
            </a:pPr>
            <a:r>
              <a:rPr lang="en-US" sz="1600"/>
              <a:t>LSTM does not model spatial relationships in traffic networks.</a:t>
            </a:r>
            <a:endParaRPr sz="1600"/>
          </a:p>
          <a:p>
            <a:pPr indent="-330200" lvl="0" marL="457200" rtl="0" algn="l">
              <a:spcBef>
                <a:spcPts val="0"/>
              </a:spcBef>
              <a:spcAft>
                <a:spcPts val="0"/>
              </a:spcAft>
              <a:buSzPts val="1600"/>
              <a:buChar char="●"/>
            </a:pPr>
            <a:r>
              <a:rPr lang="en-US" sz="1600"/>
              <a:t>It cannot fully capture interactions between traffic nodes or road segments in complex networks.</a:t>
            </a:r>
            <a:endParaRPr sz="1600"/>
          </a:p>
          <a:p>
            <a:pPr indent="0" lvl="0" marL="0" rtl="0" algn="l">
              <a:spcBef>
                <a:spcPts val="0"/>
              </a:spcBef>
              <a:spcAft>
                <a:spcPts val="1200"/>
              </a:spcAft>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idx="1" type="body"/>
          </p:nvPr>
        </p:nvSpPr>
        <p:spPr>
          <a:xfrm>
            <a:off x="311700" y="257600"/>
            <a:ext cx="8520600" cy="4495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US" sz="1400"/>
              <a:t>Mathematics </a:t>
            </a:r>
            <a:r>
              <a:rPr b="1" lang="en-US" sz="1400"/>
              <a:t>behind</a:t>
            </a:r>
            <a:r>
              <a:rPr b="1" lang="en-US" sz="1400"/>
              <a:t> LSTM</a:t>
            </a:r>
            <a:endParaRPr b="1" sz="1400">
              <a:solidFill>
                <a:schemeClr val="dk1"/>
              </a:solidFill>
            </a:endParaRPr>
          </a:p>
          <a:p>
            <a:pPr indent="-311150" lvl="0" marL="457200" rtl="0" algn="l">
              <a:spcBef>
                <a:spcPts val="1200"/>
              </a:spcBef>
              <a:spcAft>
                <a:spcPts val="0"/>
              </a:spcAft>
              <a:buSzPts val="1300"/>
              <a:buChar char="●"/>
            </a:pPr>
            <a:r>
              <a:rPr lang="en-US" sz="1300"/>
              <a:t>The gating units have three types, namely, input gate, forget gate, and output gate, which are used to decide whether to add or remove information to a cell state.</a:t>
            </a:r>
            <a:endParaRPr sz="1300"/>
          </a:p>
          <a:p>
            <a:pPr indent="-311150" lvl="0" marL="457200" rtl="0" algn="l">
              <a:spcBef>
                <a:spcPts val="0"/>
              </a:spcBef>
              <a:spcAft>
                <a:spcPts val="0"/>
              </a:spcAft>
              <a:buSzPts val="1300"/>
              <a:buChar char="●"/>
            </a:pPr>
            <a:r>
              <a:rPr lang="en-US" sz="1300"/>
              <a:t>Given data xt , the cell output state ct and the hidden layer, output ht can be computed by:</a:t>
            </a:r>
            <a:endParaRPr sz="1300"/>
          </a:p>
          <a:p>
            <a:pPr indent="0" lvl="0" marL="457200" rtl="0" algn="l">
              <a:spcBef>
                <a:spcPts val="1200"/>
              </a:spcBef>
              <a:spcAft>
                <a:spcPts val="0"/>
              </a:spcAft>
              <a:buNone/>
            </a:pPr>
            <a:r>
              <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lnSpc>
                <a:spcPct val="100000"/>
              </a:lnSpc>
              <a:spcBef>
                <a:spcPts val="1200"/>
              </a:spcBef>
              <a:spcAft>
                <a:spcPts val="0"/>
              </a:spcAft>
              <a:buNone/>
            </a:pPr>
            <a:r>
              <a:t/>
            </a:r>
            <a:endParaRPr sz="1300"/>
          </a:p>
          <a:p>
            <a:pPr indent="0" lvl="0" marL="0" rtl="0" algn="l">
              <a:lnSpc>
                <a:spcPct val="100000"/>
              </a:lnSpc>
              <a:spcBef>
                <a:spcPts val="1200"/>
              </a:spcBef>
              <a:spcAft>
                <a:spcPts val="0"/>
              </a:spcAft>
              <a:buNone/>
            </a:pPr>
            <a:r>
              <a:t/>
            </a:r>
            <a:endParaRPr sz="1300"/>
          </a:p>
          <a:p>
            <a:pPr indent="-311150" lvl="0" marL="457200" rtl="0" algn="l">
              <a:lnSpc>
                <a:spcPct val="100000"/>
              </a:lnSpc>
              <a:spcBef>
                <a:spcPts val="1200"/>
              </a:spcBef>
              <a:spcAft>
                <a:spcPts val="0"/>
              </a:spcAft>
              <a:buClr>
                <a:schemeClr val="dk1"/>
              </a:buClr>
              <a:buSzPts val="1300"/>
              <a:buChar char="●"/>
            </a:pPr>
            <a:r>
              <a:rPr lang="en-US" sz="1300">
                <a:solidFill>
                  <a:schemeClr val="dk1"/>
                </a:solidFill>
              </a:rPr>
              <a:t>Given an input, future predictions are computed by</a:t>
            </a:r>
            <a:endParaRPr sz="1300">
              <a:solidFill>
                <a:schemeClr val="dk1"/>
              </a:solidFill>
            </a:endParaRPr>
          </a:p>
          <a:p>
            <a:pPr indent="0" lvl="0" marL="0" rtl="0" algn="l">
              <a:spcBef>
                <a:spcPts val="1200"/>
              </a:spcBef>
              <a:spcAft>
                <a:spcPts val="0"/>
              </a:spcAft>
              <a:buNone/>
            </a:pPr>
            <a:r>
              <a:t/>
            </a:r>
            <a:endParaRPr sz="13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124" name="Google Shape;124;p24"/>
          <p:cNvPicPr preferRelativeResize="0"/>
          <p:nvPr/>
        </p:nvPicPr>
        <p:blipFill>
          <a:blip r:embed="rId3">
            <a:alphaModFix/>
          </a:blip>
          <a:stretch>
            <a:fillRect/>
          </a:stretch>
        </p:blipFill>
        <p:spPr>
          <a:xfrm>
            <a:off x="896488" y="1585273"/>
            <a:ext cx="3249900" cy="1613250"/>
          </a:xfrm>
          <a:prstGeom prst="rect">
            <a:avLst/>
          </a:prstGeom>
          <a:noFill/>
          <a:ln>
            <a:noFill/>
          </a:ln>
        </p:spPr>
      </p:pic>
      <p:pic>
        <p:nvPicPr>
          <p:cNvPr id="125" name="Google Shape;125;p24"/>
          <p:cNvPicPr preferRelativeResize="0"/>
          <p:nvPr/>
        </p:nvPicPr>
        <p:blipFill>
          <a:blip r:embed="rId4">
            <a:alphaModFix/>
          </a:blip>
          <a:stretch>
            <a:fillRect/>
          </a:stretch>
        </p:blipFill>
        <p:spPr>
          <a:xfrm>
            <a:off x="1841471" y="4081475"/>
            <a:ext cx="2304900" cy="369500"/>
          </a:xfrm>
          <a:prstGeom prst="rect">
            <a:avLst/>
          </a:prstGeom>
          <a:noFill/>
          <a:ln>
            <a:noFill/>
          </a:ln>
        </p:spPr>
      </p:pic>
      <p:pic>
        <p:nvPicPr>
          <p:cNvPr id="126" name="Google Shape;126;p24"/>
          <p:cNvPicPr preferRelativeResize="0"/>
          <p:nvPr/>
        </p:nvPicPr>
        <p:blipFill>
          <a:blip r:embed="rId5">
            <a:alphaModFix/>
          </a:blip>
          <a:stretch>
            <a:fillRect/>
          </a:stretch>
        </p:blipFill>
        <p:spPr>
          <a:xfrm>
            <a:off x="4777901" y="1817650"/>
            <a:ext cx="3899475" cy="1090625"/>
          </a:xfrm>
          <a:prstGeom prst="rect">
            <a:avLst/>
          </a:prstGeom>
          <a:noFill/>
          <a:ln cap="flat" cmpd="sng" w="9525">
            <a:solidFill>
              <a:schemeClr val="lt1"/>
            </a:solidFill>
            <a:prstDash val="solid"/>
            <a:round/>
            <a:headEnd len="sm" w="sm" type="none"/>
            <a:tailEnd len="sm" w="sm" type="none"/>
          </a:ln>
        </p:spPr>
      </p:pic>
      <p:sp>
        <p:nvSpPr>
          <p:cNvPr id="127" name="Google Shape;127;p24"/>
          <p:cNvSpPr txBox="1"/>
          <p:nvPr/>
        </p:nvSpPr>
        <p:spPr>
          <a:xfrm>
            <a:off x="8326000" y="2750400"/>
            <a:ext cx="299100" cy="1578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 type="body"/>
          </p:nvPr>
        </p:nvSpPr>
        <p:spPr>
          <a:xfrm>
            <a:off x="311700" y="174500"/>
            <a:ext cx="8520600" cy="48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50" u="sng">
                <a:solidFill>
                  <a:schemeClr val="dk1"/>
                </a:solidFill>
              </a:rPr>
              <a:t>Graph Attention Network (GAT)</a:t>
            </a:r>
            <a:endParaRPr b="1" sz="1550" u="sng">
              <a:solidFill>
                <a:schemeClr val="dk1"/>
              </a:solidFill>
            </a:endParaRPr>
          </a:p>
          <a:p>
            <a:pPr indent="0" lvl="0" marL="0" rtl="0" algn="l">
              <a:lnSpc>
                <a:spcPct val="115000"/>
              </a:lnSpc>
              <a:spcBef>
                <a:spcPts val="1200"/>
              </a:spcBef>
              <a:spcAft>
                <a:spcPts val="0"/>
              </a:spcAft>
              <a:buSzPts val="1800"/>
              <a:buNone/>
            </a:pPr>
            <a:r>
              <a:rPr lang="en-US" sz="1200">
                <a:solidFill>
                  <a:schemeClr val="dk1"/>
                </a:solidFill>
              </a:rPr>
              <a:t>GAT operates on graph-structured data, employing an attention mechanism to focus on the most relevant neighbors in a graph. This mechanism allows GAT to capture spatial dependencies within a traffic network.</a:t>
            </a:r>
            <a:endParaRPr b="1" sz="1200">
              <a:solidFill>
                <a:schemeClr val="dk1"/>
              </a:solidFill>
            </a:endParaRPr>
          </a:p>
          <a:p>
            <a:pPr indent="0" lvl="0" marL="0" rtl="0" algn="l">
              <a:lnSpc>
                <a:spcPct val="115000"/>
              </a:lnSpc>
              <a:spcBef>
                <a:spcPts val="1200"/>
              </a:spcBef>
              <a:spcAft>
                <a:spcPts val="0"/>
              </a:spcAft>
              <a:buSzPts val="1800"/>
              <a:buNone/>
            </a:pPr>
            <a:r>
              <a:rPr b="1" lang="en-US" sz="1200">
                <a:solidFill>
                  <a:schemeClr val="dk1"/>
                </a:solidFill>
              </a:rPr>
              <a:t>Architecture</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Graph Representation</a:t>
            </a:r>
            <a:r>
              <a:rPr lang="en-US" sz="1200">
                <a:solidFill>
                  <a:schemeClr val="dk1"/>
                </a:solidFill>
              </a:rPr>
              <a:t>: Traffic network represented as a graph, where nodes are intersections/road segments, and edges represent connections.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Attention Mechanism</a:t>
            </a:r>
            <a:r>
              <a:rPr lang="en-US" sz="1200">
                <a:solidFill>
                  <a:schemeClr val="dk1"/>
                </a:solidFill>
              </a:rPr>
              <a:t>: Each node computes an attention score for its neighbors, determining their influence on the node's prediction.</a:t>
            </a:r>
            <a:endParaRPr sz="1200">
              <a:solidFill>
                <a:schemeClr val="dk1"/>
              </a:solidFill>
            </a:endParaRPr>
          </a:p>
          <a:p>
            <a:pPr indent="0" lvl="0" marL="0" rtl="0" algn="l">
              <a:lnSpc>
                <a:spcPct val="115000"/>
              </a:lnSpc>
              <a:spcBef>
                <a:spcPts val="1200"/>
              </a:spcBef>
              <a:spcAft>
                <a:spcPts val="0"/>
              </a:spcAft>
              <a:buSzPts val="1800"/>
              <a:buNone/>
            </a:pPr>
            <a:r>
              <a:rPr b="1" lang="en-US" sz="1200">
                <a:solidFill>
                  <a:schemeClr val="dk1"/>
                </a:solidFill>
              </a:rPr>
              <a:t>Application in Traffic Prediction</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GAT excels at modeling spatial dependencies within a traffic network.</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It analyzes how traffic conditions at one intersection influence nearby intersections, crucial for congestion modeling.</a:t>
            </a:r>
            <a:endParaRPr sz="1200">
              <a:solidFill>
                <a:schemeClr val="dk1"/>
              </a:solidFill>
            </a:endParaRPr>
          </a:p>
          <a:p>
            <a:pPr indent="0" lvl="0" marL="0" rtl="0" algn="l">
              <a:lnSpc>
                <a:spcPct val="115000"/>
              </a:lnSpc>
              <a:spcBef>
                <a:spcPts val="1200"/>
              </a:spcBef>
              <a:spcAft>
                <a:spcPts val="0"/>
              </a:spcAft>
              <a:buSzPts val="1800"/>
              <a:buNone/>
            </a:pPr>
            <a:r>
              <a:rPr b="1" lang="en-US" sz="1200">
                <a:solidFill>
                  <a:schemeClr val="dk1"/>
                </a:solidFill>
              </a:rPr>
              <a:t>Limitations</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GAT does not consider temporal dependencies, meaning it can’t predict how traffic conditions change over time.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It requires integration with temporal models like LSTM for accurate predictions that account for both spatial and temporal dynamics.</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idx="1" type="body"/>
          </p:nvPr>
        </p:nvSpPr>
        <p:spPr>
          <a:xfrm>
            <a:off x="311700" y="257600"/>
            <a:ext cx="8520600" cy="4653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475"/>
          </a:p>
          <a:p>
            <a:pPr indent="0" lvl="0" marL="0" rtl="0" algn="l">
              <a:spcBef>
                <a:spcPts val="1200"/>
              </a:spcBef>
              <a:spcAft>
                <a:spcPts val="0"/>
              </a:spcAft>
              <a:buNone/>
            </a:pPr>
            <a:r>
              <a:t/>
            </a:r>
            <a:endParaRPr sz="1475"/>
          </a:p>
          <a:p>
            <a:pPr indent="0" lvl="0" marL="0" rtl="0" algn="l">
              <a:spcBef>
                <a:spcPts val="1200"/>
              </a:spcBef>
              <a:spcAft>
                <a:spcPts val="0"/>
              </a:spcAft>
              <a:buNone/>
            </a:pPr>
            <a:r>
              <a:t/>
            </a:r>
            <a:endParaRPr sz="1475"/>
          </a:p>
          <a:p>
            <a:pPr indent="0" lvl="0" marL="0" rtl="0" algn="l">
              <a:spcBef>
                <a:spcPts val="1200"/>
              </a:spcBef>
              <a:spcAft>
                <a:spcPts val="0"/>
              </a:spcAft>
              <a:buNone/>
            </a:pPr>
            <a:r>
              <a:rPr lang="en-US" sz="4800">
                <a:solidFill>
                  <a:schemeClr val="dk1"/>
                </a:solidFill>
              </a:rPr>
              <a:t>Its advantages include : </a:t>
            </a:r>
            <a:endParaRPr sz="4800">
              <a:solidFill>
                <a:schemeClr val="dk1"/>
              </a:solidFill>
            </a:endParaRPr>
          </a:p>
          <a:p>
            <a:pPr indent="-304800" lvl="0" marL="457200" rtl="0" algn="l">
              <a:spcBef>
                <a:spcPts val="1200"/>
              </a:spcBef>
              <a:spcAft>
                <a:spcPts val="0"/>
              </a:spcAft>
              <a:buClr>
                <a:schemeClr val="dk1"/>
              </a:buClr>
              <a:buSzPct val="100000"/>
              <a:buChar char="●"/>
            </a:pPr>
            <a:r>
              <a:rPr lang="en-US" sz="4800">
                <a:solidFill>
                  <a:schemeClr val="dk1"/>
                </a:solidFill>
              </a:rPr>
              <a:t>Directly utilizes time-series data without needing a sequence-to-sequence structure, simplifying model design.</a:t>
            </a:r>
            <a:endParaRPr sz="4800">
              <a:solidFill>
                <a:schemeClr val="dk1"/>
              </a:solidFill>
            </a:endParaRPr>
          </a:p>
          <a:p>
            <a:pPr indent="-304800" lvl="0" marL="457200" rtl="0" algn="l">
              <a:spcBef>
                <a:spcPts val="0"/>
              </a:spcBef>
              <a:spcAft>
                <a:spcPts val="0"/>
              </a:spcAft>
              <a:buClr>
                <a:schemeClr val="dk1"/>
              </a:buClr>
              <a:buSzPct val="100000"/>
              <a:buChar char="●"/>
            </a:pPr>
            <a:r>
              <a:rPr lang="en-US" sz="4800">
                <a:solidFill>
                  <a:schemeClr val="dk1"/>
                </a:solidFill>
              </a:rPr>
              <a:t>Efficiently captures sufficient temporal features while avoiding redundancy or excessive computational overhead.</a:t>
            </a:r>
            <a:endParaRPr sz="4800">
              <a:solidFill>
                <a:schemeClr val="dk1"/>
              </a:solidFill>
            </a:endParaRPr>
          </a:p>
          <a:p>
            <a:pPr indent="0" lvl="0" marL="0" rtl="0" algn="l">
              <a:spcBef>
                <a:spcPts val="1200"/>
              </a:spcBef>
              <a:spcAft>
                <a:spcPts val="1200"/>
              </a:spcAft>
              <a:buNone/>
            </a:pPr>
            <a:r>
              <a:t/>
            </a:r>
            <a:endParaRPr sz="4723">
              <a:solidFill>
                <a:schemeClr val="dk1"/>
              </a:solidFill>
            </a:endParaRPr>
          </a:p>
        </p:txBody>
      </p:sp>
      <p:pic>
        <p:nvPicPr>
          <p:cNvPr id="138" name="Google Shape;138;p26"/>
          <p:cNvPicPr preferRelativeResize="0"/>
          <p:nvPr/>
        </p:nvPicPr>
        <p:blipFill>
          <a:blip r:embed="rId3">
            <a:alphaModFix/>
          </a:blip>
          <a:stretch>
            <a:fillRect/>
          </a:stretch>
        </p:blipFill>
        <p:spPr>
          <a:xfrm>
            <a:off x="311700" y="207750"/>
            <a:ext cx="8105701" cy="3531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idx="1" type="body"/>
          </p:nvPr>
        </p:nvSpPr>
        <p:spPr>
          <a:xfrm>
            <a:off x="311700" y="207725"/>
            <a:ext cx="8520600" cy="48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50" u="sng">
                <a:solidFill>
                  <a:schemeClr val="dk1"/>
                </a:solidFill>
              </a:rPr>
              <a:t>Integration of LSTM and GAT</a:t>
            </a:r>
            <a:endParaRPr b="1" sz="1550" u="sng">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550" u="sng">
              <a:solidFill>
                <a:schemeClr val="dk1"/>
              </a:solidFill>
            </a:endParaRPr>
          </a:p>
          <a:p>
            <a:pPr indent="0" lvl="0" marL="0" rtl="0" algn="l">
              <a:lnSpc>
                <a:spcPct val="115000"/>
              </a:lnSpc>
              <a:spcBef>
                <a:spcPts val="1200"/>
              </a:spcBef>
              <a:spcAft>
                <a:spcPts val="0"/>
              </a:spcAft>
              <a:buSzPts val="1800"/>
              <a:buNone/>
            </a:pPr>
            <a:r>
              <a:t/>
            </a:r>
            <a:endParaRPr b="1" sz="1400">
              <a:solidFill>
                <a:schemeClr val="dk1"/>
              </a:solidFill>
            </a:endParaRPr>
          </a:p>
          <a:p>
            <a:pPr indent="0" lvl="0" marL="0" rtl="0" algn="l">
              <a:lnSpc>
                <a:spcPct val="115000"/>
              </a:lnSpc>
              <a:spcBef>
                <a:spcPts val="1200"/>
              </a:spcBef>
              <a:spcAft>
                <a:spcPts val="0"/>
              </a:spcAft>
              <a:buSzPts val="1800"/>
              <a:buNone/>
            </a:pPr>
            <a:r>
              <a:t/>
            </a:r>
            <a:endParaRPr b="1" sz="1400">
              <a:solidFill>
                <a:schemeClr val="dk1"/>
              </a:solidFill>
            </a:endParaRPr>
          </a:p>
          <a:p>
            <a:pPr indent="0" lvl="0" marL="0" rtl="0" algn="l">
              <a:lnSpc>
                <a:spcPct val="115000"/>
              </a:lnSpc>
              <a:spcBef>
                <a:spcPts val="1200"/>
              </a:spcBef>
              <a:spcAft>
                <a:spcPts val="0"/>
              </a:spcAft>
              <a:buSzPts val="1800"/>
              <a:buNone/>
            </a:pPr>
            <a:r>
              <a:t/>
            </a:r>
            <a:endParaRPr b="1" sz="1400">
              <a:solidFill>
                <a:schemeClr val="dk1"/>
              </a:solidFill>
            </a:endParaRPr>
          </a:p>
          <a:p>
            <a:pPr indent="0" lvl="0" marL="0" rtl="0" algn="l">
              <a:lnSpc>
                <a:spcPct val="115000"/>
              </a:lnSpc>
              <a:spcBef>
                <a:spcPts val="1200"/>
              </a:spcBef>
              <a:spcAft>
                <a:spcPts val="0"/>
              </a:spcAft>
              <a:buSzPts val="1800"/>
              <a:buNone/>
            </a:pPr>
            <a:r>
              <a:t/>
            </a:r>
            <a:endParaRPr b="1" sz="1400">
              <a:solidFill>
                <a:schemeClr val="dk1"/>
              </a:solidFill>
            </a:endParaRPr>
          </a:p>
          <a:p>
            <a:pPr indent="0" lvl="0" marL="0" rtl="0" algn="l">
              <a:lnSpc>
                <a:spcPct val="115000"/>
              </a:lnSpc>
              <a:spcBef>
                <a:spcPts val="1200"/>
              </a:spcBef>
              <a:spcAft>
                <a:spcPts val="0"/>
              </a:spcAft>
              <a:buSzPts val="1800"/>
              <a:buNone/>
            </a:pPr>
            <a:r>
              <a:t/>
            </a:r>
            <a:endParaRPr b="1" sz="1200">
              <a:solidFill>
                <a:schemeClr val="dk1"/>
              </a:solidFill>
            </a:endParaRPr>
          </a:p>
          <a:p>
            <a:pPr indent="0" lvl="0" marL="0" rtl="0" algn="l">
              <a:lnSpc>
                <a:spcPct val="115000"/>
              </a:lnSpc>
              <a:spcBef>
                <a:spcPts val="0"/>
              </a:spcBef>
              <a:spcAft>
                <a:spcPts val="0"/>
              </a:spcAft>
              <a:buSzPts val="1800"/>
              <a:buNone/>
            </a:pPr>
            <a:r>
              <a:t/>
            </a:r>
            <a:endParaRPr b="1" sz="1200">
              <a:solidFill>
                <a:schemeClr val="dk1"/>
              </a:solidFill>
            </a:endParaRPr>
          </a:p>
          <a:p>
            <a:pPr indent="0" lvl="0" marL="0" rtl="0" algn="l">
              <a:lnSpc>
                <a:spcPct val="115000"/>
              </a:lnSpc>
              <a:spcBef>
                <a:spcPts val="0"/>
              </a:spcBef>
              <a:spcAft>
                <a:spcPts val="0"/>
              </a:spcAft>
              <a:buSzPts val="1800"/>
              <a:buNone/>
            </a:pPr>
            <a:r>
              <a:rPr b="1" lang="en-US" sz="1500">
                <a:solidFill>
                  <a:schemeClr val="dk1"/>
                </a:solidFill>
              </a:rPr>
              <a:t>Complementary Strengths</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LSTM</a:t>
            </a:r>
            <a:r>
              <a:rPr lang="en-US" sz="1500">
                <a:solidFill>
                  <a:schemeClr val="dk1"/>
                </a:solidFill>
              </a:rPr>
              <a:t>: Captures temporal patterns and how traffic evolves over time.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GAT</a:t>
            </a:r>
            <a:r>
              <a:rPr lang="en-US" sz="1500">
                <a:solidFill>
                  <a:schemeClr val="dk1"/>
                </a:solidFill>
              </a:rPr>
              <a:t>: Models spatial relationships, capturing how conditions at one intersection influence others.</a:t>
            </a:r>
            <a:endParaRPr sz="1500">
              <a:solidFill>
                <a:schemeClr val="dk1"/>
              </a:solidFill>
            </a:endParaRPr>
          </a:p>
          <a:p>
            <a:pPr indent="0" lvl="0" marL="0" rtl="0" algn="l">
              <a:lnSpc>
                <a:spcPct val="115000"/>
              </a:lnSpc>
              <a:spcBef>
                <a:spcPts val="1200"/>
              </a:spcBef>
              <a:spcAft>
                <a:spcPts val="0"/>
              </a:spcAft>
              <a:buSzPts val="1800"/>
              <a:buNone/>
            </a:pPr>
            <a:r>
              <a:rPr b="1" lang="en-US" sz="1500">
                <a:solidFill>
                  <a:schemeClr val="dk1"/>
                </a:solidFill>
              </a:rPr>
              <a:t>Workflow</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Input</a:t>
            </a:r>
            <a:r>
              <a:rPr lang="en-US" sz="1500">
                <a:solidFill>
                  <a:schemeClr val="dk1"/>
                </a:solidFill>
              </a:rPr>
              <a:t>: Historical traffic data and graph representations of the road network.</a:t>
            </a:r>
            <a:endParaRPr sz="1500">
              <a:solidFill>
                <a:schemeClr val="dk1"/>
              </a:solidFill>
            </a:endParaRPr>
          </a:p>
          <a:p>
            <a:pPr indent="0" lvl="0" marL="457200" rtl="0" algn="l">
              <a:lnSpc>
                <a:spcPct val="115000"/>
              </a:lnSpc>
              <a:spcBef>
                <a:spcPts val="0"/>
              </a:spcBef>
              <a:spcAft>
                <a:spcPts val="0"/>
              </a:spcAft>
              <a:buNone/>
            </a:pPr>
            <a:r>
              <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1200"/>
              </a:spcAft>
              <a:buSzPts val="1800"/>
              <a:buNone/>
            </a:pPr>
            <a:r>
              <a:t/>
            </a:r>
            <a:endParaRPr sz="1200"/>
          </a:p>
        </p:txBody>
      </p:sp>
      <p:pic>
        <p:nvPicPr>
          <p:cNvPr id="144" name="Google Shape;144;p27"/>
          <p:cNvPicPr preferRelativeResize="0"/>
          <p:nvPr/>
        </p:nvPicPr>
        <p:blipFill>
          <a:blip r:embed="rId3">
            <a:alphaModFix/>
          </a:blip>
          <a:stretch>
            <a:fillRect/>
          </a:stretch>
        </p:blipFill>
        <p:spPr>
          <a:xfrm>
            <a:off x="1179925" y="838896"/>
            <a:ext cx="6308650" cy="2174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idx="1" type="body"/>
          </p:nvPr>
        </p:nvSpPr>
        <p:spPr>
          <a:xfrm>
            <a:off x="311700" y="149575"/>
            <a:ext cx="8587500" cy="473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b="1" sz="1700">
              <a:solidFill>
                <a:schemeClr val="dk1"/>
              </a:solidFill>
            </a:endParaRPr>
          </a:p>
          <a:p>
            <a:pPr indent="-336550" lvl="0" marL="457200" rtl="0" algn="l">
              <a:spcBef>
                <a:spcPts val="0"/>
              </a:spcBef>
              <a:spcAft>
                <a:spcPts val="0"/>
              </a:spcAft>
              <a:buClr>
                <a:schemeClr val="dk1"/>
              </a:buClr>
              <a:buSzPts val="1700"/>
              <a:buChar char="●"/>
            </a:pPr>
            <a:r>
              <a:rPr b="1" lang="en-US" sz="1700">
                <a:solidFill>
                  <a:schemeClr val="dk1"/>
                </a:solidFill>
              </a:rPr>
              <a:t>Processing</a:t>
            </a:r>
            <a:r>
              <a:rPr lang="en-US" sz="1700">
                <a:solidFill>
                  <a:schemeClr val="dk1"/>
                </a:solidFill>
              </a:rPr>
              <a:t>:</a:t>
            </a:r>
            <a:endParaRPr sz="1700">
              <a:solidFill>
                <a:schemeClr val="dk1"/>
              </a:solidFill>
            </a:endParaRPr>
          </a:p>
          <a:p>
            <a:pPr indent="-336550" lvl="1" marL="914400" rtl="0" algn="l">
              <a:spcBef>
                <a:spcPts val="0"/>
              </a:spcBef>
              <a:spcAft>
                <a:spcPts val="0"/>
              </a:spcAft>
              <a:buClr>
                <a:schemeClr val="dk1"/>
              </a:buClr>
              <a:buSzPts val="1700"/>
              <a:buChar char="○"/>
            </a:pPr>
            <a:r>
              <a:rPr lang="en-US" sz="1700">
                <a:solidFill>
                  <a:schemeClr val="dk1"/>
                </a:solidFill>
              </a:rPr>
              <a:t>GAT models the spatial dependencies between nodes in the traffic network.</a:t>
            </a:r>
            <a:endParaRPr sz="1700">
              <a:solidFill>
                <a:schemeClr val="dk1"/>
              </a:solidFill>
            </a:endParaRPr>
          </a:p>
          <a:p>
            <a:pPr indent="-336550" lvl="1" marL="914400" rtl="0" algn="l">
              <a:spcBef>
                <a:spcPts val="0"/>
              </a:spcBef>
              <a:spcAft>
                <a:spcPts val="0"/>
              </a:spcAft>
              <a:buClr>
                <a:schemeClr val="dk1"/>
              </a:buClr>
              <a:buSzPts val="1700"/>
              <a:buChar char="○"/>
            </a:pPr>
            <a:r>
              <a:rPr lang="en-US" sz="1700">
                <a:solidFill>
                  <a:schemeClr val="dk1"/>
                </a:solidFill>
              </a:rPr>
              <a:t>LSTM takes the output from GAT to learn the temporal dependencies of traffic conditions.</a:t>
            </a:r>
            <a:endParaRPr sz="1700">
              <a:solidFill>
                <a:schemeClr val="dk1"/>
              </a:solidFill>
            </a:endParaRPr>
          </a:p>
          <a:p>
            <a:pPr indent="-336550" lvl="0" marL="457200" rtl="0" algn="l">
              <a:spcBef>
                <a:spcPts val="0"/>
              </a:spcBef>
              <a:spcAft>
                <a:spcPts val="0"/>
              </a:spcAft>
              <a:buClr>
                <a:schemeClr val="dk1"/>
              </a:buClr>
              <a:buSzPts val="1700"/>
              <a:buChar char="●"/>
            </a:pPr>
            <a:r>
              <a:rPr b="1" lang="en-US" sz="1700">
                <a:solidFill>
                  <a:schemeClr val="dk1"/>
                </a:solidFill>
              </a:rPr>
              <a:t>Output</a:t>
            </a:r>
            <a:r>
              <a:rPr lang="en-US" sz="1700">
                <a:solidFill>
                  <a:schemeClr val="dk1"/>
                </a:solidFill>
              </a:rPr>
              <a:t>: Accurate predictions that combine both spatial and temporal factors.</a:t>
            </a:r>
            <a:endParaRPr b="1" sz="1700">
              <a:solidFill>
                <a:schemeClr val="dk1"/>
              </a:solidFill>
            </a:endParaRPr>
          </a:p>
          <a:p>
            <a:pPr indent="0" lvl="0" marL="0" rtl="0" algn="l">
              <a:spcBef>
                <a:spcPts val="1200"/>
              </a:spcBef>
              <a:spcAft>
                <a:spcPts val="0"/>
              </a:spcAft>
              <a:buNone/>
            </a:pPr>
            <a:r>
              <a:t/>
            </a:r>
            <a:endParaRPr b="1" sz="1700">
              <a:solidFill>
                <a:schemeClr val="dk1"/>
              </a:solidFill>
            </a:endParaRPr>
          </a:p>
          <a:p>
            <a:pPr indent="0" lvl="0" marL="0" rtl="0" algn="l">
              <a:spcBef>
                <a:spcPts val="1200"/>
              </a:spcBef>
              <a:spcAft>
                <a:spcPts val="0"/>
              </a:spcAft>
              <a:buClr>
                <a:schemeClr val="dk1"/>
              </a:buClr>
              <a:buSzPts val="1800"/>
              <a:buFont typeface="Arial"/>
              <a:buNone/>
            </a:pPr>
            <a:r>
              <a:rPr b="1" lang="en-US" sz="1700">
                <a:solidFill>
                  <a:schemeClr val="dk1"/>
                </a:solidFill>
              </a:rPr>
              <a:t>Benefits</a:t>
            </a:r>
            <a:endParaRPr b="1" sz="1700">
              <a:solidFill>
                <a:schemeClr val="dk1"/>
              </a:solidFill>
            </a:endParaRPr>
          </a:p>
          <a:p>
            <a:pPr indent="-336550" lvl="0" marL="457200" rtl="0" algn="l">
              <a:spcBef>
                <a:spcPts val="1200"/>
              </a:spcBef>
              <a:spcAft>
                <a:spcPts val="0"/>
              </a:spcAft>
              <a:buClr>
                <a:schemeClr val="dk1"/>
              </a:buClr>
              <a:buSzPts val="1700"/>
              <a:buChar char="●"/>
            </a:pPr>
            <a:r>
              <a:rPr lang="en-US" sz="1700">
                <a:solidFill>
                  <a:schemeClr val="dk1"/>
                </a:solidFill>
              </a:rPr>
              <a:t>Improved prediction accuracy by addressing both spatial and temporal dimensions.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Scalability for large and dynamic traffic networks.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Better adaptability to real-time changes in traffic conditions.</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idx="1" type="body"/>
          </p:nvPr>
        </p:nvSpPr>
        <p:spPr>
          <a:xfrm>
            <a:off x="240975" y="74775"/>
            <a:ext cx="8549700" cy="48858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1"/>
              </a:buClr>
              <a:buSzPts val="935"/>
              <a:buFont typeface="Arial"/>
              <a:buNone/>
            </a:pPr>
            <a:r>
              <a:rPr b="1" lang="en-US" sz="1500">
                <a:solidFill>
                  <a:schemeClr val="dk1"/>
                </a:solidFill>
              </a:rPr>
              <a:t>Training and Evaluation:</a:t>
            </a:r>
            <a:endParaRPr b="1" sz="1500">
              <a:solidFill>
                <a:schemeClr val="dk1"/>
              </a:solidFill>
            </a:endParaRPr>
          </a:p>
          <a:p>
            <a:pPr indent="-311150" lvl="0" marL="457200" rtl="0" algn="l">
              <a:lnSpc>
                <a:spcPct val="100000"/>
              </a:lnSpc>
              <a:spcBef>
                <a:spcPts val="1300"/>
              </a:spcBef>
              <a:spcAft>
                <a:spcPts val="0"/>
              </a:spcAft>
              <a:buClr>
                <a:schemeClr val="dk1"/>
              </a:buClr>
              <a:buSzPts val="1300"/>
              <a:buAutoNum type="arabicPeriod"/>
            </a:pPr>
            <a:r>
              <a:rPr b="1" lang="en-US" sz="1300">
                <a:solidFill>
                  <a:schemeClr val="dk1"/>
                </a:solidFill>
              </a:rPr>
              <a:t>Data Splitting:</a:t>
            </a:r>
            <a:r>
              <a:rPr lang="en-US" sz="1300">
                <a:solidFill>
                  <a:schemeClr val="dk1"/>
                </a:solidFill>
              </a:rPr>
              <a:t> The data is split into 80% for training and 20% for testing to assess the model's ability to generalize.</a:t>
            </a:r>
            <a:endParaRPr sz="1300">
              <a:solidFill>
                <a:schemeClr val="dk1"/>
              </a:solidFill>
            </a:endParaRPr>
          </a:p>
          <a:p>
            <a:pPr indent="-311150" lvl="0" marL="457200" rtl="0" algn="l">
              <a:lnSpc>
                <a:spcPct val="100000"/>
              </a:lnSpc>
              <a:spcBef>
                <a:spcPts val="1000"/>
              </a:spcBef>
              <a:spcAft>
                <a:spcPts val="0"/>
              </a:spcAft>
              <a:buClr>
                <a:schemeClr val="dk1"/>
              </a:buClr>
              <a:buSzPts val="1300"/>
              <a:buAutoNum type="arabicPeriod"/>
            </a:pPr>
            <a:r>
              <a:rPr b="1" lang="en-US" sz="1300">
                <a:solidFill>
                  <a:schemeClr val="dk1"/>
                </a:solidFill>
              </a:rPr>
              <a:t>Model Training:</a:t>
            </a:r>
            <a:r>
              <a:rPr lang="en-US" sz="1300">
                <a:solidFill>
                  <a:schemeClr val="dk1"/>
                </a:solidFill>
              </a:rPr>
              <a:t> </a:t>
            </a:r>
            <a:endParaRPr sz="1300">
              <a:solidFill>
                <a:schemeClr val="dk1"/>
              </a:solidFill>
            </a:endParaRPr>
          </a:p>
          <a:p>
            <a:pPr indent="-311150" lvl="0" marL="914400" rtl="0" algn="l">
              <a:lnSpc>
                <a:spcPct val="100000"/>
              </a:lnSpc>
              <a:spcBef>
                <a:spcPts val="1000"/>
              </a:spcBef>
              <a:spcAft>
                <a:spcPts val="0"/>
              </a:spcAft>
              <a:buClr>
                <a:schemeClr val="dk1"/>
              </a:buClr>
              <a:buSzPts val="1300"/>
              <a:buChar char="●"/>
            </a:pPr>
            <a:r>
              <a:rPr lang="en-US" sz="1300">
                <a:solidFill>
                  <a:schemeClr val="dk1"/>
                </a:solidFill>
              </a:rPr>
              <a:t>Architecture: The LSTM model includes two bidirectional LSTM layers (32+16, 64+256, 128+32 units) with Xavier initialization, L2 regularization, and batch normalization, followed by dropout layers to prevent overfitting.</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US" sz="1300">
                <a:solidFill>
                  <a:schemeClr val="dk1"/>
                </a:solidFill>
              </a:rPr>
              <a:t>Training Configuration: The model was trained for up to 100 epochs with a batch size of 64, using the Adam optimizer and mean squared error (MSE) as the loss function. Early stopping with a patience of 5 was employed to terminate training when validation loss stopped improving.</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US" sz="1300">
                <a:solidFill>
                  <a:schemeClr val="dk1"/>
                </a:solidFill>
              </a:rPr>
              <a:t>Validation: Loss and mean absolute error (MAE) were monitored for both training and validation datasets.</a:t>
            </a:r>
            <a:endParaRPr sz="1300">
              <a:solidFill>
                <a:schemeClr val="dk1"/>
              </a:solidFill>
            </a:endParaRPr>
          </a:p>
          <a:p>
            <a:pPr indent="0" lvl="0" marL="914400" rtl="0" algn="l">
              <a:lnSpc>
                <a:spcPct val="100000"/>
              </a:lnSpc>
              <a:spcBef>
                <a:spcPts val="0"/>
              </a:spcBef>
              <a:spcAft>
                <a:spcPts val="0"/>
              </a:spcAft>
              <a:buNone/>
            </a:pPr>
            <a:r>
              <a:t/>
            </a:r>
            <a:endParaRPr sz="1300"/>
          </a:p>
          <a:p>
            <a:pPr indent="-311150" lvl="0" marL="457200" rtl="0" algn="l">
              <a:lnSpc>
                <a:spcPct val="100000"/>
              </a:lnSpc>
              <a:spcBef>
                <a:spcPts val="0"/>
              </a:spcBef>
              <a:spcAft>
                <a:spcPts val="0"/>
              </a:spcAft>
              <a:buClr>
                <a:schemeClr val="dk1"/>
              </a:buClr>
              <a:buSzPts val="1300"/>
              <a:buAutoNum type="arabicPeriod"/>
            </a:pPr>
            <a:r>
              <a:rPr b="1" lang="en-US" sz="1300">
                <a:solidFill>
                  <a:schemeClr val="dk1"/>
                </a:solidFill>
              </a:rPr>
              <a:t>Evaluation Metrics:</a:t>
            </a:r>
            <a:r>
              <a:rPr lang="en-US" sz="1300">
                <a:solidFill>
                  <a:schemeClr val="dk1"/>
                </a:solidFill>
              </a:rPr>
              <a:t> </a:t>
            </a:r>
            <a:endParaRPr sz="1300">
              <a:solidFill>
                <a:schemeClr val="dk1"/>
              </a:solidFill>
            </a:endParaRPr>
          </a:p>
          <a:p>
            <a:pPr indent="-311150" lvl="0" marL="914400" rtl="0" algn="l">
              <a:lnSpc>
                <a:spcPct val="100000"/>
              </a:lnSpc>
              <a:spcBef>
                <a:spcPts val="1300"/>
              </a:spcBef>
              <a:spcAft>
                <a:spcPts val="0"/>
              </a:spcAft>
              <a:buClr>
                <a:schemeClr val="dk1"/>
              </a:buClr>
              <a:buSzPts val="1300"/>
              <a:buChar char="●"/>
            </a:pPr>
            <a:r>
              <a:rPr lang="en-US" sz="1300">
                <a:solidFill>
                  <a:schemeClr val="dk1"/>
                </a:solidFill>
              </a:rPr>
              <a:t>RMSE (Root Mean Squared Error): Measures the average magnitude of error, providing insight into the model's prediction accuracy.</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US" sz="1300">
                <a:solidFill>
                  <a:schemeClr val="dk1"/>
                </a:solidFill>
              </a:rPr>
              <a:t>MAE (Mean Absolute Error): Indicates the average absolute difference between predicted and actual values.</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US" sz="1300">
                <a:solidFill>
                  <a:schemeClr val="dk1"/>
                </a:solidFill>
              </a:rPr>
              <a:t>MAPE (Mean Absolute Percentage Error): Evaluates prediction errors relative to actual values.</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US" sz="1300">
                <a:solidFill>
                  <a:schemeClr val="dk1"/>
                </a:solidFill>
              </a:rPr>
              <a:t>R2 Score : Indicates the proportion of variance in the target variable explained by the model, with values closer to 1 reflecting better performance.</a:t>
            </a:r>
            <a:endParaRPr sz="1300">
              <a:solidFill>
                <a:schemeClr val="dk1"/>
              </a:solidFill>
            </a:endParaRPr>
          </a:p>
          <a:p>
            <a:pPr indent="0" lvl="0" marL="0" rtl="0" algn="l">
              <a:lnSpc>
                <a:spcPct val="100000"/>
              </a:lnSpc>
              <a:spcBef>
                <a:spcPts val="0"/>
              </a:spcBef>
              <a:spcAft>
                <a:spcPts val="1200"/>
              </a:spcAft>
              <a:buSzPts val="935"/>
              <a:buNone/>
            </a:pPr>
            <a:r>
              <a:t/>
            </a:r>
            <a:endParaRPr sz="13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idx="1" type="body"/>
          </p:nvPr>
        </p:nvSpPr>
        <p:spPr>
          <a:xfrm>
            <a:off x="311700" y="66475"/>
            <a:ext cx="8520600" cy="4960800"/>
          </a:xfrm>
          <a:prstGeom prst="rect">
            <a:avLst/>
          </a:prstGeom>
        </p:spPr>
        <p:txBody>
          <a:bodyPr anchorCtr="0" anchor="t" bIns="91425" lIns="91425" spcFirstLastPara="1" rIns="91425" wrap="square" tIns="91425">
            <a:normAutofit/>
          </a:bodyPr>
          <a:lstStyle/>
          <a:p>
            <a:pPr indent="0" lvl="0" marL="0" rtl="0" algn="l">
              <a:lnSpc>
                <a:spcPct val="95000"/>
              </a:lnSpc>
              <a:spcBef>
                <a:spcPts val="1300"/>
              </a:spcBef>
              <a:spcAft>
                <a:spcPts val="0"/>
              </a:spcAft>
              <a:buClr>
                <a:schemeClr val="dk1"/>
              </a:buClr>
              <a:buSzPts val="935"/>
              <a:buFont typeface="Arial"/>
              <a:buNone/>
            </a:pPr>
            <a:r>
              <a:rPr b="1" lang="en-US" sz="1200">
                <a:solidFill>
                  <a:schemeClr val="dk1"/>
                </a:solidFill>
              </a:rPr>
              <a:t>Results and Visualization:</a:t>
            </a:r>
            <a:endParaRPr b="1" sz="1200">
              <a:solidFill>
                <a:schemeClr val="dk1"/>
              </a:solidFill>
            </a:endParaRPr>
          </a:p>
          <a:p>
            <a:pPr indent="-190500" lvl="0" marL="342900" rtl="0" algn="l">
              <a:lnSpc>
                <a:spcPct val="95000"/>
              </a:lnSpc>
              <a:spcBef>
                <a:spcPts val="1300"/>
              </a:spcBef>
              <a:spcAft>
                <a:spcPts val="0"/>
              </a:spcAft>
              <a:buClr>
                <a:schemeClr val="dk1"/>
              </a:buClr>
              <a:buSzPts val="1200"/>
              <a:buAutoNum type="arabicParenR"/>
            </a:pPr>
            <a:r>
              <a:rPr b="1" lang="en-US" sz="1200">
                <a:solidFill>
                  <a:schemeClr val="dk1"/>
                </a:solidFill>
              </a:rPr>
              <a:t>32+16 units </a:t>
            </a:r>
            <a:endParaRPr b="1" sz="1200">
              <a:solidFill>
                <a:schemeClr val="dk1"/>
              </a:solidFill>
            </a:endParaRPr>
          </a:p>
          <a:p>
            <a:pPr indent="0" lvl="0" marL="457200" rtl="0" algn="l">
              <a:lnSpc>
                <a:spcPct val="95000"/>
              </a:lnSpc>
              <a:spcBef>
                <a:spcPts val="1300"/>
              </a:spcBef>
              <a:spcAft>
                <a:spcPts val="0"/>
              </a:spcAft>
              <a:buNone/>
            </a:pPr>
            <a:r>
              <a:t/>
            </a:r>
            <a:endParaRPr b="1" sz="1200">
              <a:solidFill>
                <a:schemeClr val="dk1"/>
              </a:solidFill>
            </a:endParaRPr>
          </a:p>
          <a:p>
            <a:pPr indent="0" lvl="0" marL="0" rtl="0" algn="l">
              <a:lnSpc>
                <a:spcPct val="95000"/>
              </a:lnSpc>
              <a:spcBef>
                <a:spcPts val="1300"/>
              </a:spcBef>
              <a:spcAft>
                <a:spcPts val="0"/>
              </a:spcAft>
              <a:buClr>
                <a:schemeClr val="dk1"/>
              </a:buClr>
              <a:buSzPts val="1100"/>
              <a:buFont typeface="Arial"/>
              <a:buNone/>
            </a:pPr>
            <a:r>
              <a:t/>
            </a:r>
            <a:endParaRPr sz="1200">
              <a:solidFill>
                <a:schemeClr val="dk1"/>
              </a:solidFill>
              <a:highlight>
                <a:srgbClr val="FFFFFF"/>
              </a:highlight>
            </a:endParaRPr>
          </a:p>
          <a:p>
            <a:pPr indent="0" lvl="0" marL="0" rtl="0" algn="l">
              <a:lnSpc>
                <a:spcPct val="95000"/>
              </a:lnSpc>
              <a:spcBef>
                <a:spcPts val="1300"/>
              </a:spcBef>
              <a:spcAft>
                <a:spcPts val="0"/>
              </a:spcAft>
              <a:buClr>
                <a:schemeClr val="dk1"/>
              </a:buClr>
              <a:buSzPts val="935"/>
              <a:buFont typeface="Arial"/>
              <a:buNone/>
            </a:pPr>
            <a:r>
              <a:t/>
            </a:r>
            <a:endParaRPr sz="1200">
              <a:solidFill>
                <a:schemeClr val="dk1"/>
              </a:solidFill>
            </a:endParaRPr>
          </a:p>
          <a:p>
            <a:pPr indent="0" lvl="0" marL="0" rtl="0" algn="l">
              <a:spcBef>
                <a:spcPts val="1200"/>
              </a:spcBef>
              <a:spcAft>
                <a:spcPts val="1200"/>
              </a:spcAft>
              <a:buNone/>
            </a:pPr>
            <a:r>
              <a:t/>
            </a:r>
            <a:endParaRPr/>
          </a:p>
        </p:txBody>
      </p:sp>
      <p:pic>
        <p:nvPicPr>
          <p:cNvPr id="160" name="Google Shape;160;p30"/>
          <p:cNvPicPr preferRelativeResize="0"/>
          <p:nvPr/>
        </p:nvPicPr>
        <p:blipFill>
          <a:blip r:embed="rId3">
            <a:alphaModFix/>
          </a:blip>
          <a:stretch>
            <a:fillRect/>
          </a:stretch>
        </p:blipFill>
        <p:spPr>
          <a:xfrm>
            <a:off x="574600" y="2779350"/>
            <a:ext cx="5831599" cy="2160699"/>
          </a:xfrm>
          <a:prstGeom prst="rect">
            <a:avLst/>
          </a:prstGeom>
          <a:noFill/>
          <a:ln>
            <a:noFill/>
          </a:ln>
        </p:spPr>
      </p:pic>
      <p:pic>
        <p:nvPicPr>
          <p:cNvPr id="161" name="Google Shape;161;p30"/>
          <p:cNvPicPr preferRelativeResize="0"/>
          <p:nvPr/>
        </p:nvPicPr>
        <p:blipFill>
          <a:blip r:embed="rId4">
            <a:alphaModFix/>
          </a:blip>
          <a:stretch>
            <a:fillRect/>
          </a:stretch>
        </p:blipFill>
        <p:spPr>
          <a:xfrm>
            <a:off x="6068213" y="1269738"/>
            <a:ext cx="2581275" cy="676275"/>
          </a:xfrm>
          <a:prstGeom prst="rect">
            <a:avLst/>
          </a:prstGeom>
          <a:noFill/>
          <a:ln>
            <a:noFill/>
          </a:ln>
        </p:spPr>
      </p:pic>
      <p:pic>
        <p:nvPicPr>
          <p:cNvPr id="162" name="Google Shape;162;p30"/>
          <p:cNvPicPr preferRelativeResize="0"/>
          <p:nvPr/>
        </p:nvPicPr>
        <p:blipFill>
          <a:blip r:embed="rId5">
            <a:alphaModFix/>
          </a:blip>
          <a:stretch>
            <a:fillRect/>
          </a:stretch>
        </p:blipFill>
        <p:spPr>
          <a:xfrm>
            <a:off x="574600" y="760625"/>
            <a:ext cx="5350001" cy="1811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idx="1" type="body"/>
          </p:nvPr>
        </p:nvSpPr>
        <p:spPr>
          <a:xfrm>
            <a:off x="261850" y="211950"/>
            <a:ext cx="8520600" cy="47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US" sz="1200">
                <a:solidFill>
                  <a:schemeClr val="dk1"/>
                </a:solidFill>
              </a:rPr>
              <a:t>2)  </a:t>
            </a:r>
            <a:r>
              <a:rPr b="1" lang="en-US" sz="1200">
                <a:solidFill>
                  <a:schemeClr val="dk1"/>
                </a:solidFill>
              </a:rPr>
              <a:t>64 + 256 units</a:t>
            </a:r>
            <a:endParaRPr b="1" sz="1200">
              <a:solidFill>
                <a:schemeClr val="dk1"/>
              </a:solidFill>
            </a:endParaRPr>
          </a:p>
        </p:txBody>
      </p:sp>
      <p:pic>
        <p:nvPicPr>
          <p:cNvPr id="168" name="Google Shape;168;p31"/>
          <p:cNvPicPr preferRelativeResize="0"/>
          <p:nvPr/>
        </p:nvPicPr>
        <p:blipFill>
          <a:blip r:embed="rId3">
            <a:alphaModFix/>
          </a:blip>
          <a:stretch>
            <a:fillRect/>
          </a:stretch>
        </p:blipFill>
        <p:spPr>
          <a:xfrm>
            <a:off x="626100" y="2821775"/>
            <a:ext cx="5507250" cy="2020925"/>
          </a:xfrm>
          <a:prstGeom prst="rect">
            <a:avLst/>
          </a:prstGeom>
          <a:noFill/>
          <a:ln>
            <a:noFill/>
          </a:ln>
        </p:spPr>
      </p:pic>
      <p:pic>
        <p:nvPicPr>
          <p:cNvPr id="169" name="Google Shape;169;p31"/>
          <p:cNvPicPr preferRelativeResize="0"/>
          <p:nvPr/>
        </p:nvPicPr>
        <p:blipFill>
          <a:blip r:embed="rId4">
            <a:alphaModFix/>
          </a:blip>
          <a:stretch>
            <a:fillRect/>
          </a:stretch>
        </p:blipFill>
        <p:spPr>
          <a:xfrm>
            <a:off x="5348450" y="1115902"/>
            <a:ext cx="2590800" cy="762000"/>
          </a:xfrm>
          <a:prstGeom prst="rect">
            <a:avLst/>
          </a:prstGeom>
          <a:noFill/>
          <a:ln>
            <a:noFill/>
          </a:ln>
        </p:spPr>
      </p:pic>
      <p:pic>
        <p:nvPicPr>
          <p:cNvPr id="170" name="Google Shape;170;p31"/>
          <p:cNvPicPr preferRelativeResize="0"/>
          <p:nvPr/>
        </p:nvPicPr>
        <p:blipFill>
          <a:blip r:embed="rId5">
            <a:alphaModFix/>
          </a:blip>
          <a:stretch>
            <a:fillRect/>
          </a:stretch>
        </p:blipFill>
        <p:spPr>
          <a:xfrm>
            <a:off x="626100" y="550825"/>
            <a:ext cx="4135303" cy="2020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idx="1" type="body"/>
          </p:nvPr>
        </p:nvSpPr>
        <p:spPr>
          <a:xfrm>
            <a:off x="311700" y="199425"/>
            <a:ext cx="8520600" cy="479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US" sz="1200">
                <a:solidFill>
                  <a:schemeClr val="dk1"/>
                </a:solidFill>
              </a:rPr>
              <a:t>3)  128+32 units</a:t>
            </a:r>
            <a:endParaRPr b="1" sz="1200">
              <a:solidFill>
                <a:schemeClr val="dk1"/>
              </a:solidFill>
            </a:endParaRPr>
          </a:p>
          <a:p>
            <a:pPr indent="0" lvl="0" marL="0" rtl="0" algn="l">
              <a:spcBef>
                <a:spcPts val="1200"/>
              </a:spcBef>
              <a:spcAft>
                <a:spcPts val="1200"/>
              </a:spcAft>
              <a:buNone/>
            </a:pPr>
            <a:r>
              <a:t/>
            </a:r>
            <a:endParaRPr b="1" sz="1200">
              <a:solidFill>
                <a:schemeClr val="dk1"/>
              </a:solidFill>
            </a:endParaRPr>
          </a:p>
        </p:txBody>
      </p:sp>
      <p:pic>
        <p:nvPicPr>
          <p:cNvPr id="176" name="Google Shape;176;p32"/>
          <p:cNvPicPr preferRelativeResize="0"/>
          <p:nvPr/>
        </p:nvPicPr>
        <p:blipFill>
          <a:blip r:embed="rId3">
            <a:alphaModFix/>
          </a:blip>
          <a:stretch>
            <a:fillRect/>
          </a:stretch>
        </p:blipFill>
        <p:spPr>
          <a:xfrm>
            <a:off x="610850" y="3875300"/>
            <a:ext cx="2667000" cy="666750"/>
          </a:xfrm>
          <a:prstGeom prst="rect">
            <a:avLst/>
          </a:prstGeom>
          <a:noFill/>
          <a:ln>
            <a:noFill/>
          </a:ln>
        </p:spPr>
      </p:pic>
      <p:pic>
        <p:nvPicPr>
          <p:cNvPr id="177" name="Google Shape;177;p32"/>
          <p:cNvPicPr preferRelativeResize="0"/>
          <p:nvPr/>
        </p:nvPicPr>
        <p:blipFill>
          <a:blip r:embed="rId4">
            <a:alphaModFix/>
          </a:blip>
          <a:stretch>
            <a:fillRect/>
          </a:stretch>
        </p:blipFill>
        <p:spPr>
          <a:xfrm>
            <a:off x="610838" y="652871"/>
            <a:ext cx="5896826" cy="2896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idx="1" type="body"/>
          </p:nvPr>
        </p:nvSpPr>
        <p:spPr>
          <a:xfrm>
            <a:off x="311700" y="324075"/>
            <a:ext cx="8520600" cy="4229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US" sz="1700">
                <a:solidFill>
                  <a:schemeClr val="dk1"/>
                </a:solidFill>
              </a:rPr>
              <a:t>Observations:</a:t>
            </a:r>
            <a:endParaRPr b="1" sz="1700">
              <a:solidFill>
                <a:schemeClr val="dk1"/>
              </a:solidFill>
            </a:endParaRPr>
          </a:p>
          <a:p>
            <a:pPr indent="-323850" lvl="0" marL="457200" rtl="0" algn="l">
              <a:spcBef>
                <a:spcPts val="1200"/>
              </a:spcBef>
              <a:spcAft>
                <a:spcPts val="0"/>
              </a:spcAft>
              <a:buClr>
                <a:schemeClr val="dk1"/>
              </a:buClr>
              <a:buSzPts val="1500"/>
              <a:buChar char="●"/>
            </a:pPr>
            <a:r>
              <a:rPr lang="en-US" sz="1500">
                <a:solidFill>
                  <a:schemeClr val="dk1"/>
                </a:solidFill>
              </a:rPr>
              <a:t>RMSE (0.5</a:t>
            </a:r>
            <a:r>
              <a:rPr lang="en-US" sz="1500"/>
              <a:t>7778</a:t>
            </a:r>
            <a:r>
              <a:rPr lang="en-US" sz="1500">
                <a:solidFill>
                  <a:schemeClr val="dk1"/>
                </a:solidFill>
              </a:rPr>
              <a:t>): Indicates an average prediction error of approximately 0.5</a:t>
            </a:r>
            <a:r>
              <a:rPr lang="en-US" sz="1500"/>
              <a:t>778</a:t>
            </a:r>
            <a:r>
              <a:rPr lang="en-US" sz="1500">
                <a:solidFill>
                  <a:schemeClr val="dk1"/>
                </a:solidFill>
              </a:rPr>
              <a:t> units. A lower value suggests reasonable accuracy, depending on the scale of traffic speeds.</a:t>
            </a:r>
            <a:endParaRPr sz="1500">
              <a:solidFill>
                <a:schemeClr val="dk1"/>
              </a:solidFill>
            </a:endParaRPr>
          </a:p>
          <a:p>
            <a:pPr indent="-323850" lvl="0" marL="457200" rtl="0" algn="l">
              <a:spcBef>
                <a:spcPts val="1000"/>
              </a:spcBef>
              <a:spcAft>
                <a:spcPts val="0"/>
              </a:spcAft>
              <a:buClr>
                <a:schemeClr val="dk1"/>
              </a:buClr>
              <a:buSzPts val="1500"/>
              <a:buChar char="●"/>
            </a:pPr>
            <a:r>
              <a:rPr lang="en-US" sz="1500">
                <a:solidFill>
                  <a:schemeClr val="dk1"/>
                </a:solidFill>
              </a:rPr>
              <a:t>MAE (0.3</a:t>
            </a:r>
            <a:r>
              <a:rPr lang="en-US" sz="1500"/>
              <a:t>4834</a:t>
            </a:r>
            <a:r>
              <a:rPr lang="en-US" sz="1500">
                <a:solidFill>
                  <a:schemeClr val="dk1"/>
                </a:solidFill>
              </a:rPr>
              <a:t>): On average, the model's predictions deviate from actual values by 0.3</a:t>
            </a:r>
            <a:r>
              <a:rPr lang="en-US" sz="1500"/>
              <a:t>4834</a:t>
            </a:r>
            <a:r>
              <a:rPr lang="en-US" sz="1500">
                <a:solidFill>
                  <a:schemeClr val="dk1"/>
                </a:solidFill>
              </a:rPr>
              <a:t> units. It confirms good performance but indicates potential outliers since RMSE &gt; MAE.</a:t>
            </a:r>
            <a:endParaRPr sz="1500">
              <a:solidFill>
                <a:schemeClr val="dk1"/>
              </a:solidFill>
            </a:endParaRPr>
          </a:p>
          <a:p>
            <a:pPr indent="-323850" lvl="0" marL="457200" rtl="0" algn="l">
              <a:spcBef>
                <a:spcPts val="1000"/>
              </a:spcBef>
              <a:spcAft>
                <a:spcPts val="0"/>
              </a:spcAft>
              <a:buClr>
                <a:schemeClr val="dk1"/>
              </a:buClr>
              <a:buSzPts val="1500"/>
              <a:buChar char="●"/>
            </a:pPr>
            <a:r>
              <a:rPr lang="en-US" sz="1500">
                <a:solidFill>
                  <a:schemeClr val="dk1"/>
                </a:solidFill>
              </a:rPr>
              <a:t>MAPE (3.</a:t>
            </a:r>
            <a:r>
              <a:rPr lang="en-US" sz="1500"/>
              <a:t>6874</a:t>
            </a:r>
            <a:r>
              <a:rPr lang="en-US" sz="1500">
                <a:solidFill>
                  <a:schemeClr val="dk1"/>
                </a:solidFill>
              </a:rPr>
              <a:t>): Extremely high percentage error indicating poor predictive performance. Values above 100% suggest significant discrepancies between predictions and actual traffic speeds.</a:t>
            </a:r>
            <a:endParaRPr sz="1500">
              <a:solidFill>
                <a:schemeClr val="dk1"/>
              </a:solidFill>
            </a:endParaRPr>
          </a:p>
          <a:p>
            <a:pPr indent="-323850" lvl="0" marL="457200" rtl="0" algn="l">
              <a:spcBef>
                <a:spcPts val="1000"/>
              </a:spcBef>
              <a:spcAft>
                <a:spcPts val="0"/>
              </a:spcAft>
              <a:buClr>
                <a:schemeClr val="dk1"/>
              </a:buClr>
              <a:buSzPts val="1500"/>
              <a:buChar char="●"/>
            </a:pPr>
            <a:r>
              <a:rPr lang="en-US" sz="1500">
                <a:solidFill>
                  <a:schemeClr val="dk1"/>
                </a:solidFill>
              </a:rPr>
              <a:t>R-squared (0.6</a:t>
            </a:r>
            <a:r>
              <a:rPr lang="en-US" sz="1500"/>
              <a:t>7528</a:t>
            </a:r>
            <a:r>
              <a:rPr lang="en-US" sz="1500">
                <a:solidFill>
                  <a:schemeClr val="dk1"/>
                </a:solidFill>
              </a:rPr>
              <a:t>): The model explains 6</a:t>
            </a:r>
            <a:r>
              <a:rPr lang="en-US" sz="1500"/>
              <a:t>7.52</a:t>
            </a:r>
            <a:r>
              <a:rPr lang="en-US" sz="1500">
                <a:solidFill>
                  <a:schemeClr val="dk1"/>
                </a:solidFill>
              </a:rPr>
              <a:t>% of the variance in traffic speeds, suggesting a moderate fit. However, around 3</a:t>
            </a:r>
            <a:r>
              <a:rPr lang="en-US" sz="1500"/>
              <a:t>2</a:t>
            </a:r>
            <a:r>
              <a:rPr lang="en-US" sz="1500">
                <a:solidFill>
                  <a:schemeClr val="dk1"/>
                </a:solidFill>
              </a:rPr>
              <a:t>.4</a:t>
            </a:r>
            <a:r>
              <a:rPr lang="en-US" sz="1500"/>
              <a:t>8</a:t>
            </a:r>
            <a:r>
              <a:rPr lang="en-US" sz="1500">
                <a:solidFill>
                  <a:schemeClr val="dk1"/>
                </a:solidFill>
              </a:rPr>
              <a:t>% of the variance remains unexplained, indicating room for improvement.</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idx="1" type="body"/>
          </p:nvPr>
        </p:nvSpPr>
        <p:spPr>
          <a:xfrm>
            <a:off x="311700" y="157875"/>
            <a:ext cx="4989600" cy="28833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1400"/>
              </a:spcBef>
              <a:spcAft>
                <a:spcPts val="0"/>
              </a:spcAft>
              <a:buClr>
                <a:schemeClr val="dk1"/>
              </a:buClr>
              <a:buSzPct val="73333"/>
              <a:buFont typeface="Arial"/>
              <a:buNone/>
            </a:pPr>
            <a:r>
              <a:rPr b="1" lang="en-US" sz="1500">
                <a:solidFill>
                  <a:schemeClr val="dk1"/>
                </a:solidFill>
              </a:rPr>
              <a:t>Applications</a:t>
            </a:r>
            <a:endParaRPr b="1" sz="1500">
              <a:solidFill>
                <a:schemeClr val="dk1"/>
              </a:solidFill>
            </a:endParaRPr>
          </a:p>
          <a:p>
            <a:pPr indent="-309562" lvl="0" marL="457200" rtl="0" algn="l">
              <a:lnSpc>
                <a:spcPct val="115000"/>
              </a:lnSpc>
              <a:spcBef>
                <a:spcPts val="1200"/>
              </a:spcBef>
              <a:spcAft>
                <a:spcPts val="0"/>
              </a:spcAft>
              <a:buClr>
                <a:schemeClr val="dk1"/>
              </a:buClr>
              <a:buSzPct val="100000"/>
              <a:buChar char="●"/>
            </a:pPr>
            <a:r>
              <a:rPr b="1" lang="en-US" sz="1500">
                <a:solidFill>
                  <a:schemeClr val="dk1"/>
                </a:solidFill>
              </a:rPr>
              <a:t>Traffic Signal Optimization </a:t>
            </a:r>
            <a:r>
              <a:rPr lang="en-US" sz="1500">
                <a:solidFill>
                  <a:schemeClr val="dk1"/>
                </a:solidFill>
              </a:rPr>
              <a:t>- Adjusting traffic signal timings based on real-time traffic flow predictions to reduce congestion.</a:t>
            </a:r>
            <a:endParaRPr sz="1500">
              <a:solidFill>
                <a:schemeClr val="dk1"/>
              </a:solidFill>
            </a:endParaRPr>
          </a:p>
          <a:p>
            <a:pPr indent="-309562" lvl="0" marL="457200" rtl="0" algn="l">
              <a:lnSpc>
                <a:spcPct val="115000"/>
              </a:lnSpc>
              <a:spcBef>
                <a:spcPts val="1000"/>
              </a:spcBef>
              <a:spcAft>
                <a:spcPts val="0"/>
              </a:spcAft>
              <a:buClr>
                <a:schemeClr val="dk1"/>
              </a:buClr>
              <a:buSzPct val="100000"/>
              <a:buChar char="●"/>
            </a:pPr>
            <a:r>
              <a:rPr b="1" lang="en-US" sz="1500">
                <a:solidFill>
                  <a:schemeClr val="dk1"/>
                </a:solidFill>
              </a:rPr>
              <a:t>Navigation Assistance</a:t>
            </a:r>
            <a:r>
              <a:rPr lang="en-US" sz="1500">
                <a:solidFill>
                  <a:schemeClr val="dk1"/>
                </a:solidFill>
              </a:rPr>
              <a:t> - Providing real-time route suggestions by forecasting future congestion trends along various routes.</a:t>
            </a:r>
            <a:endParaRPr sz="1500">
              <a:solidFill>
                <a:schemeClr val="dk1"/>
              </a:solidFill>
            </a:endParaRPr>
          </a:p>
          <a:p>
            <a:pPr indent="-309562" lvl="0" marL="457200" rtl="0" algn="l">
              <a:lnSpc>
                <a:spcPct val="115000"/>
              </a:lnSpc>
              <a:spcBef>
                <a:spcPts val="1000"/>
              </a:spcBef>
              <a:spcAft>
                <a:spcPts val="0"/>
              </a:spcAft>
              <a:buClr>
                <a:schemeClr val="dk1"/>
              </a:buClr>
              <a:buSzPct val="100000"/>
              <a:buChar char="●"/>
            </a:pPr>
            <a:r>
              <a:rPr b="1" lang="en-US" sz="1500">
                <a:solidFill>
                  <a:schemeClr val="dk1"/>
                </a:solidFill>
              </a:rPr>
              <a:t>Emergency Response</a:t>
            </a:r>
            <a:r>
              <a:rPr lang="en-US" sz="1500">
                <a:solidFill>
                  <a:schemeClr val="dk1"/>
                </a:solidFill>
              </a:rPr>
              <a:t> - Identifying traffic hotspots and providing optimized routes for emergency vehicles to navigate through congestion.</a:t>
            </a:r>
            <a:endParaRPr sz="1500">
              <a:solidFill>
                <a:schemeClr val="dk1"/>
              </a:solidFill>
            </a:endParaRPr>
          </a:p>
          <a:p>
            <a:pPr indent="0" lvl="0" marL="457200" rtl="0" algn="l">
              <a:lnSpc>
                <a:spcPct val="115000"/>
              </a:lnSpc>
              <a:spcBef>
                <a:spcPts val="1200"/>
              </a:spcBef>
              <a:spcAft>
                <a:spcPts val="1200"/>
              </a:spcAft>
              <a:buSzPct val="120000"/>
              <a:buNone/>
            </a:pPr>
            <a:r>
              <a:t/>
            </a:r>
            <a:endParaRPr sz="1500"/>
          </a:p>
        </p:txBody>
      </p:sp>
      <p:pic>
        <p:nvPicPr>
          <p:cNvPr id="188" name="Google Shape;188;p34"/>
          <p:cNvPicPr preferRelativeResize="0"/>
          <p:nvPr/>
        </p:nvPicPr>
        <p:blipFill>
          <a:blip r:embed="rId3">
            <a:alphaModFix/>
          </a:blip>
          <a:stretch>
            <a:fillRect/>
          </a:stretch>
        </p:blipFill>
        <p:spPr>
          <a:xfrm>
            <a:off x="5176800" y="388825"/>
            <a:ext cx="3543300" cy="2305050"/>
          </a:xfrm>
          <a:prstGeom prst="rect">
            <a:avLst/>
          </a:prstGeom>
          <a:noFill/>
          <a:ln>
            <a:noFill/>
          </a:ln>
        </p:spPr>
      </p:pic>
      <p:sp>
        <p:nvSpPr>
          <p:cNvPr id="189" name="Google Shape;189;p34"/>
          <p:cNvSpPr txBox="1"/>
          <p:nvPr/>
        </p:nvSpPr>
        <p:spPr>
          <a:xfrm>
            <a:off x="332375" y="2767025"/>
            <a:ext cx="8425800" cy="205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latin typeface="Open Sans"/>
                <a:ea typeface="Open Sans"/>
                <a:cs typeface="Open Sans"/>
                <a:sym typeface="Open Sans"/>
              </a:rPr>
              <a:t>Conclusion</a:t>
            </a:r>
            <a:endParaRPr b="1" sz="15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800"/>
              <a:buFont typeface="Arial"/>
              <a:buNone/>
            </a:pPr>
            <a:r>
              <a:rPr lang="en-US" sz="1500">
                <a:solidFill>
                  <a:schemeClr val="dk1"/>
                </a:solidFill>
                <a:latin typeface="Open Sans"/>
                <a:ea typeface="Open Sans"/>
                <a:cs typeface="Open Sans"/>
                <a:sym typeface="Open Sans"/>
              </a:rPr>
              <a:t>The combination of LSTM and GAT forms a robust framework for traffic prediction.</a:t>
            </a:r>
            <a:endParaRPr sz="1500">
              <a:solidFill>
                <a:schemeClr val="dk1"/>
              </a:solidFill>
              <a:latin typeface="Open Sans"/>
              <a:ea typeface="Open Sans"/>
              <a:cs typeface="Open Sans"/>
              <a:sym typeface="Open Sans"/>
            </a:endParaRPr>
          </a:p>
          <a:p>
            <a:pPr indent="-323850" lvl="0" marL="457200" rtl="0" algn="l">
              <a:lnSpc>
                <a:spcPct val="115000"/>
              </a:lnSpc>
              <a:spcBef>
                <a:spcPts val="1200"/>
              </a:spcBef>
              <a:spcAft>
                <a:spcPts val="0"/>
              </a:spcAft>
              <a:buClr>
                <a:schemeClr val="dk1"/>
              </a:buClr>
              <a:buSzPts val="1500"/>
              <a:buFont typeface="Open Sans"/>
              <a:buChar char="●"/>
            </a:pPr>
            <a:r>
              <a:rPr b="1" lang="en-US" sz="1500">
                <a:solidFill>
                  <a:schemeClr val="dk1"/>
                </a:solidFill>
                <a:latin typeface="Open Sans"/>
                <a:ea typeface="Open Sans"/>
                <a:cs typeface="Open Sans"/>
                <a:sym typeface="Open Sans"/>
              </a:rPr>
              <a:t>LSTM</a:t>
            </a:r>
            <a:r>
              <a:rPr lang="en-US" sz="1500">
                <a:solidFill>
                  <a:schemeClr val="dk1"/>
                </a:solidFill>
                <a:latin typeface="Open Sans"/>
                <a:ea typeface="Open Sans"/>
                <a:cs typeface="Open Sans"/>
                <a:sym typeface="Open Sans"/>
              </a:rPr>
              <a:t> addresses temporal dependencies, while </a:t>
            </a:r>
            <a:r>
              <a:rPr b="1" lang="en-US" sz="1500">
                <a:solidFill>
                  <a:schemeClr val="dk1"/>
                </a:solidFill>
                <a:latin typeface="Open Sans"/>
                <a:ea typeface="Open Sans"/>
                <a:cs typeface="Open Sans"/>
                <a:sym typeface="Open Sans"/>
              </a:rPr>
              <a:t>GAT</a:t>
            </a:r>
            <a:r>
              <a:rPr lang="en-US" sz="1500">
                <a:solidFill>
                  <a:schemeClr val="dk1"/>
                </a:solidFill>
                <a:latin typeface="Open Sans"/>
                <a:ea typeface="Open Sans"/>
                <a:cs typeface="Open Sans"/>
                <a:sym typeface="Open Sans"/>
              </a:rPr>
              <a:t> captures spatial relationships within a road network.</a:t>
            </a:r>
            <a:endParaRPr sz="1500">
              <a:solidFill>
                <a:schemeClr val="dk1"/>
              </a:solidFill>
              <a:latin typeface="Open Sans"/>
              <a:ea typeface="Open Sans"/>
              <a:cs typeface="Open Sans"/>
              <a:sym typeface="Open Sans"/>
            </a:endParaRPr>
          </a:p>
          <a:p>
            <a:pPr indent="-323850" lvl="0" marL="457200" rtl="0" algn="l">
              <a:lnSpc>
                <a:spcPct val="115000"/>
              </a:lnSpc>
              <a:spcBef>
                <a:spcPts val="0"/>
              </a:spcBef>
              <a:spcAft>
                <a:spcPts val="0"/>
              </a:spcAft>
              <a:buClr>
                <a:schemeClr val="dk1"/>
              </a:buClr>
              <a:buSzPts val="1500"/>
              <a:buFont typeface="Open Sans"/>
              <a:buChar char="●"/>
            </a:pPr>
            <a:r>
              <a:rPr lang="en-US" sz="1500">
                <a:solidFill>
                  <a:schemeClr val="dk1"/>
                </a:solidFill>
                <a:latin typeface="Open Sans"/>
                <a:ea typeface="Open Sans"/>
                <a:cs typeface="Open Sans"/>
                <a:sym typeface="Open Sans"/>
              </a:rPr>
              <a:t>This integrated approach enhances the accuracy and adaptability of traffic forecasting, contributing to more efficient and intelligent transport systems.</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35"/>
          <p:cNvSpPr txBox="1"/>
          <p:nvPr/>
        </p:nvSpPr>
        <p:spPr>
          <a:xfrm>
            <a:off x="407150" y="274200"/>
            <a:ext cx="8342700" cy="606600"/>
          </a:xfrm>
          <a:prstGeom prst="rect">
            <a:avLst/>
          </a:prstGeom>
          <a:noFill/>
          <a:ln>
            <a:noFill/>
          </a:ln>
        </p:spPr>
        <p:txBody>
          <a:bodyPr anchorCtr="0" anchor="t" bIns="91425" lIns="91425" spcFirstLastPara="1" rIns="91425" wrap="square" tIns="91425">
            <a:noAutofit/>
          </a:bodyPr>
          <a:lstStyle/>
          <a:p>
            <a:pPr indent="0" lvl="0" marL="0" marR="5080" rtl="0" algn="l">
              <a:lnSpc>
                <a:spcPct val="110714"/>
              </a:lnSpc>
              <a:spcBef>
                <a:spcPts val="0"/>
              </a:spcBef>
              <a:spcAft>
                <a:spcPts val="0"/>
              </a:spcAft>
              <a:buClr>
                <a:schemeClr val="dk1"/>
              </a:buClr>
              <a:buSzPts val="1100"/>
              <a:buFont typeface="Arial"/>
              <a:buNone/>
            </a:pPr>
            <a:r>
              <a:rPr b="1" lang="en-US" sz="1750" u="sng">
                <a:highlight>
                  <a:srgbClr val="FFFFFF"/>
                </a:highlight>
              </a:rPr>
              <a:t>Diffusion Convolutional Recurrent Neural Network</a:t>
            </a:r>
            <a:r>
              <a:rPr b="1" lang="en-US" sz="1750" u="sng">
                <a:solidFill>
                  <a:schemeClr val="dk1"/>
                </a:solidFill>
              </a:rPr>
              <a:t> for traffic forecasting</a:t>
            </a:r>
            <a:endParaRPr b="1" sz="1750" u="sng">
              <a:solidFill>
                <a:schemeClr val="dk1"/>
              </a:solidFill>
            </a:endParaRPr>
          </a:p>
          <a:p>
            <a:pPr indent="0" lvl="0" marL="0" rtl="0" algn="l">
              <a:spcBef>
                <a:spcPts val="0"/>
              </a:spcBef>
              <a:spcAft>
                <a:spcPts val="0"/>
              </a:spcAft>
              <a:buClr>
                <a:schemeClr val="dk1"/>
              </a:buClr>
              <a:buSzPts val="1100"/>
              <a:buFont typeface="Arial"/>
              <a:buNone/>
            </a:pPr>
            <a:r>
              <a:t/>
            </a:r>
            <a:endParaRPr sz="1750">
              <a:solidFill>
                <a:schemeClr val="dk1"/>
              </a:solidFill>
            </a:endParaRPr>
          </a:p>
          <a:p>
            <a:pPr indent="0" lvl="0" marL="0" rtl="0" algn="l">
              <a:spcBef>
                <a:spcPts val="0"/>
              </a:spcBef>
              <a:spcAft>
                <a:spcPts val="0"/>
              </a:spcAft>
              <a:buNone/>
            </a:pPr>
            <a:r>
              <a:t/>
            </a:r>
            <a:endParaRPr sz="1550">
              <a:solidFill>
                <a:srgbClr val="3F3F3F"/>
              </a:solidFill>
              <a:latin typeface="Trebuchet MS"/>
              <a:ea typeface="Trebuchet MS"/>
              <a:cs typeface="Trebuchet MS"/>
              <a:sym typeface="Trebuchet MS"/>
            </a:endParaRPr>
          </a:p>
        </p:txBody>
      </p:sp>
      <p:sp>
        <p:nvSpPr>
          <p:cNvPr id="195" name="Google Shape;195;p35"/>
          <p:cNvSpPr txBox="1"/>
          <p:nvPr/>
        </p:nvSpPr>
        <p:spPr>
          <a:xfrm>
            <a:off x="515175" y="980500"/>
            <a:ext cx="7644600" cy="3897000"/>
          </a:xfrm>
          <a:prstGeom prst="rect">
            <a:avLst/>
          </a:prstGeom>
          <a:noFill/>
          <a:ln>
            <a:noFill/>
          </a:ln>
        </p:spPr>
        <p:txBody>
          <a:bodyPr anchorCtr="0" anchor="t" bIns="91425" lIns="91425" spcFirstLastPara="1" rIns="91425" wrap="square" tIns="91425">
            <a:noAutofit/>
          </a:bodyPr>
          <a:lstStyle/>
          <a:p>
            <a:pPr indent="0" lvl="0" marL="12700" rtl="0" algn="l">
              <a:spcBef>
                <a:spcPts val="0"/>
              </a:spcBef>
              <a:spcAft>
                <a:spcPts val="0"/>
              </a:spcAft>
              <a:buClr>
                <a:schemeClr val="dk1"/>
              </a:buClr>
              <a:buSzPts val="1100"/>
              <a:buFont typeface="Arial"/>
              <a:buNone/>
            </a:pPr>
            <a:r>
              <a:rPr b="1" lang="en-US" sz="1500">
                <a:solidFill>
                  <a:schemeClr val="dk1"/>
                </a:solidFill>
              </a:rPr>
              <a:t>Traffic forecasting</a:t>
            </a:r>
            <a:endParaRPr b="1" sz="15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209550" lvl="0" marL="342900" rtl="0" algn="l">
              <a:spcBef>
                <a:spcPts val="0"/>
              </a:spcBef>
              <a:spcAft>
                <a:spcPts val="0"/>
              </a:spcAft>
              <a:buClr>
                <a:schemeClr val="dk1"/>
              </a:buClr>
              <a:buSzPts val="1500"/>
              <a:buChar char="●"/>
            </a:pPr>
            <a:r>
              <a:rPr lang="en-US" sz="1500">
                <a:solidFill>
                  <a:schemeClr val="dk1"/>
                </a:solidFill>
              </a:rPr>
              <a:t>Given :</a:t>
            </a:r>
            <a:endParaRPr sz="1500">
              <a:solidFill>
                <a:schemeClr val="dk1"/>
              </a:solidFill>
            </a:endParaRPr>
          </a:p>
          <a:p>
            <a:pPr indent="-209550" lvl="1" marL="685800" rtl="0" algn="l">
              <a:spcBef>
                <a:spcPts val="0"/>
              </a:spcBef>
              <a:spcAft>
                <a:spcPts val="0"/>
              </a:spcAft>
              <a:buClr>
                <a:schemeClr val="dk1"/>
              </a:buClr>
              <a:buSzPts val="1500"/>
              <a:buChar char="○"/>
            </a:pPr>
            <a:r>
              <a:rPr lang="en-US" sz="1500">
                <a:solidFill>
                  <a:schemeClr val="dk1"/>
                </a:solidFill>
              </a:rPr>
              <a:t>Historic traffic metrics {speed, flow, etc}</a:t>
            </a:r>
            <a:endParaRPr sz="1500">
              <a:solidFill>
                <a:schemeClr val="dk1"/>
              </a:solidFill>
            </a:endParaRPr>
          </a:p>
          <a:p>
            <a:pPr indent="-209550" lvl="1" marL="685800" rtl="0" algn="l">
              <a:spcBef>
                <a:spcPts val="0"/>
              </a:spcBef>
              <a:spcAft>
                <a:spcPts val="0"/>
              </a:spcAft>
              <a:buClr>
                <a:schemeClr val="dk1"/>
              </a:buClr>
              <a:buSzPts val="1500"/>
              <a:buChar char="○"/>
            </a:pPr>
            <a:r>
              <a:rPr lang="en-US" sz="1500">
                <a:solidFill>
                  <a:schemeClr val="dk1"/>
                </a:solidFill>
              </a:rPr>
              <a:t>Road network distance and connectivity</a:t>
            </a:r>
            <a:endParaRPr sz="1500">
              <a:solidFill>
                <a:schemeClr val="dk1"/>
              </a:solidFill>
            </a:endParaRPr>
          </a:p>
          <a:p>
            <a:pPr indent="0" lvl="0" marL="1371600" rtl="0" algn="l">
              <a:spcBef>
                <a:spcPts val="0"/>
              </a:spcBef>
              <a:spcAft>
                <a:spcPts val="0"/>
              </a:spcAft>
              <a:buNone/>
            </a:pPr>
            <a:r>
              <a:t/>
            </a:r>
            <a:endParaRPr sz="1500">
              <a:solidFill>
                <a:schemeClr val="dk1"/>
              </a:solidFill>
            </a:endParaRPr>
          </a:p>
          <a:p>
            <a:pPr indent="-209550" lvl="0" marL="342900" rtl="0" algn="l">
              <a:spcBef>
                <a:spcPts val="0"/>
              </a:spcBef>
              <a:spcAft>
                <a:spcPts val="0"/>
              </a:spcAft>
              <a:buClr>
                <a:schemeClr val="dk1"/>
              </a:buClr>
              <a:buSzPts val="1500"/>
              <a:buChar char="●"/>
            </a:pPr>
            <a:r>
              <a:rPr lang="en-US" sz="1500">
                <a:solidFill>
                  <a:schemeClr val="dk1"/>
                </a:solidFill>
              </a:rPr>
              <a:t>Predict :</a:t>
            </a:r>
            <a:endParaRPr sz="1500">
              <a:solidFill>
                <a:schemeClr val="dk1"/>
              </a:solidFill>
            </a:endParaRPr>
          </a:p>
          <a:p>
            <a:pPr indent="-209550" lvl="1" marL="685800" rtl="0" algn="l">
              <a:spcBef>
                <a:spcPts val="0"/>
              </a:spcBef>
              <a:spcAft>
                <a:spcPts val="0"/>
              </a:spcAft>
              <a:buClr>
                <a:schemeClr val="dk1"/>
              </a:buClr>
              <a:buSzPts val="1500"/>
              <a:buChar char="○"/>
            </a:pPr>
            <a:r>
              <a:rPr lang="en-US" sz="1500">
                <a:solidFill>
                  <a:schemeClr val="dk1"/>
                </a:solidFill>
              </a:rPr>
              <a:t>Develop a system capable of forecasting traffic conditions (e.g., speed, flow) across a network of sensors by capturing complex spatial and temporal dependencies inherent in the transportation network. </a:t>
            </a:r>
            <a:endParaRPr sz="1500">
              <a:solidFill>
                <a:schemeClr val="dk1"/>
              </a:solidFill>
            </a:endParaRPr>
          </a:p>
          <a:p>
            <a:pPr indent="0" lvl="0" marL="1371600" rtl="0" algn="l">
              <a:spcBef>
                <a:spcPts val="0"/>
              </a:spcBef>
              <a:spcAft>
                <a:spcPts val="0"/>
              </a:spcAft>
              <a:buNone/>
            </a:pPr>
            <a:r>
              <a:t/>
            </a:r>
            <a:endParaRPr sz="1500">
              <a:solidFill>
                <a:schemeClr val="dk1"/>
              </a:solidFill>
            </a:endParaRPr>
          </a:p>
          <a:p>
            <a:pPr indent="-209550" lvl="1" marL="685800" rtl="0" algn="l">
              <a:spcBef>
                <a:spcPts val="0"/>
              </a:spcBef>
              <a:spcAft>
                <a:spcPts val="0"/>
              </a:spcAft>
              <a:buClr>
                <a:schemeClr val="dk1"/>
              </a:buClr>
              <a:buSzPts val="1500"/>
              <a:buChar char="○"/>
            </a:pPr>
            <a:r>
              <a:rPr lang="en-US" sz="1500">
                <a:solidFill>
                  <a:schemeClr val="dk1"/>
                </a:solidFill>
              </a:rPr>
              <a:t>The goal is to optimize traffic flow, reduce congestion, and enable better transportation planning.</a:t>
            </a:r>
            <a:endParaRPr sz="15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315925"/>
            <a:ext cx="8520600" cy="442800"/>
          </a:xfrm>
          <a:prstGeom prst="rect">
            <a:avLst/>
          </a:prstGeom>
          <a:noFill/>
          <a:ln>
            <a:noFill/>
          </a:ln>
        </p:spPr>
        <p:txBody>
          <a:bodyPr anchorCtr="0" anchor="t" bIns="0" lIns="0" spcFirstLastPara="1" rIns="0" wrap="square" tIns="164075">
            <a:spAutoFit/>
          </a:bodyPr>
          <a:lstStyle/>
          <a:p>
            <a:pPr indent="-936625" lvl="0" marL="1046480" marR="5080" rtl="0" algn="l">
              <a:lnSpc>
                <a:spcPct val="100000"/>
              </a:lnSpc>
              <a:spcBef>
                <a:spcPts val="0"/>
              </a:spcBef>
              <a:spcAft>
                <a:spcPts val="0"/>
              </a:spcAft>
              <a:buClr>
                <a:schemeClr val="accent1"/>
              </a:buClr>
              <a:buSzPts val="3200"/>
              <a:buFont typeface="Trebuchet MS"/>
              <a:buNone/>
            </a:pPr>
            <a:r>
              <a:rPr b="1" lang="en-US" sz="1800">
                <a:solidFill>
                  <a:schemeClr val="dk1"/>
                </a:solidFill>
              </a:rPr>
              <a:t>Traffic data from Caltrans Performance Measurement System (PeMS)</a:t>
            </a:r>
            <a:endParaRPr b="1" sz="1800">
              <a:solidFill>
                <a:schemeClr val="dk1"/>
              </a:solidFill>
            </a:endParaRPr>
          </a:p>
        </p:txBody>
      </p:sp>
      <p:pic>
        <p:nvPicPr>
          <p:cNvPr id="201" name="Google Shape;201;p36"/>
          <p:cNvPicPr preferRelativeResize="0"/>
          <p:nvPr/>
        </p:nvPicPr>
        <p:blipFill rotWithShape="1">
          <a:blip r:embed="rId3">
            <a:alphaModFix/>
          </a:blip>
          <a:srcRect b="0" l="0" r="0" t="0"/>
          <a:stretch/>
        </p:blipFill>
        <p:spPr>
          <a:xfrm>
            <a:off x="632399" y="972174"/>
            <a:ext cx="6129451" cy="3674725"/>
          </a:xfrm>
          <a:prstGeom prst="rect">
            <a:avLst/>
          </a:prstGeom>
          <a:noFill/>
          <a:ln>
            <a:noFill/>
          </a:ln>
        </p:spPr>
      </p:pic>
      <p:sp>
        <p:nvSpPr>
          <p:cNvPr id="202" name="Google Shape;202;p36"/>
          <p:cNvSpPr txBox="1"/>
          <p:nvPr/>
        </p:nvSpPr>
        <p:spPr>
          <a:xfrm>
            <a:off x="6871202" y="1946794"/>
            <a:ext cx="2272800" cy="1985400"/>
          </a:xfrm>
          <a:prstGeom prst="rect">
            <a:avLst/>
          </a:prstGeom>
          <a:noFill/>
          <a:ln>
            <a:noFill/>
          </a:ln>
        </p:spPr>
        <p:txBody>
          <a:bodyPr anchorCtr="0" anchor="t" bIns="0" lIns="0" spcFirstLastPara="1" rIns="0" wrap="square" tIns="33000">
            <a:spAutoFit/>
          </a:bodyPr>
          <a:lstStyle/>
          <a:p>
            <a:pPr indent="0" lvl="0" marL="12700" marR="0" rtl="0" algn="l">
              <a:lnSpc>
                <a:spcPct val="100000"/>
              </a:lnSpc>
              <a:spcBef>
                <a:spcPts val="0"/>
              </a:spcBef>
              <a:spcAft>
                <a:spcPts val="0"/>
              </a:spcAft>
              <a:buNone/>
            </a:pPr>
            <a:r>
              <a:rPr i="0" lang="en-US" u="none" cap="none" strike="noStrike">
                <a:solidFill>
                  <a:srgbClr val="000000"/>
                </a:solidFill>
              </a:rPr>
              <a:t>The data includes:</a:t>
            </a:r>
            <a:endParaRPr i="0" u="none" cap="none" strike="noStrike">
              <a:solidFill>
                <a:srgbClr val="000000"/>
              </a:solidFill>
            </a:endParaRPr>
          </a:p>
          <a:p>
            <a:pPr indent="-259715" lvl="0" marL="297815" marR="0" rtl="0" algn="l">
              <a:lnSpc>
                <a:spcPct val="118611"/>
              </a:lnSpc>
              <a:spcBef>
                <a:spcPts val="120"/>
              </a:spcBef>
              <a:spcAft>
                <a:spcPts val="0"/>
              </a:spcAft>
              <a:buClr>
                <a:srgbClr val="000000"/>
              </a:buClr>
              <a:buSzPts val="1400"/>
              <a:buChar char="•"/>
            </a:pPr>
            <a:r>
              <a:rPr i="0" lang="en-US" u="none" cap="none" strike="noStrike">
                <a:solidFill>
                  <a:srgbClr val="000000"/>
                </a:solidFill>
              </a:rPr>
              <a:t>Timestamp</a:t>
            </a:r>
            <a:endParaRPr i="0" u="none" cap="none" strike="noStrike">
              <a:solidFill>
                <a:srgbClr val="000000"/>
              </a:solidFill>
            </a:endParaRPr>
          </a:p>
          <a:p>
            <a:pPr indent="-259715" lvl="0" marL="297815" marR="0" rtl="0" algn="l">
              <a:lnSpc>
                <a:spcPct val="118611"/>
              </a:lnSpc>
              <a:spcBef>
                <a:spcPts val="0"/>
              </a:spcBef>
              <a:spcAft>
                <a:spcPts val="0"/>
              </a:spcAft>
              <a:buClr>
                <a:srgbClr val="000000"/>
              </a:buClr>
              <a:buSzPts val="1400"/>
              <a:buChar char="•"/>
            </a:pPr>
            <a:r>
              <a:rPr i="0" lang="en-US" u="none" cap="none" strike="noStrike">
                <a:solidFill>
                  <a:srgbClr val="000000"/>
                </a:solidFill>
              </a:rPr>
              <a:t>Loop IDs</a:t>
            </a:r>
            <a:endParaRPr i="0" u="none" cap="none" strike="noStrike">
              <a:solidFill>
                <a:srgbClr val="000000"/>
              </a:solidFill>
            </a:endParaRPr>
          </a:p>
          <a:p>
            <a:pPr indent="-259715" lvl="0" marL="297815" marR="0" rtl="0" algn="l">
              <a:lnSpc>
                <a:spcPct val="118611"/>
              </a:lnSpc>
              <a:spcBef>
                <a:spcPts val="20"/>
              </a:spcBef>
              <a:spcAft>
                <a:spcPts val="0"/>
              </a:spcAft>
              <a:buClr>
                <a:srgbClr val="000000"/>
              </a:buClr>
              <a:buSzPts val="1400"/>
              <a:buChar char="•"/>
            </a:pPr>
            <a:r>
              <a:rPr i="0" lang="en-US" u="none" cap="none" strike="noStrike">
                <a:solidFill>
                  <a:srgbClr val="000000"/>
                </a:solidFill>
              </a:rPr>
              <a:t>District</a:t>
            </a:r>
            <a:endParaRPr i="0" u="none" cap="none" strike="noStrike">
              <a:solidFill>
                <a:srgbClr val="000000"/>
              </a:solidFill>
            </a:endParaRPr>
          </a:p>
          <a:p>
            <a:pPr indent="-259715" lvl="0" marL="297815" marR="0" rtl="0" algn="l">
              <a:lnSpc>
                <a:spcPct val="118611"/>
              </a:lnSpc>
              <a:spcBef>
                <a:spcPts val="0"/>
              </a:spcBef>
              <a:spcAft>
                <a:spcPts val="0"/>
              </a:spcAft>
              <a:buClr>
                <a:srgbClr val="000000"/>
              </a:buClr>
              <a:buSzPts val="1400"/>
              <a:buChar char="•"/>
            </a:pPr>
            <a:r>
              <a:rPr i="0" lang="en-US" u="none" cap="none" strike="noStrike">
                <a:solidFill>
                  <a:srgbClr val="000000"/>
                </a:solidFill>
              </a:rPr>
              <a:t>Freeway name</a:t>
            </a:r>
            <a:endParaRPr i="0" u="none" cap="none" strike="noStrike">
              <a:solidFill>
                <a:srgbClr val="000000"/>
              </a:solidFill>
            </a:endParaRPr>
          </a:p>
          <a:p>
            <a:pPr indent="-259715" lvl="0" marL="297815" marR="0" rtl="0" algn="l">
              <a:lnSpc>
                <a:spcPct val="100000"/>
              </a:lnSpc>
              <a:spcBef>
                <a:spcPts val="50"/>
              </a:spcBef>
              <a:spcAft>
                <a:spcPts val="0"/>
              </a:spcAft>
              <a:buClr>
                <a:srgbClr val="000000"/>
              </a:buClr>
              <a:buSzPts val="1400"/>
              <a:buChar char="•"/>
            </a:pPr>
            <a:r>
              <a:rPr i="0" lang="en-US" u="none" cap="none" strike="noStrike">
                <a:solidFill>
                  <a:srgbClr val="000000"/>
                </a:solidFill>
              </a:rPr>
              <a:t>Freeway direction</a:t>
            </a:r>
            <a:endParaRPr i="0" u="none" cap="none" strike="noStrike">
              <a:solidFill>
                <a:srgbClr val="000000"/>
              </a:solidFill>
            </a:endParaRPr>
          </a:p>
          <a:p>
            <a:pPr indent="-259715" lvl="0" marL="297815" marR="0" rtl="0" algn="l">
              <a:lnSpc>
                <a:spcPct val="118611"/>
              </a:lnSpc>
              <a:spcBef>
                <a:spcPts val="25"/>
              </a:spcBef>
              <a:spcAft>
                <a:spcPts val="0"/>
              </a:spcAft>
              <a:buClr>
                <a:srgbClr val="000000"/>
              </a:buClr>
              <a:buSzPts val="1400"/>
              <a:buChar char="•"/>
            </a:pPr>
            <a:r>
              <a:rPr i="0" lang="en-US" u="none" cap="none" strike="noStrike">
                <a:solidFill>
                  <a:srgbClr val="000000"/>
                </a:solidFill>
              </a:rPr>
              <a:t>Total flow</a:t>
            </a:r>
            <a:endParaRPr i="0" u="none" cap="none" strike="noStrike">
              <a:solidFill>
                <a:srgbClr val="000000"/>
              </a:solidFill>
            </a:endParaRPr>
          </a:p>
          <a:p>
            <a:pPr indent="-259715" lvl="0" marL="297815" marR="0" rtl="0" algn="l">
              <a:lnSpc>
                <a:spcPct val="118611"/>
              </a:lnSpc>
              <a:spcBef>
                <a:spcPts val="0"/>
              </a:spcBef>
              <a:spcAft>
                <a:spcPts val="0"/>
              </a:spcAft>
              <a:buClr>
                <a:srgbClr val="000000"/>
              </a:buClr>
              <a:buSzPts val="1400"/>
              <a:buChar char="•"/>
            </a:pPr>
            <a:r>
              <a:rPr i="0" lang="en-US" u="none" cap="none" strike="noStrike">
                <a:solidFill>
                  <a:srgbClr val="000000"/>
                </a:solidFill>
              </a:rPr>
              <a:t>Average speed</a:t>
            </a:r>
            <a:endParaRPr i="0" u="none" cap="none" strike="noStrike">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pic>
        <p:nvPicPr>
          <p:cNvPr id="207" name="Google Shape;207;p37"/>
          <p:cNvPicPr preferRelativeResize="0"/>
          <p:nvPr/>
        </p:nvPicPr>
        <p:blipFill rotWithShape="1">
          <a:blip r:embed="rId3">
            <a:alphaModFix/>
          </a:blip>
          <a:srcRect b="0" l="0" r="0" t="0"/>
          <a:stretch/>
        </p:blipFill>
        <p:spPr>
          <a:xfrm>
            <a:off x="818925" y="515175"/>
            <a:ext cx="7905927" cy="4491426"/>
          </a:xfrm>
          <a:prstGeom prst="rect">
            <a:avLst/>
          </a:prstGeom>
          <a:noFill/>
          <a:ln>
            <a:noFill/>
          </a:ln>
        </p:spPr>
      </p:pic>
      <p:sp>
        <p:nvSpPr>
          <p:cNvPr id="208" name="Google Shape;208;p37"/>
          <p:cNvSpPr txBox="1"/>
          <p:nvPr/>
        </p:nvSpPr>
        <p:spPr>
          <a:xfrm>
            <a:off x="348975" y="114500"/>
            <a:ext cx="3722700" cy="500400"/>
          </a:xfrm>
          <a:prstGeom prst="rect">
            <a:avLst/>
          </a:prstGeom>
          <a:noFill/>
          <a:ln>
            <a:noFill/>
          </a:ln>
        </p:spPr>
        <p:txBody>
          <a:bodyPr anchorCtr="0" anchor="ctr" bIns="91425" lIns="91425" spcFirstLastPara="1" rIns="91425" wrap="square" tIns="91425">
            <a:noAutofit/>
          </a:bodyPr>
          <a:lstStyle/>
          <a:p>
            <a:pPr indent="0" lvl="0" marL="400050" rtl="0" algn="l">
              <a:spcBef>
                <a:spcPts val="0"/>
              </a:spcBef>
              <a:spcAft>
                <a:spcPts val="0"/>
              </a:spcAft>
              <a:buClr>
                <a:schemeClr val="accent1"/>
              </a:buClr>
              <a:buSzPts val="2700"/>
              <a:buFont typeface="Trebuchet MS"/>
              <a:buNone/>
            </a:pPr>
            <a:r>
              <a:rPr b="1" lang="en-US" sz="1500">
                <a:solidFill>
                  <a:schemeClr val="dk1"/>
                </a:solidFill>
              </a:rPr>
              <a:t>Location data of Loop IDs</a:t>
            </a:r>
            <a:endParaRPr b="1" sz="1500">
              <a:solidFill>
                <a:schemeClr val="dk1"/>
              </a:solidFill>
            </a:endParaRPr>
          </a:p>
          <a:p>
            <a:pPr indent="0" lvl="0" marL="0" rtl="0" algn="l">
              <a:spcBef>
                <a:spcPts val="0"/>
              </a:spcBef>
              <a:spcAft>
                <a:spcPts val="0"/>
              </a:spcAft>
              <a:buNone/>
            </a:pPr>
            <a:r>
              <a:t/>
            </a:r>
            <a:endParaRPr b="1" sz="15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157700"/>
            <a:ext cx="8520600" cy="1245900"/>
          </a:xfrm>
          <a:prstGeom prst="rect">
            <a:avLst/>
          </a:prstGeom>
          <a:noFill/>
          <a:ln>
            <a:noFill/>
          </a:ln>
        </p:spPr>
        <p:txBody>
          <a:bodyPr anchorCtr="0" anchor="t" bIns="0" lIns="0" spcFirstLastPara="1" rIns="0" wrap="square" tIns="311400">
            <a:spAutoFit/>
          </a:bodyPr>
          <a:lstStyle/>
          <a:p>
            <a:pPr indent="114300" lvl="0" marL="0" rtl="0" algn="l">
              <a:lnSpc>
                <a:spcPct val="100000"/>
              </a:lnSpc>
              <a:spcBef>
                <a:spcPts val="0"/>
              </a:spcBef>
              <a:spcAft>
                <a:spcPts val="0"/>
              </a:spcAft>
              <a:buClr>
                <a:schemeClr val="accent1"/>
              </a:buClr>
              <a:buSzPts val="2700"/>
              <a:buFont typeface="Trebuchet MS"/>
              <a:buNone/>
            </a:pPr>
            <a:r>
              <a:rPr b="1" lang="en-US" sz="1850">
                <a:solidFill>
                  <a:schemeClr val="dk1"/>
                </a:solidFill>
              </a:rPr>
              <a:t>DataSet</a:t>
            </a:r>
            <a:r>
              <a:rPr b="1" lang="en-US" sz="1850"/>
              <a:t> </a:t>
            </a:r>
            <a:r>
              <a:rPr b="1" lang="en-US" sz="1850">
                <a:solidFill>
                  <a:schemeClr val="dk1"/>
                </a:solidFill>
              </a:rPr>
              <a:t>Details</a:t>
            </a:r>
            <a:br>
              <a:rPr lang="en-US">
                <a:solidFill>
                  <a:schemeClr val="dk1"/>
                </a:solidFill>
                <a:latin typeface="Arial"/>
                <a:ea typeface="Arial"/>
                <a:cs typeface="Arial"/>
                <a:sym typeface="Arial"/>
              </a:rPr>
            </a:br>
            <a:endParaRPr>
              <a:solidFill>
                <a:schemeClr val="dk1"/>
              </a:solidFill>
              <a:latin typeface="Arial"/>
              <a:ea typeface="Arial"/>
              <a:cs typeface="Arial"/>
              <a:sym typeface="Arial"/>
            </a:endParaRPr>
          </a:p>
        </p:txBody>
      </p:sp>
      <p:sp>
        <p:nvSpPr>
          <p:cNvPr id="214" name="Google Shape;214;p38"/>
          <p:cNvSpPr txBox="1"/>
          <p:nvPr/>
        </p:nvSpPr>
        <p:spPr>
          <a:xfrm>
            <a:off x="483075" y="481926"/>
            <a:ext cx="8483700" cy="4561200"/>
          </a:xfrm>
          <a:prstGeom prst="rect">
            <a:avLst/>
          </a:prstGeom>
          <a:noFill/>
          <a:ln>
            <a:noFill/>
          </a:ln>
        </p:spPr>
        <p:txBody>
          <a:bodyPr anchorCtr="0" anchor="t" bIns="45700" lIns="91425" spcFirstLastPara="1" rIns="91425" wrap="square" tIns="45700">
            <a:spAutoFit/>
          </a:bodyPr>
          <a:lstStyle/>
          <a:p>
            <a:pPr indent="-190500" lvl="0" marL="342900" marR="0" rtl="0" algn="l">
              <a:lnSpc>
                <a:spcPct val="100000"/>
              </a:lnSpc>
              <a:spcBef>
                <a:spcPts val="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Freeway (Fwy):</a:t>
            </a:r>
            <a:r>
              <a:rPr b="0" i="0" lang="en-US" sz="1200" u="none" cap="none" strike="noStrike">
                <a:solidFill>
                  <a:srgbClr val="000000"/>
                </a:solidFill>
                <a:latin typeface="Arial"/>
                <a:ea typeface="Arial"/>
                <a:cs typeface="Arial"/>
                <a:sym typeface="Arial"/>
              </a:rPr>
              <a:t> The name of the highway (e.g., SR2) and its traffic direction (e.g., E for Eastbound, W for Westbound).</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District:</a:t>
            </a:r>
            <a:r>
              <a:rPr b="0" i="0" lang="en-US" sz="1200" u="none" cap="none" strike="noStrike">
                <a:solidFill>
                  <a:srgbClr val="000000"/>
                </a:solidFill>
                <a:latin typeface="Arial"/>
                <a:ea typeface="Arial"/>
                <a:cs typeface="Arial"/>
                <a:sym typeface="Arial"/>
              </a:rPr>
              <a:t> The California Department of Transportation (Caltrans) district number where the freeway segment is located</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County:</a:t>
            </a:r>
            <a:r>
              <a:rPr b="0" i="0" lang="en-US" sz="1200" u="none" cap="none" strike="noStrike">
                <a:solidFill>
                  <a:srgbClr val="000000"/>
                </a:solidFill>
                <a:latin typeface="Arial"/>
                <a:ea typeface="Arial"/>
                <a:cs typeface="Arial"/>
                <a:sym typeface="Arial"/>
              </a:rPr>
              <a:t> The county name where the freeway segment exists.</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City:</a:t>
            </a:r>
            <a:r>
              <a:rPr b="0" i="0" lang="en-US" sz="1200" u="none" cap="none" strike="noStrike">
                <a:solidFill>
                  <a:srgbClr val="000000"/>
                </a:solidFill>
                <a:latin typeface="Arial"/>
                <a:ea typeface="Arial"/>
                <a:cs typeface="Arial"/>
                <a:sym typeface="Arial"/>
              </a:rPr>
              <a:t> The city name associated with the freeway segment.</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CA PM:</a:t>
            </a:r>
            <a:r>
              <a:rPr b="0" i="0" lang="en-US" sz="1200" u="none" cap="none" strike="noStrike">
                <a:solidFill>
                  <a:srgbClr val="000000"/>
                </a:solidFill>
                <a:latin typeface="Arial"/>
                <a:ea typeface="Arial"/>
                <a:cs typeface="Arial"/>
                <a:sym typeface="Arial"/>
              </a:rPr>
              <a:t> The official California post-mile marker for the freeway segment.</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Abs PM:</a:t>
            </a:r>
            <a:r>
              <a:rPr b="0" i="0" lang="en-US" sz="1200" u="none" cap="none" strike="noStrike">
                <a:solidFill>
                  <a:srgbClr val="000000"/>
                </a:solidFill>
                <a:latin typeface="Arial"/>
                <a:ea typeface="Arial"/>
                <a:cs typeface="Arial"/>
                <a:sym typeface="Arial"/>
              </a:rPr>
              <a:t> The absolute cumulative mileage from the starting point of the freeway.</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Length:</a:t>
            </a:r>
            <a:r>
              <a:rPr b="0" i="0" lang="en-US" sz="1200" u="none" cap="none" strike="noStrike">
                <a:solidFill>
                  <a:srgbClr val="000000"/>
                </a:solidFill>
                <a:latin typeface="Arial"/>
                <a:ea typeface="Arial"/>
                <a:cs typeface="Arial"/>
                <a:sym typeface="Arial"/>
              </a:rPr>
              <a:t> The length of the freeway segment in miles.</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ID:</a:t>
            </a:r>
            <a:r>
              <a:rPr b="0" i="0" lang="en-US" sz="1200" u="none" cap="none" strike="noStrike">
                <a:solidFill>
                  <a:srgbClr val="000000"/>
                </a:solidFill>
                <a:latin typeface="Arial"/>
                <a:ea typeface="Arial"/>
                <a:cs typeface="Arial"/>
                <a:sym typeface="Arial"/>
              </a:rPr>
              <a:t> A unique identifier for the sensor or loop detector in the freeway segment.</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Name:</a:t>
            </a:r>
            <a:r>
              <a:rPr b="0" i="0" lang="en-US" sz="1200" u="none" cap="none" strike="noStrike">
                <a:solidFill>
                  <a:srgbClr val="000000"/>
                </a:solidFill>
                <a:latin typeface="Arial"/>
                <a:ea typeface="Arial"/>
                <a:cs typeface="Arial"/>
                <a:sym typeface="Arial"/>
              </a:rPr>
              <a:t> A nearby road or landmark for identifying the location of the segment.</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Lanes:</a:t>
            </a:r>
            <a:r>
              <a:rPr b="0" i="0" lang="en-US" sz="1200" u="none" cap="none" strike="noStrike">
                <a:solidFill>
                  <a:srgbClr val="000000"/>
                </a:solidFill>
                <a:latin typeface="Arial"/>
                <a:ea typeface="Arial"/>
                <a:cs typeface="Arial"/>
                <a:sym typeface="Arial"/>
              </a:rPr>
              <a:t> The number of lanes in the freeway segment</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Type:</a:t>
            </a:r>
            <a:r>
              <a:rPr b="0" i="0" lang="en-US" sz="1200" u="none" cap="none" strike="noStrike">
                <a:solidFill>
                  <a:srgbClr val="000000"/>
                </a:solidFill>
                <a:latin typeface="Arial"/>
                <a:ea typeface="Arial"/>
                <a:cs typeface="Arial"/>
                <a:sym typeface="Arial"/>
              </a:rPr>
              <a:t> Specifies the type of road (e.g., Mainline for primary roads).</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Sensor Type:</a:t>
            </a:r>
            <a:r>
              <a:rPr b="0" i="0" lang="en-US" sz="1200" u="none" cap="none" strike="noStrike">
                <a:solidFill>
                  <a:srgbClr val="000000"/>
                </a:solidFill>
                <a:latin typeface="Arial"/>
                <a:ea typeface="Arial"/>
                <a:cs typeface="Arial"/>
                <a:sym typeface="Arial"/>
              </a:rPr>
              <a:t> Indicates the kind of sensor used, such as "loops" for inductive loop detectors.</a:t>
            </a:r>
            <a:endParaRPr b="0" i="0" sz="1200" u="none" cap="none" strike="noStrike">
              <a:solidFill>
                <a:srgbClr val="000000"/>
              </a:solidFill>
              <a:latin typeface="Arial"/>
              <a:ea typeface="Arial"/>
              <a:cs typeface="Arial"/>
              <a:sym typeface="Arial"/>
            </a:endParaRPr>
          </a:p>
          <a:p>
            <a:pPr indent="-190500" lvl="0" marL="342900" marR="0" rtl="0" algn="l">
              <a:lnSpc>
                <a:spcPct val="100000"/>
              </a:lnSpc>
              <a:spcBef>
                <a:spcPts val="1000"/>
              </a:spcBef>
              <a:spcAft>
                <a:spcPts val="0"/>
              </a:spcAft>
              <a:buClr>
                <a:srgbClr val="000000"/>
              </a:buClr>
              <a:buSzPts val="1200"/>
              <a:buFont typeface="Arial"/>
              <a:buAutoNum type="arabicPeriod"/>
            </a:pPr>
            <a:r>
              <a:rPr b="1" i="0" lang="en-US" sz="1200" u="none" cap="none" strike="noStrike">
                <a:solidFill>
                  <a:srgbClr val="000000"/>
                </a:solidFill>
                <a:latin typeface="Arial"/>
                <a:ea typeface="Arial"/>
                <a:cs typeface="Arial"/>
                <a:sym typeface="Arial"/>
              </a:rPr>
              <a:t>Latitude:</a:t>
            </a:r>
            <a:r>
              <a:rPr b="0" i="0" lang="en-US" sz="1200" u="none" cap="none" strike="noStrike">
                <a:solidFill>
                  <a:srgbClr val="000000"/>
                </a:solidFill>
                <a:latin typeface="Arial"/>
                <a:ea typeface="Arial"/>
                <a:cs typeface="Arial"/>
                <a:sym typeface="Arial"/>
              </a:rPr>
              <a:t> The geographical latitude of the sensor or segment location.</a:t>
            </a:r>
            <a:endParaRPr b="0" i="0" sz="1200" u="none" cap="none" strike="noStrike">
              <a:solidFill>
                <a:srgbClr val="000000"/>
              </a:solidFill>
              <a:latin typeface="Arial"/>
              <a:ea typeface="Arial"/>
              <a:cs typeface="Arial"/>
              <a:sym typeface="Arial"/>
            </a:endParaRPr>
          </a:p>
          <a:p>
            <a:pPr indent="-203200" lvl="0" marL="342900" marR="0" rtl="0" algn="l">
              <a:lnSpc>
                <a:spcPct val="100000"/>
              </a:lnSpc>
              <a:spcBef>
                <a:spcPts val="1000"/>
              </a:spcBef>
              <a:spcAft>
                <a:spcPts val="1000"/>
              </a:spcAft>
              <a:buClr>
                <a:srgbClr val="000000"/>
              </a:buClr>
              <a:buSzPts val="1400"/>
              <a:buFont typeface="Arial"/>
              <a:buAutoNum type="arabicPeriod"/>
            </a:pPr>
            <a:r>
              <a:rPr b="1" i="0" lang="en-US" sz="1200" u="none" cap="none" strike="noStrike">
                <a:solidFill>
                  <a:srgbClr val="000000"/>
                </a:solidFill>
                <a:latin typeface="Arial"/>
                <a:ea typeface="Arial"/>
                <a:cs typeface="Arial"/>
                <a:sym typeface="Arial"/>
              </a:rPr>
              <a:t>Longitude:</a:t>
            </a:r>
            <a:r>
              <a:rPr b="0" i="0" lang="en-US" sz="1200" u="none" cap="none" strike="noStrike">
                <a:solidFill>
                  <a:srgbClr val="000000"/>
                </a:solidFill>
                <a:latin typeface="Arial"/>
                <a:ea typeface="Arial"/>
                <a:cs typeface="Arial"/>
                <a:sym typeface="Arial"/>
              </a:rPr>
              <a:t> The geographical longitude of the sensor or segment location</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315925"/>
            <a:ext cx="8520600" cy="359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rPr b="1" lang="en-US" sz="2250">
                <a:solidFill>
                  <a:schemeClr val="dk1"/>
                </a:solidFill>
              </a:rPr>
              <a:t>Available data set for Caltrans</a:t>
            </a:r>
            <a:endParaRPr b="1" sz="2250">
              <a:solidFill>
                <a:schemeClr val="dk1"/>
              </a:solidFill>
            </a:endParaRPr>
          </a:p>
        </p:txBody>
      </p:sp>
      <p:sp>
        <p:nvSpPr>
          <p:cNvPr id="220" name="Google Shape;220;p39"/>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21" name="Google Shape;221;p39"/>
          <p:cNvGraphicFramePr/>
          <p:nvPr/>
        </p:nvGraphicFramePr>
        <p:xfrm>
          <a:off x="1460459" y="1182472"/>
          <a:ext cx="3000000" cy="3000000"/>
        </p:xfrm>
        <a:graphic>
          <a:graphicData uri="http://schemas.openxmlformats.org/drawingml/2006/table">
            <a:tbl>
              <a:tblPr bandRow="1" firstRow="1">
                <a:noFill/>
                <a:tableStyleId>{C82C37F3-269D-42A0-BB0A-0287565DEFEB}</a:tableStyleId>
              </a:tblPr>
              <a:tblGrid>
                <a:gridCol w="960125"/>
                <a:gridCol w="1591950"/>
              </a:tblGrid>
              <a:tr h="304050">
                <a:tc>
                  <a:txBody>
                    <a:bodyPr/>
                    <a:lstStyle/>
                    <a:p>
                      <a:pPr indent="0" lvl="0" marL="91440" marR="0" rtl="0" algn="l">
                        <a:lnSpc>
                          <a:spcPct val="100000"/>
                        </a:lnSpc>
                        <a:spcBef>
                          <a:spcPts val="0"/>
                        </a:spcBef>
                        <a:spcAft>
                          <a:spcPts val="0"/>
                        </a:spcAft>
                        <a:buNone/>
                      </a:pPr>
                      <a:r>
                        <a:rPr b="1" lang="en-US" sz="1400" u="none" cap="none" strike="noStrike">
                          <a:solidFill>
                            <a:srgbClr val="FFFFFF"/>
                          </a:solidFill>
                          <a:latin typeface="Calibri"/>
                          <a:ea typeface="Calibri"/>
                          <a:cs typeface="Calibri"/>
                          <a:sym typeface="Calibri"/>
                        </a:rPr>
                        <a:t>District</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90805" marR="0" rtl="0" algn="l">
                        <a:lnSpc>
                          <a:spcPct val="100000"/>
                        </a:lnSpc>
                        <a:spcBef>
                          <a:spcPts val="0"/>
                        </a:spcBef>
                        <a:spcAft>
                          <a:spcPts val="0"/>
                        </a:spcAft>
                        <a:buNone/>
                      </a:pPr>
                      <a:r>
                        <a:rPr b="1" lang="en-US" sz="1400" u="none" cap="none" strike="noStrike">
                          <a:solidFill>
                            <a:srgbClr val="FFFFFF"/>
                          </a:solidFill>
                          <a:latin typeface="Calibri"/>
                          <a:ea typeface="Calibri"/>
                          <a:cs typeface="Calibri"/>
                          <a:sym typeface="Calibri"/>
                        </a:rPr>
                        <a:t>Total Stations</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3</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1247</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4</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3880</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5</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382</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6</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624</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7</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4856</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8</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2115</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10</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1189</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11</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1502</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District 12</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2539</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4050">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Total</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0" marR="84455" rtl="0" algn="r">
                        <a:lnSpc>
                          <a:spcPct val="100000"/>
                        </a:lnSpc>
                        <a:spcBef>
                          <a:spcPts val="0"/>
                        </a:spcBef>
                        <a:spcAft>
                          <a:spcPts val="0"/>
                        </a:spcAft>
                        <a:buNone/>
                      </a:pPr>
                      <a:r>
                        <a:rPr lang="en-US" sz="1400" u="none" cap="none" strike="noStrike">
                          <a:latin typeface="Calibri"/>
                          <a:ea typeface="Calibri"/>
                          <a:cs typeface="Calibri"/>
                          <a:sym typeface="Calibri"/>
                        </a:rPr>
                        <a:t>18334</a:t>
                      </a:r>
                      <a:endParaRPr sz="14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bl>
          </a:graphicData>
        </a:graphic>
      </p:graphicFrame>
      <p:pic>
        <p:nvPicPr>
          <p:cNvPr id="222" name="Google Shape;222;p39"/>
          <p:cNvPicPr preferRelativeResize="0"/>
          <p:nvPr/>
        </p:nvPicPr>
        <p:blipFill rotWithShape="1">
          <a:blip r:embed="rId3">
            <a:alphaModFix/>
          </a:blip>
          <a:srcRect b="0" l="0" r="0" t="0"/>
          <a:stretch/>
        </p:blipFill>
        <p:spPr>
          <a:xfrm>
            <a:off x="4626263" y="2170330"/>
            <a:ext cx="3410313" cy="1352366"/>
          </a:xfrm>
          <a:prstGeom prst="rect">
            <a:avLst/>
          </a:prstGeom>
          <a:noFill/>
          <a:ln>
            <a:noFill/>
          </a:ln>
        </p:spPr>
      </p:pic>
      <p:sp>
        <p:nvSpPr>
          <p:cNvPr id="223" name="Google Shape;223;p39"/>
          <p:cNvSpPr txBox="1"/>
          <p:nvPr/>
        </p:nvSpPr>
        <p:spPr>
          <a:xfrm>
            <a:off x="4650740" y="3825747"/>
            <a:ext cx="2019300"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600" u="sng" cap="none" strike="noStrike">
                <a:solidFill>
                  <a:schemeClr val="hlink"/>
                </a:solidFill>
                <a:latin typeface="Calibri"/>
                <a:ea typeface="Calibri"/>
                <a:cs typeface="Calibri"/>
                <a:sym typeface="Calibri"/>
                <a:hlinkClick r:id="rId4"/>
              </a:rPr>
              <a:t>http://pems.dot.ca.gov/</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315925"/>
            <a:ext cx="8520600" cy="443700"/>
          </a:xfrm>
          <a:prstGeom prst="rect">
            <a:avLst/>
          </a:prstGeom>
          <a:noFill/>
          <a:ln>
            <a:noFill/>
          </a:ln>
        </p:spPr>
        <p:txBody>
          <a:bodyPr anchorCtr="0" anchor="t" bIns="0" lIns="0" spcFirstLastPara="1" rIns="0" wrap="square" tIns="104125">
            <a:spAutoFit/>
          </a:bodyPr>
          <a:lstStyle/>
          <a:p>
            <a:pPr indent="0" lvl="0" marL="719455" rtl="0" algn="l">
              <a:lnSpc>
                <a:spcPct val="100000"/>
              </a:lnSpc>
              <a:spcBef>
                <a:spcPts val="0"/>
              </a:spcBef>
              <a:spcAft>
                <a:spcPts val="0"/>
              </a:spcAft>
              <a:buClr>
                <a:schemeClr val="accent1"/>
              </a:buClr>
              <a:buSzPts val="2700"/>
              <a:buFont typeface="Trebuchet MS"/>
              <a:buNone/>
            </a:pPr>
            <a:r>
              <a:rPr b="1" lang="en-US" sz="2200">
                <a:solidFill>
                  <a:schemeClr val="dk1"/>
                </a:solidFill>
              </a:rPr>
              <a:t>Available data set for Caltrans</a:t>
            </a:r>
            <a:endParaRPr b="1" sz="2200">
              <a:solidFill>
                <a:schemeClr val="dk1"/>
              </a:solidFill>
            </a:endParaRPr>
          </a:p>
        </p:txBody>
      </p:sp>
      <p:sp>
        <p:nvSpPr>
          <p:cNvPr id="229" name="Google Shape;229;p40"/>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230" name="Google Shape;230;p40"/>
          <p:cNvSpPr txBox="1"/>
          <p:nvPr/>
        </p:nvSpPr>
        <p:spPr>
          <a:xfrm>
            <a:off x="1699457" y="4138939"/>
            <a:ext cx="3663300" cy="628800"/>
          </a:xfrm>
          <a:prstGeom prst="rect">
            <a:avLst/>
          </a:prstGeom>
          <a:noFill/>
          <a:ln>
            <a:noFill/>
          </a:ln>
        </p:spPr>
        <p:txBody>
          <a:bodyPr anchorCtr="0" anchor="t" bIns="0" lIns="0" spcFirstLastPara="1" rIns="0" wrap="square" tIns="26650">
            <a:spAutoFit/>
          </a:bodyPr>
          <a:lstStyle/>
          <a:p>
            <a:pPr indent="0" lvl="0" marL="38100" marR="30480" rtl="0" algn="l">
              <a:lnSpc>
                <a:spcPct val="117222"/>
              </a:lnSpc>
              <a:spcBef>
                <a:spcPts val="0"/>
              </a:spcBef>
              <a:spcAft>
                <a:spcPts val="0"/>
              </a:spcAft>
              <a:buNone/>
            </a:pPr>
            <a:r>
              <a:rPr b="0" i="0" lang="en-US" sz="1800" u="none" cap="none" strike="noStrike">
                <a:solidFill>
                  <a:srgbClr val="000000"/>
                </a:solidFill>
                <a:latin typeface="Calibri"/>
                <a:ea typeface="Calibri"/>
                <a:cs typeface="Calibri"/>
                <a:sym typeface="Calibri"/>
              </a:rPr>
              <a:t>Total : 11, 160 detector stations Duration: 1</a:t>
            </a:r>
            <a:r>
              <a:rPr b="0" baseline="30000" i="0" lang="en-US" sz="1800" u="none" cap="none" strike="noStrike">
                <a:solidFill>
                  <a:srgbClr val="000000"/>
                </a:solidFill>
                <a:latin typeface="Calibri"/>
                <a:ea typeface="Calibri"/>
                <a:cs typeface="Calibri"/>
                <a:sym typeface="Calibri"/>
              </a:rPr>
              <a:t>st </a:t>
            </a:r>
            <a:r>
              <a:rPr b="0" i="0" lang="en-US" sz="1800" u="none" cap="none" strike="noStrike">
                <a:solidFill>
                  <a:srgbClr val="000000"/>
                </a:solidFill>
                <a:latin typeface="Calibri"/>
                <a:ea typeface="Calibri"/>
                <a:cs typeface="Calibri"/>
                <a:sym typeface="Calibri"/>
              </a:rPr>
              <a:t>Jan 2018 to 31</a:t>
            </a:r>
            <a:r>
              <a:rPr b="0" baseline="30000" i="0" lang="en-US" sz="1800" u="none" cap="none" strike="noStrike">
                <a:solidFill>
                  <a:srgbClr val="000000"/>
                </a:solidFill>
                <a:latin typeface="Calibri"/>
                <a:ea typeface="Calibri"/>
                <a:cs typeface="Calibri"/>
                <a:sym typeface="Calibri"/>
              </a:rPr>
              <a:t>st </a:t>
            </a:r>
            <a:r>
              <a:rPr b="0" i="0" lang="en-US" sz="1800" u="none" cap="none" strike="noStrike">
                <a:solidFill>
                  <a:srgbClr val="000000"/>
                </a:solidFill>
                <a:latin typeface="Calibri"/>
                <a:ea typeface="Calibri"/>
                <a:cs typeface="Calibri"/>
                <a:sym typeface="Calibri"/>
              </a:rPr>
              <a:t>Dec 2018</a:t>
            </a:r>
            <a:endParaRPr b="0" i="0" sz="1800" u="none" cap="none" strike="noStrike">
              <a:solidFill>
                <a:srgbClr val="000000"/>
              </a:solidFill>
              <a:latin typeface="Calibri"/>
              <a:ea typeface="Calibri"/>
              <a:cs typeface="Calibri"/>
              <a:sym typeface="Calibri"/>
            </a:endParaRPr>
          </a:p>
        </p:txBody>
      </p:sp>
      <p:pic>
        <p:nvPicPr>
          <p:cNvPr id="231" name="Google Shape;231;p40"/>
          <p:cNvPicPr preferRelativeResize="0"/>
          <p:nvPr/>
        </p:nvPicPr>
        <p:blipFill rotWithShape="1">
          <a:blip r:embed="rId3">
            <a:alphaModFix/>
          </a:blip>
          <a:srcRect b="0" l="0" r="0" t="0"/>
          <a:stretch/>
        </p:blipFill>
        <p:spPr>
          <a:xfrm>
            <a:off x="1699458" y="1129564"/>
            <a:ext cx="2788597" cy="288437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311700" y="149725"/>
            <a:ext cx="85206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rPr lang="en-US">
                <a:solidFill>
                  <a:schemeClr val="dk1"/>
                </a:solidFill>
              </a:rPr>
              <a:t>Challenges</a:t>
            </a:r>
            <a:endParaRPr>
              <a:solidFill>
                <a:schemeClr val="dk1"/>
              </a:solidFill>
            </a:endParaRPr>
          </a:p>
        </p:txBody>
      </p:sp>
      <p:sp>
        <p:nvSpPr>
          <p:cNvPr id="237" name="Google Shape;237;p41"/>
          <p:cNvSpPr txBox="1"/>
          <p:nvPr/>
        </p:nvSpPr>
        <p:spPr>
          <a:xfrm>
            <a:off x="6090072" y="903732"/>
            <a:ext cx="2858100" cy="3553200"/>
          </a:xfrm>
          <a:prstGeom prst="rect">
            <a:avLst/>
          </a:prstGeom>
          <a:noFill/>
          <a:ln>
            <a:noFill/>
          </a:ln>
        </p:spPr>
        <p:txBody>
          <a:bodyPr anchorCtr="0" anchor="t" bIns="0" lIns="0" spcFirstLastPara="1" rIns="0" wrap="square" tIns="12700">
            <a:spAutoFit/>
          </a:bodyPr>
          <a:lstStyle/>
          <a:p>
            <a:pPr indent="-266700" lvl="0" marL="298450" marR="920114" rtl="0" algn="l">
              <a:lnSpc>
                <a:spcPct val="100000"/>
              </a:lnSpc>
              <a:spcBef>
                <a:spcPts val="0"/>
              </a:spcBef>
              <a:spcAft>
                <a:spcPts val="0"/>
              </a:spcAft>
              <a:buClr>
                <a:srgbClr val="000000"/>
              </a:buClr>
              <a:buSzPts val="1700"/>
              <a:buChar char="•"/>
            </a:pPr>
            <a:r>
              <a:rPr i="0" lang="en-US" sz="1700" u="none" cap="none" strike="noStrike">
                <a:solidFill>
                  <a:srgbClr val="000000"/>
                </a:solidFill>
              </a:rPr>
              <a:t>Complex spatial dependency</a:t>
            </a:r>
            <a:endParaRPr i="0" sz="1700" u="none" cap="none" strike="noStrike">
              <a:solidFill>
                <a:srgbClr val="000000"/>
              </a:solidFill>
            </a:endParaRPr>
          </a:p>
          <a:p>
            <a:pPr indent="-266700" lvl="0" marL="298450" marR="5080" rtl="0" algn="l">
              <a:lnSpc>
                <a:spcPct val="100000"/>
              </a:lnSpc>
              <a:spcBef>
                <a:spcPts val="2400"/>
              </a:spcBef>
              <a:spcAft>
                <a:spcPts val="0"/>
              </a:spcAft>
              <a:buClr>
                <a:srgbClr val="000000"/>
              </a:buClr>
              <a:buSzPts val="1700"/>
              <a:buChar char="•"/>
            </a:pPr>
            <a:r>
              <a:rPr i="0" lang="en-US" sz="1700" u="none" cap="none" strike="noStrike">
                <a:solidFill>
                  <a:srgbClr val="000000"/>
                </a:solidFill>
              </a:rPr>
              <a:t>Non-stationary temporal dynamics</a:t>
            </a:r>
            <a:endParaRPr i="0" sz="1700" u="none" cap="none" strike="noStrike">
              <a:solidFill>
                <a:srgbClr val="000000"/>
              </a:solidFill>
            </a:endParaRPr>
          </a:p>
          <a:p>
            <a:pPr indent="-266700" lvl="0" marL="298450" marR="309245" rtl="0" algn="l">
              <a:lnSpc>
                <a:spcPct val="100000"/>
              </a:lnSpc>
              <a:spcBef>
                <a:spcPts val="2400"/>
              </a:spcBef>
              <a:spcAft>
                <a:spcPts val="0"/>
              </a:spcAft>
              <a:buClr>
                <a:srgbClr val="000000"/>
              </a:buClr>
              <a:buSzPts val="1700"/>
              <a:buChar char="•"/>
            </a:pPr>
            <a:r>
              <a:rPr i="0" lang="en-US" sz="1700" u="none" cap="none" strike="noStrike">
                <a:solidFill>
                  <a:srgbClr val="000000"/>
                </a:solidFill>
              </a:rPr>
              <a:t>Non-Euclidean spatial geometry</a:t>
            </a:r>
            <a:endParaRPr i="0" sz="1700" u="none" cap="none" strike="noStrike">
              <a:solidFill>
                <a:srgbClr val="000000"/>
              </a:solidFill>
            </a:endParaRPr>
          </a:p>
          <a:p>
            <a:pPr indent="-266700" lvl="0" marL="298450" marR="410209" rtl="0" algn="l">
              <a:lnSpc>
                <a:spcPct val="100000"/>
              </a:lnSpc>
              <a:spcBef>
                <a:spcPts val="2400"/>
              </a:spcBef>
              <a:spcAft>
                <a:spcPts val="0"/>
              </a:spcAft>
              <a:buClr>
                <a:srgbClr val="000000"/>
              </a:buClr>
              <a:buSzPts val="1700"/>
              <a:buChar char="•"/>
            </a:pPr>
            <a:r>
              <a:rPr i="0" lang="en-US" sz="1700" u="none" cap="none" strike="noStrike">
                <a:solidFill>
                  <a:srgbClr val="000000"/>
                </a:solidFill>
              </a:rPr>
              <a:t>Model each sensor independently fail to capture spatial correlation</a:t>
            </a:r>
            <a:endParaRPr i="0" sz="1700" u="none" cap="none" strike="noStrike">
              <a:solidFill>
                <a:srgbClr val="000000"/>
              </a:solidFill>
            </a:endParaRPr>
          </a:p>
        </p:txBody>
      </p:sp>
      <p:pic>
        <p:nvPicPr>
          <p:cNvPr id="238" name="Google Shape;238;p41"/>
          <p:cNvPicPr preferRelativeResize="0"/>
          <p:nvPr/>
        </p:nvPicPr>
        <p:blipFill rotWithShape="1">
          <a:blip r:embed="rId3">
            <a:alphaModFix/>
          </a:blip>
          <a:srcRect b="0" l="0" r="0" t="0"/>
          <a:stretch/>
        </p:blipFill>
        <p:spPr>
          <a:xfrm>
            <a:off x="183441" y="852769"/>
            <a:ext cx="5827890" cy="418833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2"/>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2700"/>
              <a:buFont typeface="Trebuchet MS"/>
              <a:buNone/>
            </a:pPr>
            <a:r>
              <a:rPr b="1" lang="en-US" sz="2800">
                <a:solidFill>
                  <a:schemeClr val="dk1"/>
                </a:solidFill>
              </a:rPr>
              <a:t>Challenges in Traffic Prediction</a:t>
            </a:r>
            <a:br>
              <a:rPr b="1" lang="en-US" sz="2800">
                <a:solidFill>
                  <a:schemeClr val="dk1"/>
                </a:solidFill>
              </a:rPr>
            </a:br>
            <a:br>
              <a:rPr b="1" lang="en-US" sz="2800">
                <a:solidFill>
                  <a:schemeClr val="dk1"/>
                </a:solidFill>
              </a:rPr>
            </a:br>
            <a:endParaRPr b="1" sz="2800">
              <a:solidFill>
                <a:schemeClr val="dk1"/>
              </a:solidFill>
            </a:endParaRPr>
          </a:p>
        </p:txBody>
      </p:sp>
      <p:sp>
        <p:nvSpPr>
          <p:cNvPr id="244" name="Google Shape;244;p42"/>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Char char="●"/>
            </a:pPr>
            <a:r>
              <a:rPr b="1" lang="en-US" sz="1600">
                <a:solidFill>
                  <a:schemeClr val="dk1"/>
                </a:solidFill>
              </a:rPr>
              <a:t>Complex Spatial Dependencies:</a:t>
            </a:r>
            <a:r>
              <a:rPr lang="en-US" sz="1600">
                <a:solidFill>
                  <a:schemeClr val="dk1"/>
                </a:solidFill>
              </a:rPr>
              <a:t> </a:t>
            </a:r>
            <a:r>
              <a:rPr lang="en-US" sz="1600">
                <a:solidFill>
                  <a:schemeClr val="dk1"/>
                </a:solidFill>
              </a:rPr>
              <a:t>A traffic jam at one sensor location can lead to congestion at downstream sensors due to spillover effects.</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Non-Stationary Temporal Dynamics:</a:t>
            </a:r>
            <a:r>
              <a:rPr lang="en-US" sz="1600">
                <a:solidFill>
                  <a:schemeClr val="dk1"/>
                </a:solidFill>
              </a:rPr>
              <a:t> </a:t>
            </a:r>
            <a:r>
              <a:rPr lang="en-US" sz="1600">
                <a:solidFill>
                  <a:schemeClr val="dk1"/>
                </a:solidFill>
              </a:rPr>
              <a:t>Traffic volume during morning rush hours is significantly higher compared to late-night hours.</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Non-Euclidean Spatial Geometry:</a:t>
            </a:r>
            <a:r>
              <a:rPr lang="en-US" sz="1600">
                <a:solidFill>
                  <a:schemeClr val="dk1"/>
                </a:solidFill>
              </a:rPr>
              <a:t> </a:t>
            </a:r>
            <a:r>
              <a:rPr lang="en-US" sz="1600">
                <a:solidFill>
                  <a:schemeClr val="dk1"/>
                </a:solidFill>
              </a:rPr>
              <a:t>A city's road network includes irregular(graph-based) intersections and overpasses that cannot be represented on a simple Cartesian grid.</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Failure to Capture Spatial Correlations:</a:t>
            </a:r>
            <a:r>
              <a:rPr lang="en-US" sz="1600">
                <a:solidFill>
                  <a:schemeClr val="dk1"/>
                </a:solidFill>
              </a:rPr>
              <a:t> </a:t>
            </a:r>
            <a:r>
              <a:rPr lang="en-US" sz="1600">
                <a:solidFill>
                  <a:schemeClr val="dk1"/>
                </a:solidFill>
              </a:rPr>
              <a:t>Predicting traffic for one road sensor without considering data from nearby sensors may miss patterns like coordinated signal timings.</a:t>
            </a:r>
            <a:endParaRPr sz="1600">
              <a:solidFill>
                <a:schemeClr val="dk1"/>
              </a:solidFill>
            </a:endParaRPr>
          </a:p>
          <a:p>
            <a:pPr indent="0" lvl="0" marL="457200" rtl="0" algn="l">
              <a:spcBef>
                <a:spcPts val="1000"/>
              </a:spcBef>
              <a:spcAft>
                <a:spcPts val="1000"/>
              </a:spcAft>
              <a:buNone/>
            </a:pPr>
            <a:r>
              <a:t/>
            </a:r>
            <a:endParaRPr sz="16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315925"/>
            <a:ext cx="8520600" cy="366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800"/>
              <a:buFont typeface="Trebuchet MS"/>
              <a:buNone/>
            </a:pPr>
            <a:r>
              <a:rPr b="1" lang="en-US" sz="2300"/>
              <a:t>Forecasting for multiple loop detector/sensors</a:t>
            </a:r>
            <a:endParaRPr b="1" sz="2300"/>
          </a:p>
        </p:txBody>
      </p:sp>
      <p:sp>
        <p:nvSpPr>
          <p:cNvPr id="250" name="Google Shape;250;p43"/>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pic>
        <p:nvPicPr>
          <p:cNvPr id="251" name="Google Shape;251;p43"/>
          <p:cNvPicPr preferRelativeResize="0"/>
          <p:nvPr/>
        </p:nvPicPr>
        <p:blipFill rotWithShape="1">
          <a:blip r:embed="rId3">
            <a:alphaModFix/>
          </a:blip>
          <a:srcRect b="0" l="0" r="0" t="0"/>
          <a:stretch/>
        </p:blipFill>
        <p:spPr>
          <a:xfrm>
            <a:off x="6128227" y="1534006"/>
            <a:ext cx="2541960" cy="2372782"/>
          </a:xfrm>
          <a:prstGeom prst="rect">
            <a:avLst/>
          </a:prstGeom>
          <a:noFill/>
          <a:ln>
            <a:noFill/>
          </a:ln>
        </p:spPr>
      </p:pic>
      <p:sp>
        <p:nvSpPr>
          <p:cNvPr id="252" name="Google Shape;252;p43"/>
          <p:cNvSpPr txBox="1"/>
          <p:nvPr/>
        </p:nvSpPr>
        <p:spPr>
          <a:xfrm>
            <a:off x="762000" y="971550"/>
            <a:ext cx="5930400" cy="284100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Capturing the road network in terms of graphs</a:t>
            </a:r>
            <a:endParaRPr b="0" i="0" sz="2400" u="none" cap="none" strike="noStrike">
              <a:solidFill>
                <a:srgbClr val="000000"/>
              </a:solidFill>
              <a:latin typeface="Calibri"/>
              <a:ea typeface="Calibri"/>
              <a:cs typeface="Calibri"/>
              <a:sym typeface="Calibri"/>
            </a:endParaRPr>
          </a:p>
          <a:p>
            <a:pPr indent="-285750" lvl="0" marL="316230" marR="0" rtl="0" algn="l">
              <a:lnSpc>
                <a:spcPct val="118055"/>
              </a:lnSpc>
              <a:spcBef>
                <a:spcPts val="153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Transportation network as graph</a:t>
            </a:r>
            <a:endParaRPr b="0" i="0" sz="1800" u="none" cap="none" strike="noStrike">
              <a:solidFill>
                <a:srgbClr val="000000"/>
              </a:solidFill>
              <a:latin typeface="Calibri"/>
              <a:ea typeface="Calibri"/>
              <a:cs typeface="Calibri"/>
              <a:sym typeface="Calibri"/>
            </a:endParaRPr>
          </a:p>
          <a:p>
            <a:pPr indent="-285750" lvl="1" marL="773430" marR="0" rtl="0" algn="l">
              <a:lnSpc>
                <a:spcPct val="118055"/>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V = Vertices (sensors)</a:t>
            </a:r>
            <a:endParaRPr b="0" i="0" sz="1800" u="none" cap="none" strike="noStrike">
              <a:solidFill>
                <a:srgbClr val="000000"/>
              </a:solidFill>
              <a:latin typeface="Calibri"/>
              <a:ea typeface="Calibri"/>
              <a:cs typeface="Calibri"/>
              <a:sym typeface="Calibri"/>
            </a:endParaRPr>
          </a:p>
          <a:p>
            <a:pPr indent="-285750" lvl="1" marL="773430" marR="0" rtl="0" algn="l">
              <a:lnSpc>
                <a:spcPct val="100000"/>
              </a:lnSpc>
              <a:spcBef>
                <a:spcPts val="5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E = Edges (roads)</a:t>
            </a:r>
            <a:endParaRPr b="0" i="0" sz="1800" u="none" cap="none" strike="noStrike">
              <a:solidFill>
                <a:srgbClr val="000000"/>
              </a:solidFill>
              <a:latin typeface="Calibri"/>
              <a:ea typeface="Calibri"/>
              <a:cs typeface="Calibri"/>
              <a:sym typeface="Calibri"/>
            </a:endParaRPr>
          </a:p>
          <a:p>
            <a:pPr indent="-285750" lvl="1" marL="773430" marR="0" rtl="0" algn="l">
              <a:lnSpc>
                <a:spcPct val="118055"/>
              </a:lnSpc>
              <a:spcBef>
                <a:spcPts val="4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A = Weighted adjacency matrix</a:t>
            </a:r>
            <a:endParaRPr b="0" i="0" sz="1800" u="none" cap="none" strike="noStrike">
              <a:solidFill>
                <a:srgbClr val="000000"/>
              </a:solidFill>
              <a:latin typeface="Calibri"/>
              <a:ea typeface="Calibri"/>
              <a:cs typeface="Calibri"/>
              <a:sym typeface="Calibri"/>
            </a:endParaRPr>
          </a:p>
          <a:p>
            <a:pPr indent="0" lvl="0" marL="1207135" marR="0" rtl="0" algn="l">
              <a:lnSpc>
                <a:spcPct val="118055"/>
              </a:lnSpc>
              <a:spcBef>
                <a:spcPts val="0"/>
              </a:spcBef>
              <a:spcAft>
                <a:spcPts val="0"/>
              </a:spcAft>
              <a:buNone/>
            </a:pPr>
            <a:r>
              <a:rPr b="0" i="0" lang="en-US" sz="1800" u="none" cap="none" strike="noStrike">
                <a:solidFill>
                  <a:srgbClr val="000000"/>
                </a:solidFill>
                <a:latin typeface="Calibri"/>
                <a:ea typeface="Calibri"/>
                <a:cs typeface="Calibri"/>
                <a:sym typeface="Calibri"/>
              </a:rPr>
              <a:t>(A function of the road network distance)</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6" name="Shape 256"/>
        <p:cNvGrpSpPr/>
        <p:nvPr/>
      </p:nvGrpSpPr>
      <p:grpSpPr>
        <a:xfrm>
          <a:off x="0" y="0"/>
          <a:ext cx="0" cy="0"/>
          <a:chOff x="0" y="0"/>
          <a:chExt cx="0" cy="0"/>
        </a:xfrm>
      </p:grpSpPr>
      <p:sp>
        <p:nvSpPr>
          <p:cNvPr id="257" name="Google Shape;257;p44"/>
          <p:cNvSpPr txBox="1"/>
          <p:nvPr>
            <p:ph type="title"/>
          </p:nvPr>
        </p:nvSpPr>
        <p:spPr>
          <a:xfrm>
            <a:off x="311700" y="315925"/>
            <a:ext cx="8520600" cy="702300"/>
          </a:xfrm>
          <a:prstGeom prst="rect">
            <a:avLst/>
          </a:prstGeom>
          <a:noFill/>
          <a:ln>
            <a:noFill/>
          </a:ln>
        </p:spPr>
        <p:txBody>
          <a:bodyPr anchorCtr="0" anchor="t" bIns="0" lIns="0" spcFirstLastPara="1" rIns="0" wrap="square" tIns="344925">
            <a:spAutoFit/>
          </a:bodyPr>
          <a:lstStyle/>
          <a:p>
            <a:pPr indent="-290830" lvl="0" marL="519430" rtl="0" algn="l">
              <a:lnSpc>
                <a:spcPct val="100000"/>
              </a:lnSpc>
              <a:spcBef>
                <a:spcPts val="0"/>
              </a:spcBef>
              <a:spcAft>
                <a:spcPts val="0"/>
              </a:spcAft>
              <a:buClr>
                <a:schemeClr val="accent1"/>
              </a:buClr>
              <a:buSzPts val="2700"/>
              <a:buFont typeface="Trebuchet MS"/>
              <a:buNone/>
            </a:pPr>
            <a:r>
              <a:rPr b="1" lang="en-US" sz="2300"/>
              <a:t>Network distance computation</a:t>
            </a:r>
            <a:endParaRPr b="1" sz="2300"/>
          </a:p>
        </p:txBody>
      </p:sp>
      <p:sp>
        <p:nvSpPr>
          <p:cNvPr id="258" name="Google Shape;258;p44"/>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259" name="Google Shape;259;p44"/>
          <p:cNvSpPr txBox="1"/>
          <p:nvPr/>
        </p:nvSpPr>
        <p:spPr>
          <a:xfrm>
            <a:off x="535950" y="1445247"/>
            <a:ext cx="8001600" cy="2321700"/>
          </a:xfrm>
          <a:prstGeom prst="rect">
            <a:avLst/>
          </a:prstGeom>
          <a:noFill/>
          <a:ln>
            <a:noFill/>
          </a:ln>
        </p:spPr>
        <p:txBody>
          <a:bodyPr anchorCtr="0" anchor="t" bIns="0" lIns="0" spcFirstLastPara="1" rIns="0" wrap="square" tIns="73650">
            <a:spAutoFit/>
          </a:bodyPr>
          <a:lstStyle/>
          <a:p>
            <a:pPr indent="0" lvl="0" marL="1270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Purpose:</a:t>
            </a:r>
            <a:r>
              <a:rPr b="0" i="0" lang="en-US" sz="1600" u="none" cap="none" strike="noStrike">
                <a:solidFill>
                  <a:srgbClr val="000000"/>
                </a:solidFill>
                <a:latin typeface="Arial"/>
                <a:ea typeface="Arial"/>
                <a:cs typeface="Arial"/>
                <a:sym typeface="Arial"/>
              </a:rPr>
              <a:t> To compute the shortest driving distance between loop detectors.</a:t>
            </a:r>
            <a:endParaRPr sz="1600"/>
          </a:p>
          <a:p>
            <a:pPr indent="0" lvl="0" marL="12700" marR="0" rtl="0" algn="l">
              <a:lnSpc>
                <a:spcPct val="100000"/>
              </a:lnSpc>
              <a:spcBef>
                <a:spcPts val="580"/>
              </a:spcBef>
              <a:spcAft>
                <a:spcPts val="0"/>
              </a:spcAft>
              <a:buNone/>
            </a:pPr>
            <a:r>
              <a:rPr b="1" i="0" lang="en-US" sz="1600" u="none" cap="none" strike="noStrike">
                <a:solidFill>
                  <a:srgbClr val="000000"/>
                </a:solidFill>
                <a:latin typeface="Calibri"/>
                <a:ea typeface="Calibri"/>
                <a:cs typeface="Calibri"/>
                <a:sym typeface="Calibri"/>
              </a:rPr>
              <a:t>Steps:</a:t>
            </a:r>
            <a:endParaRPr sz="1600"/>
          </a:p>
          <a:p>
            <a:pPr indent="-330200" lvl="0" marL="457200" marR="0" rtl="0" algn="l">
              <a:lnSpc>
                <a:spcPct val="100000"/>
              </a:lnSpc>
              <a:spcBef>
                <a:spcPts val="580"/>
              </a:spcBef>
              <a:spcAft>
                <a:spcPts val="0"/>
              </a:spcAft>
              <a:buSzPts val="1600"/>
              <a:buAutoNum type="arabicPeriod"/>
            </a:pPr>
            <a:r>
              <a:rPr b="0" i="0" lang="en-US" sz="1600" u="none" cap="none" strike="noStrike">
                <a:solidFill>
                  <a:srgbClr val="000000"/>
                </a:solidFill>
                <a:latin typeface="Arial"/>
                <a:ea typeface="Arial"/>
                <a:cs typeface="Arial"/>
                <a:sym typeface="Arial"/>
              </a:rPr>
              <a:t>First, identify the nearest neighbor for each loop ID using </a:t>
            </a:r>
            <a:r>
              <a:rPr b="1" i="0" lang="en-US" sz="1600" u="none" cap="none" strike="noStrike">
                <a:solidFill>
                  <a:srgbClr val="000000"/>
                </a:solidFill>
                <a:latin typeface="Arial"/>
                <a:ea typeface="Arial"/>
                <a:cs typeface="Arial"/>
                <a:sym typeface="Arial"/>
              </a:rPr>
              <a:t>Euclidean distance</a:t>
            </a:r>
            <a:r>
              <a:rPr b="0" i="0" lang="en-US" sz="1600" u="none" cap="none" strike="noStrike">
                <a:solidFill>
                  <a:srgbClr val="000000"/>
                </a:solidFill>
                <a:latin typeface="Arial"/>
                <a:ea typeface="Arial"/>
                <a:cs typeface="Arial"/>
                <a:sym typeface="Arial"/>
              </a:rPr>
              <a:t> (calculated based on latitude and longitude). This speeds up</a:t>
            </a:r>
            <a:r>
              <a:rPr lang="en-US" sz="1600"/>
              <a:t> </a:t>
            </a:r>
            <a:r>
              <a:rPr b="0" i="0" lang="en-US" sz="1600" u="none" cap="none" strike="noStrike">
                <a:solidFill>
                  <a:srgbClr val="000000"/>
                </a:solidFill>
                <a:latin typeface="Arial"/>
                <a:ea typeface="Arial"/>
                <a:cs typeface="Arial"/>
                <a:sym typeface="Arial"/>
              </a:rPr>
              <a:t>the process by narrowing the candidate pairs.</a:t>
            </a:r>
            <a:endParaRPr sz="1600"/>
          </a:p>
          <a:p>
            <a:pPr indent="-330200" lvl="0" marL="457200" marR="0" rtl="0" algn="l">
              <a:lnSpc>
                <a:spcPct val="100000"/>
              </a:lnSpc>
              <a:spcBef>
                <a:spcPts val="1000"/>
              </a:spcBef>
              <a:spcAft>
                <a:spcPts val="0"/>
              </a:spcAft>
              <a:buSzPts val="1600"/>
              <a:buAutoNum type="arabicPeriod"/>
            </a:pPr>
            <a:r>
              <a:rPr b="0" i="0" lang="en-US" sz="1600" u="none" cap="none" strike="noStrike">
                <a:solidFill>
                  <a:srgbClr val="000000"/>
                </a:solidFill>
                <a:latin typeface="Arial"/>
                <a:ea typeface="Arial"/>
                <a:cs typeface="Arial"/>
                <a:sym typeface="Arial"/>
              </a:rPr>
              <a:t>Query the </a:t>
            </a:r>
            <a:r>
              <a:rPr b="1" i="0" lang="en-US" sz="1600" u="none" cap="none" strike="noStrike">
                <a:solidFill>
                  <a:srgbClr val="000000"/>
                </a:solidFill>
                <a:latin typeface="Arial"/>
                <a:ea typeface="Arial"/>
                <a:cs typeface="Arial"/>
                <a:sym typeface="Arial"/>
              </a:rPr>
              <a:t>OSRM server</a:t>
            </a:r>
            <a:r>
              <a:rPr b="0" i="0" lang="en-US" sz="1600" u="none" cap="none" strike="noStrike">
                <a:solidFill>
                  <a:srgbClr val="000000"/>
                </a:solidFill>
                <a:latin typeface="Arial"/>
                <a:ea typeface="Arial"/>
                <a:cs typeface="Arial"/>
                <a:sym typeface="Arial"/>
              </a:rPr>
              <a:t> with the exact latitude and longitude of the</a:t>
            </a:r>
            <a:r>
              <a:rPr lang="en-US" sz="1600"/>
              <a:t> </a:t>
            </a:r>
            <a:r>
              <a:rPr b="0" i="0" lang="en-US" sz="1600" u="none" cap="none" strike="noStrike">
                <a:solidFill>
                  <a:srgbClr val="000000"/>
                </a:solidFill>
                <a:latin typeface="Arial"/>
                <a:ea typeface="Arial"/>
                <a:cs typeface="Arial"/>
                <a:sym typeface="Arial"/>
              </a:rPr>
              <a:t>loop IDs to compute the </a:t>
            </a:r>
            <a:r>
              <a:rPr b="1" i="0" lang="en-US" sz="1600" u="none" cap="none" strike="noStrike">
                <a:solidFill>
                  <a:srgbClr val="000000"/>
                </a:solidFill>
                <a:latin typeface="Arial"/>
                <a:ea typeface="Arial"/>
                <a:cs typeface="Arial"/>
                <a:sym typeface="Arial"/>
              </a:rPr>
              <a:t>shortest driving distance</a:t>
            </a:r>
            <a:r>
              <a:rPr b="0" i="0" lang="en-US" sz="1600" u="none" cap="none" strike="noStrike">
                <a:solidFill>
                  <a:srgbClr val="000000"/>
                </a:solidFill>
                <a:latin typeface="Arial"/>
                <a:ea typeface="Arial"/>
                <a:cs typeface="Arial"/>
                <a:sym typeface="Arial"/>
              </a:rPr>
              <a:t>. This ensures accurate results based on road network topology.</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id="264" name="Google Shape;264;p45"/>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265" name="Google Shape;265;p45"/>
          <p:cNvSpPr txBox="1"/>
          <p:nvPr/>
        </p:nvSpPr>
        <p:spPr>
          <a:xfrm>
            <a:off x="745400" y="317650"/>
            <a:ext cx="7947300" cy="92850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rPr>
              <a:t>Distance Adjacency Calculation</a:t>
            </a:r>
            <a:endParaRPr b="1" sz="1800"/>
          </a:p>
          <a:p>
            <a:pPr indent="0" lvl="0" marL="0" marR="0" rtl="0" algn="l">
              <a:lnSpc>
                <a:spcPct val="100000"/>
              </a:lnSpc>
              <a:spcBef>
                <a:spcPts val="1000"/>
              </a:spcBef>
              <a:spcAft>
                <a:spcPts val="0"/>
              </a:spcAft>
              <a:buNone/>
            </a:pPr>
            <a:r>
              <a:rPr b="1" i="0" lang="en-US" sz="1400" u="none" cap="none" strike="noStrike">
                <a:solidFill>
                  <a:srgbClr val="000000"/>
                </a:solidFill>
                <a:latin typeface="Arial"/>
                <a:ea typeface="Arial"/>
                <a:cs typeface="Arial"/>
                <a:sym typeface="Arial"/>
              </a:rPr>
              <a:t>Weighted Adjacency Matrix (Aij​):</a:t>
            </a:r>
            <a:r>
              <a:rPr b="0" i="0" lang="en-US" sz="1400" u="none" cap="none" strike="noStrike">
                <a:solidFill>
                  <a:srgbClr val="000000"/>
                </a:solidFill>
                <a:latin typeface="Arial"/>
                <a:ea typeface="Arial"/>
                <a:cs typeface="Arial"/>
                <a:sym typeface="Arial"/>
              </a:rPr>
              <a:t> Represents the connectivity between nodes (vi and vj) based on road network distances.</a:t>
            </a:r>
            <a:endParaRPr/>
          </a:p>
        </p:txBody>
      </p:sp>
      <p:sp>
        <p:nvSpPr>
          <p:cNvPr id="266" name="Google Shape;266;p45"/>
          <p:cNvSpPr txBox="1"/>
          <p:nvPr/>
        </p:nvSpPr>
        <p:spPr>
          <a:xfrm>
            <a:off x="838200" y="2266950"/>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7" name="Google Shape;267;p45"/>
          <p:cNvPicPr preferRelativeResize="0"/>
          <p:nvPr/>
        </p:nvPicPr>
        <p:blipFill rotWithShape="1">
          <a:blip r:embed="rId3">
            <a:alphaModFix/>
          </a:blip>
          <a:srcRect b="0" l="0" r="0" t="0"/>
          <a:stretch/>
        </p:blipFill>
        <p:spPr>
          <a:xfrm>
            <a:off x="1181100" y="1380625"/>
            <a:ext cx="6781799" cy="457200"/>
          </a:xfrm>
          <a:prstGeom prst="rect">
            <a:avLst/>
          </a:prstGeom>
          <a:noFill/>
          <a:ln>
            <a:noFill/>
          </a:ln>
        </p:spPr>
      </p:pic>
      <p:pic>
        <p:nvPicPr>
          <p:cNvPr id="268" name="Google Shape;268;p45"/>
          <p:cNvPicPr preferRelativeResize="0"/>
          <p:nvPr/>
        </p:nvPicPr>
        <p:blipFill rotWithShape="1">
          <a:blip r:embed="rId4">
            <a:alphaModFix/>
          </a:blip>
          <a:srcRect b="0" l="0" r="0" t="0"/>
          <a:stretch/>
        </p:blipFill>
        <p:spPr>
          <a:xfrm>
            <a:off x="1281600" y="2114558"/>
            <a:ext cx="6781800" cy="457200"/>
          </a:xfrm>
          <a:prstGeom prst="rect">
            <a:avLst/>
          </a:prstGeom>
          <a:noFill/>
          <a:ln>
            <a:noFill/>
          </a:ln>
        </p:spPr>
      </p:pic>
      <p:pic>
        <p:nvPicPr>
          <p:cNvPr id="269" name="Google Shape;269;p45"/>
          <p:cNvPicPr preferRelativeResize="0"/>
          <p:nvPr/>
        </p:nvPicPr>
        <p:blipFill rotWithShape="1">
          <a:blip r:embed="rId5">
            <a:alphaModFix/>
          </a:blip>
          <a:srcRect b="0" l="0" r="0" t="0"/>
          <a:stretch/>
        </p:blipFill>
        <p:spPr>
          <a:xfrm>
            <a:off x="745402" y="2934340"/>
            <a:ext cx="6533974" cy="182648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sp>
        <p:nvSpPr>
          <p:cNvPr id="274" name="Google Shape;274;p46"/>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275" name="Google Shape;275;p46"/>
          <p:cNvSpPr txBox="1"/>
          <p:nvPr/>
        </p:nvSpPr>
        <p:spPr>
          <a:xfrm>
            <a:off x="350125" y="377525"/>
            <a:ext cx="8559900" cy="4078800"/>
          </a:xfrm>
          <a:prstGeom prst="rect">
            <a:avLst/>
          </a:prstGeom>
          <a:noFill/>
          <a:ln>
            <a:noFill/>
          </a:ln>
        </p:spPr>
        <p:txBody>
          <a:bodyPr anchorCtr="0" anchor="t" bIns="45700" lIns="91425" spcFirstLastPara="1" rIns="91425" wrap="square" tIns="45700">
            <a:spAutoFit/>
          </a:bodyPr>
          <a:lstStyle/>
          <a:p>
            <a:pPr indent="-2286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Diffusion Convolution:</a:t>
            </a:r>
            <a:endParaRPr sz="1800"/>
          </a:p>
          <a:p>
            <a:pPr indent="-342900" lvl="1" marL="914400" marR="0" rtl="0" algn="l">
              <a:lnSpc>
                <a:spcPct val="100000"/>
              </a:lnSpc>
              <a:spcBef>
                <a:spcPts val="1000"/>
              </a:spcBef>
              <a:spcAft>
                <a:spcPts val="0"/>
              </a:spcAft>
              <a:buClr>
                <a:srgbClr val="000000"/>
              </a:buClr>
              <a:buSzPts val="1800"/>
              <a:buFont typeface="Arial"/>
              <a:buAutoNum type="alphaLcPeriod"/>
            </a:pPr>
            <a:r>
              <a:rPr b="0" i="0" lang="en-US" sz="1800" u="none" cap="none" strike="noStrike">
                <a:solidFill>
                  <a:srgbClr val="000000"/>
                </a:solidFill>
                <a:latin typeface="Arial"/>
                <a:ea typeface="Arial"/>
                <a:cs typeface="Arial"/>
                <a:sym typeface="Arial"/>
              </a:rPr>
              <a:t>Models the spatial diffusion of traffic flow over a </a:t>
            </a:r>
            <a:r>
              <a:rPr b="1" i="0" lang="en-US" sz="1800" u="none" cap="none" strike="noStrike">
                <a:solidFill>
                  <a:srgbClr val="000000"/>
                </a:solidFill>
                <a:latin typeface="Arial"/>
                <a:ea typeface="Arial"/>
                <a:cs typeface="Arial"/>
                <a:sym typeface="Arial"/>
              </a:rPr>
              <a:t>graph</a:t>
            </a:r>
            <a:r>
              <a:rPr b="0" i="0" lang="en-US" sz="1800" u="none" cap="none" strike="noStrike">
                <a:solidFill>
                  <a:srgbClr val="000000"/>
                </a:solidFill>
                <a:latin typeface="Arial"/>
                <a:ea typeface="Arial"/>
                <a:cs typeface="Arial"/>
                <a:sym typeface="Arial"/>
              </a:rPr>
              <a:t>.</a:t>
            </a:r>
            <a:endParaRPr sz="1800"/>
          </a:p>
          <a:p>
            <a:pPr indent="-342900" lvl="1" marL="914400" marR="0" rtl="0" algn="l">
              <a:lnSpc>
                <a:spcPct val="100000"/>
              </a:lnSpc>
              <a:spcBef>
                <a:spcPts val="0"/>
              </a:spcBef>
              <a:spcAft>
                <a:spcPts val="0"/>
              </a:spcAft>
              <a:buClr>
                <a:srgbClr val="000000"/>
              </a:buClr>
              <a:buSzPts val="1800"/>
              <a:buFont typeface="Arial"/>
              <a:buAutoNum type="alphaLcPeriod"/>
            </a:pPr>
            <a:r>
              <a:rPr b="0" i="0" lang="en-US" sz="1800" u="none" cap="none" strike="noStrike">
                <a:solidFill>
                  <a:srgbClr val="000000"/>
                </a:solidFill>
                <a:latin typeface="Arial"/>
                <a:ea typeface="Arial"/>
                <a:cs typeface="Arial"/>
                <a:sym typeface="Arial"/>
              </a:rPr>
              <a:t>Captures </a:t>
            </a:r>
            <a:r>
              <a:rPr b="1" i="0" lang="en-US" sz="1800" u="none" cap="none" strike="noStrike">
                <a:solidFill>
                  <a:srgbClr val="000000"/>
                </a:solidFill>
                <a:latin typeface="Arial"/>
                <a:ea typeface="Arial"/>
                <a:cs typeface="Arial"/>
                <a:sym typeface="Arial"/>
              </a:rPr>
              <a:t>spatial dependencies</a:t>
            </a:r>
            <a:r>
              <a:rPr b="0" i="0" lang="en-US" sz="1800" u="none" cap="none" strike="noStrike">
                <a:solidFill>
                  <a:srgbClr val="000000"/>
                </a:solidFill>
                <a:latin typeface="Arial"/>
                <a:ea typeface="Arial"/>
                <a:cs typeface="Arial"/>
                <a:sym typeface="Arial"/>
              </a:rPr>
              <a:t> via </a:t>
            </a:r>
            <a:r>
              <a:rPr b="1" i="0" lang="en-US" sz="1800" u="none" cap="none" strike="noStrike">
                <a:solidFill>
                  <a:srgbClr val="000000"/>
                </a:solidFill>
                <a:latin typeface="Arial"/>
                <a:ea typeface="Arial"/>
                <a:cs typeface="Arial"/>
                <a:sym typeface="Arial"/>
              </a:rPr>
              <a:t>in-degree</a:t>
            </a:r>
            <a:r>
              <a:rPr b="0" i="0" lang="en-US" sz="1800" u="none" cap="none" strike="noStrike">
                <a:solidFill>
                  <a:srgbClr val="000000"/>
                </a:solidFill>
                <a:latin typeface="Arial"/>
                <a:ea typeface="Arial"/>
                <a:cs typeface="Arial"/>
                <a:sym typeface="Arial"/>
              </a:rPr>
              <a:t> and </a:t>
            </a:r>
            <a:r>
              <a:rPr b="1" i="0" lang="en-US" sz="1800" u="none" cap="none" strike="noStrike">
                <a:solidFill>
                  <a:srgbClr val="000000"/>
                </a:solidFill>
                <a:latin typeface="Arial"/>
                <a:ea typeface="Arial"/>
                <a:cs typeface="Arial"/>
                <a:sym typeface="Arial"/>
              </a:rPr>
              <a:t>out-degree</a:t>
            </a:r>
            <a:r>
              <a:rPr b="0" i="0" lang="en-US" sz="1800" u="none" cap="none" strike="noStrike">
                <a:solidFill>
                  <a:srgbClr val="000000"/>
                </a:solidFill>
                <a:latin typeface="Arial"/>
                <a:ea typeface="Arial"/>
                <a:cs typeface="Arial"/>
                <a:sym typeface="Arial"/>
              </a:rPr>
              <a:t> diffusion operations:</a:t>
            </a:r>
            <a:endParaRPr sz="1800"/>
          </a:p>
          <a:p>
            <a:pPr indent="-342900" lvl="2" marL="1371600" marR="0" rtl="0" algn="l">
              <a:lnSpc>
                <a:spcPct val="100000"/>
              </a:lnSpc>
              <a:spcBef>
                <a:spcPts val="0"/>
              </a:spcBef>
              <a:spcAft>
                <a:spcPts val="0"/>
              </a:spcAft>
              <a:buClr>
                <a:srgbClr val="000000"/>
              </a:buClr>
              <a:buSzPts val="1800"/>
              <a:buFont typeface="Arial"/>
              <a:buAutoNum type="romanLcPeriod"/>
            </a:pPr>
            <a:r>
              <a:rPr b="1" i="0" lang="en-US" sz="1800" u="none" cap="none" strike="noStrike">
                <a:solidFill>
                  <a:srgbClr val="000000"/>
                </a:solidFill>
                <a:latin typeface="Arial"/>
                <a:ea typeface="Arial"/>
                <a:cs typeface="Arial"/>
                <a:sym typeface="Arial"/>
              </a:rPr>
              <a:t>In-degree diffusion:</a:t>
            </a:r>
            <a:r>
              <a:rPr b="0" i="0" lang="en-US" sz="1800" u="none" cap="none" strike="noStrike">
                <a:solidFill>
                  <a:srgbClr val="000000"/>
                </a:solidFill>
                <a:latin typeface="Arial"/>
                <a:ea typeface="Arial"/>
                <a:cs typeface="Arial"/>
                <a:sym typeface="Arial"/>
              </a:rPr>
              <a:t> Represents traffic flow entering a node.</a:t>
            </a:r>
            <a:endParaRPr sz="1800"/>
          </a:p>
          <a:p>
            <a:pPr indent="-342900" lvl="2" marL="1371600" marR="0" rtl="0" algn="l">
              <a:lnSpc>
                <a:spcPct val="100000"/>
              </a:lnSpc>
              <a:spcBef>
                <a:spcPts val="0"/>
              </a:spcBef>
              <a:spcAft>
                <a:spcPts val="0"/>
              </a:spcAft>
              <a:buClr>
                <a:srgbClr val="000000"/>
              </a:buClr>
              <a:buSzPts val="1800"/>
              <a:buFont typeface="Arial"/>
              <a:buAutoNum type="romanLcPeriod"/>
            </a:pPr>
            <a:r>
              <a:rPr b="1" i="0" lang="en-US" sz="1800" u="none" cap="none" strike="noStrike">
                <a:solidFill>
                  <a:srgbClr val="000000"/>
                </a:solidFill>
                <a:latin typeface="Arial"/>
                <a:ea typeface="Arial"/>
                <a:cs typeface="Arial"/>
                <a:sym typeface="Arial"/>
              </a:rPr>
              <a:t>Out-degree diffusion:</a:t>
            </a:r>
            <a:r>
              <a:rPr b="0" i="0" lang="en-US" sz="1800" u="none" cap="none" strike="noStrike">
                <a:solidFill>
                  <a:srgbClr val="000000"/>
                </a:solidFill>
                <a:latin typeface="Arial"/>
                <a:ea typeface="Arial"/>
                <a:cs typeface="Arial"/>
                <a:sym typeface="Arial"/>
              </a:rPr>
              <a:t> Represents traffic flow leaving a node.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1800"/>
          </a:p>
          <a:p>
            <a:pPr indent="-2286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Recurrent Neural Networks (RNNs)</a:t>
            </a:r>
            <a:r>
              <a:rPr lang="en-US" sz="1800"/>
              <a:t>:</a:t>
            </a:r>
            <a:endParaRPr sz="1800"/>
          </a:p>
          <a:p>
            <a:pPr indent="-342900" lvl="1" marL="914400" marR="0" rtl="0" algn="l">
              <a:lnSpc>
                <a:spcPct val="100000"/>
              </a:lnSpc>
              <a:spcBef>
                <a:spcPts val="1000"/>
              </a:spcBef>
              <a:spcAft>
                <a:spcPts val="0"/>
              </a:spcAft>
              <a:buClr>
                <a:srgbClr val="000000"/>
              </a:buClr>
              <a:buSzPts val="1800"/>
              <a:buFont typeface="Arial"/>
              <a:buAutoNum type="alphaLcPeriod"/>
            </a:pPr>
            <a:r>
              <a:rPr b="0" i="0" lang="en-US" sz="1800" u="none" cap="none" strike="noStrike">
                <a:solidFill>
                  <a:srgbClr val="000000"/>
                </a:solidFill>
                <a:latin typeface="Arial"/>
                <a:ea typeface="Arial"/>
                <a:cs typeface="Arial"/>
                <a:sym typeface="Arial"/>
              </a:rPr>
              <a:t>DCRNN uses </a:t>
            </a:r>
            <a:r>
              <a:rPr b="1" i="0" lang="en-US" sz="1800" u="none" cap="none" strike="noStrike">
                <a:solidFill>
                  <a:srgbClr val="000000"/>
                </a:solidFill>
                <a:latin typeface="Arial"/>
                <a:ea typeface="Arial"/>
                <a:cs typeface="Arial"/>
                <a:sym typeface="Arial"/>
              </a:rPr>
              <a:t>Gated Recurrent Unit (GRU)</a:t>
            </a:r>
            <a:r>
              <a:rPr b="0" i="0" lang="en-US" sz="1800" u="none" cap="none" strike="noStrike">
                <a:solidFill>
                  <a:srgbClr val="000000"/>
                </a:solidFill>
                <a:latin typeface="Arial"/>
                <a:ea typeface="Arial"/>
                <a:cs typeface="Arial"/>
                <a:sym typeface="Arial"/>
              </a:rPr>
              <a:t> cells to capture </a:t>
            </a:r>
            <a:r>
              <a:rPr b="1" i="0" lang="en-US" sz="1800" u="none" cap="none" strike="noStrike">
                <a:solidFill>
                  <a:srgbClr val="000000"/>
                </a:solidFill>
                <a:latin typeface="Arial"/>
                <a:ea typeface="Arial"/>
                <a:cs typeface="Arial"/>
                <a:sym typeface="Arial"/>
              </a:rPr>
              <a:t>temporal dynamics</a:t>
            </a:r>
            <a:r>
              <a:rPr b="0" i="0" lang="en-US" sz="1800" u="none" cap="none" strike="noStrike">
                <a:solidFill>
                  <a:srgbClr val="000000"/>
                </a:solidFill>
                <a:latin typeface="Arial"/>
                <a:ea typeface="Arial"/>
                <a:cs typeface="Arial"/>
                <a:sym typeface="Arial"/>
              </a:rPr>
              <a:t> of traffic.</a:t>
            </a:r>
            <a:endParaRPr sz="1800"/>
          </a:p>
          <a:p>
            <a:pPr indent="-342900" lvl="1" marL="914400" marR="0" rtl="0" algn="l">
              <a:lnSpc>
                <a:spcPct val="100000"/>
              </a:lnSpc>
              <a:spcBef>
                <a:spcPts val="1000"/>
              </a:spcBef>
              <a:spcAft>
                <a:spcPts val="1000"/>
              </a:spcAft>
              <a:buClr>
                <a:srgbClr val="000000"/>
              </a:buClr>
              <a:buSzPts val="1800"/>
              <a:buFont typeface="Arial"/>
              <a:buAutoNum type="alphaLcPeriod"/>
            </a:pPr>
            <a:r>
              <a:rPr b="0" i="0" lang="en-US" sz="1800" u="none" cap="none" strike="noStrike">
                <a:solidFill>
                  <a:srgbClr val="000000"/>
                </a:solidFill>
                <a:latin typeface="Arial"/>
                <a:ea typeface="Arial"/>
                <a:cs typeface="Arial"/>
                <a:sym typeface="Arial"/>
              </a:rPr>
              <a:t>Update Gate , Reset Gate , Candidate Hidden State , Final Hidden State</a:t>
            </a:r>
            <a:r>
              <a:rPr lang="en-US" sz="1800"/>
              <a:t>. </a:t>
            </a:r>
            <a:r>
              <a:rPr b="0" i="0" lang="en-US" sz="1800" u="none" cap="none" strike="noStrike">
                <a:solidFill>
                  <a:srgbClr val="000000"/>
                </a:solidFill>
                <a:latin typeface="Arial"/>
                <a:ea typeface="Arial"/>
                <a:cs typeface="Arial"/>
                <a:sym typeface="Arial"/>
              </a:rPr>
              <a:t>These ensure efficient learning of </a:t>
            </a:r>
            <a:r>
              <a:rPr b="1" i="0" lang="en-US" sz="1800" u="none" cap="none" strike="noStrike">
                <a:solidFill>
                  <a:srgbClr val="000000"/>
                </a:solidFill>
                <a:latin typeface="Arial"/>
                <a:ea typeface="Arial"/>
                <a:cs typeface="Arial"/>
                <a:sym typeface="Arial"/>
              </a:rPr>
              <a:t>short-term</a:t>
            </a:r>
            <a:r>
              <a:rPr b="0" i="0" lang="en-US" sz="1800" u="none" cap="none" strike="noStrike">
                <a:solidFill>
                  <a:srgbClr val="000000"/>
                </a:solidFill>
                <a:latin typeface="Arial"/>
                <a:ea typeface="Arial"/>
                <a:cs typeface="Arial"/>
                <a:sym typeface="Arial"/>
              </a:rPr>
              <a:t> and </a:t>
            </a:r>
            <a:r>
              <a:rPr b="1" i="0" lang="en-US" sz="1800" u="none" cap="none" strike="noStrike">
                <a:solidFill>
                  <a:srgbClr val="000000"/>
                </a:solidFill>
                <a:latin typeface="Arial"/>
                <a:ea typeface="Arial"/>
                <a:cs typeface="Arial"/>
                <a:sym typeface="Arial"/>
              </a:rPr>
              <a:t>long-term dependencies</a:t>
            </a:r>
            <a:r>
              <a:rPr b="0" i="0" lang="en-US" sz="1800" u="none" cap="none" strike="noStrike">
                <a:solidFill>
                  <a:srgbClr val="000000"/>
                </a:solidFill>
                <a:latin typeface="Arial"/>
                <a:ea typeface="Arial"/>
                <a:cs typeface="Arial"/>
                <a:sym typeface="Arial"/>
              </a:rPr>
              <a:t> in traffic data.</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9" name="Shape 279"/>
        <p:cNvGrpSpPr/>
        <p:nvPr/>
      </p:nvGrpSpPr>
      <p:grpSpPr>
        <a:xfrm>
          <a:off x="0" y="0"/>
          <a:ext cx="0" cy="0"/>
          <a:chOff x="0" y="0"/>
          <a:chExt cx="0" cy="0"/>
        </a:xfrm>
      </p:grpSpPr>
      <p:sp>
        <p:nvSpPr>
          <p:cNvPr id="280" name="Google Shape;280;p47"/>
          <p:cNvSpPr txBox="1"/>
          <p:nvPr>
            <p:ph type="title"/>
          </p:nvPr>
        </p:nvSpPr>
        <p:spPr>
          <a:xfrm>
            <a:off x="311700" y="315925"/>
            <a:ext cx="8520600" cy="382200"/>
          </a:xfrm>
          <a:prstGeom prst="rect">
            <a:avLst/>
          </a:prstGeom>
          <a:noFill/>
          <a:ln>
            <a:noFill/>
          </a:ln>
        </p:spPr>
        <p:txBody>
          <a:bodyPr anchorCtr="0" anchor="t" bIns="0" lIns="0" spcFirstLastPara="1" rIns="0" wrap="square" tIns="12700">
            <a:spAutoFit/>
          </a:bodyPr>
          <a:lstStyle/>
          <a:p>
            <a:pPr indent="0" lvl="0" marL="57150" rtl="0" algn="l">
              <a:lnSpc>
                <a:spcPct val="100000"/>
              </a:lnSpc>
              <a:spcBef>
                <a:spcPts val="0"/>
              </a:spcBef>
              <a:spcAft>
                <a:spcPts val="0"/>
              </a:spcAft>
              <a:buClr>
                <a:schemeClr val="accent1"/>
              </a:buClr>
              <a:buSzPts val="2700"/>
              <a:buFont typeface="Trebuchet MS"/>
              <a:buNone/>
            </a:pPr>
            <a:r>
              <a:rPr b="1" lang="en-US" sz="2400"/>
              <a:t>Diffusion convolution</a:t>
            </a:r>
            <a:endParaRPr b="1" sz="2400"/>
          </a:p>
        </p:txBody>
      </p:sp>
      <p:sp>
        <p:nvSpPr>
          <p:cNvPr id="281" name="Google Shape;281;p47"/>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pic>
        <p:nvPicPr>
          <p:cNvPr id="282" name="Google Shape;282;p47"/>
          <p:cNvPicPr preferRelativeResize="0"/>
          <p:nvPr/>
        </p:nvPicPr>
        <p:blipFill rotWithShape="1">
          <a:blip r:embed="rId3">
            <a:alphaModFix/>
          </a:blip>
          <a:srcRect b="0" l="0" r="0" t="0"/>
          <a:stretch/>
        </p:blipFill>
        <p:spPr>
          <a:xfrm>
            <a:off x="311150" y="1281179"/>
            <a:ext cx="8509000" cy="1549399"/>
          </a:xfrm>
          <a:prstGeom prst="rect">
            <a:avLst/>
          </a:prstGeom>
          <a:noFill/>
          <a:ln>
            <a:noFill/>
          </a:ln>
        </p:spPr>
      </p:pic>
      <p:sp>
        <p:nvSpPr>
          <p:cNvPr id="283" name="Google Shape;283;p47"/>
          <p:cNvSpPr txBox="1"/>
          <p:nvPr/>
        </p:nvSpPr>
        <p:spPr>
          <a:xfrm>
            <a:off x="513250" y="3147000"/>
            <a:ext cx="8319000" cy="200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chemeClr val="dk1"/>
                </a:solidFill>
              </a:rPr>
              <a:t>Diffusion Convolution</a:t>
            </a:r>
            <a:r>
              <a:rPr lang="en-US" sz="1100">
                <a:solidFill>
                  <a:schemeClr val="dk1"/>
                </a:solidFill>
              </a:rPr>
              <a:t> </a:t>
            </a:r>
            <a:r>
              <a:rPr lang="en-US" sz="2100">
                <a:solidFill>
                  <a:schemeClr val="dk1"/>
                </a:solidFill>
              </a:rPr>
              <a:t>models the propagation of information over a graph by simulating a diffusion process.</a:t>
            </a:r>
            <a:r>
              <a:rPr lang="en-US" sz="1300">
                <a:solidFill>
                  <a:schemeClr val="dk1"/>
                </a:solidFill>
              </a:rPr>
              <a:t> </a:t>
            </a:r>
            <a:endParaRPr b="1" sz="2200">
              <a:solidFill>
                <a:schemeClr val="dk1"/>
              </a:solidFill>
            </a:endParaRPr>
          </a:p>
          <a:p>
            <a:pPr indent="0" lvl="0" marL="0" rtl="0" algn="l">
              <a:spcBef>
                <a:spcPts val="1200"/>
              </a:spcBef>
              <a:spcAft>
                <a:spcPts val="0"/>
              </a:spcAft>
              <a:buNone/>
            </a:pPr>
            <a:r>
              <a:rPr b="1" lang="en-US" sz="2000">
                <a:solidFill>
                  <a:schemeClr val="dk1"/>
                </a:solidFill>
              </a:rPr>
              <a:t>Diffusion Convolution</a:t>
            </a:r>
            <a:r>
              <a:rPr lang="en-US" sz="2000">
                <a:solidFill>
                  <a:schemeClr val="dk1"/>
                </a:solidFill>
              </a:rPr>
              <a:t> models the flow of information across a graph by considering both </a:t>
            </a:r>
            <a:r>
              <a:rPr b="1" lang="en-US" sz="2000">
                <a:solidFill>
                  <a:schemeClr val="dk1"/>
                </a:solidFill>
              </a:rPr>
              <a:t>incoming (in-degree)</a:t>
            </a:r>
            <a:r>
              <a:rPr lang="en-US" sz="2000">
                <a:solidFill>
                  <a:schemeClr val="dk1"/>
                </a:solidFill>
              </a:rPr>
              <a:t> and </a:t>
            </a:r>
            <a:r>
              <a:rPr b="1" lang="en-US" sz="2000">
                <a:solidFill>
                  <a:schemeClr val="dk1"/>
                </a:solidFill>
              </a:rPr>
              <a:t>outgoing (out-degree)</a:t>
            </a:r>
            <a:r>
              <a:rPr lang="en-US" sz="2000">
                <a:solidFill>
                  <a:schemeClr val="dk1"/>
                </a:solidFill>
              </a:rPr>
              <a:t> relationships between nodes</a:t>
            </a:r>
            <a:endParaRPr sz="2700">
              <a:solidFill>
                <a:schemeClr val="dk1"/>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89" name="Google Shape;289;p4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0" name="Google Shape;290;p48"/>
          <p:cNvPicPr preferRelativeResize="0"/>
          <p:nvPr/>
        </p:nvPicPr>
        <p:blipFill>
          <a:blip r:embed="rId3">
            <a:alphaModFix/>
          </a:blip>
          <a:stretch>
            <a:fillRect/>
          </a:stretch>
        </p:blipFill>
        <p:spPr>
          <a:xfrm>
            <a:off x="311700" y="113100"/>
            <a:ext cx="8422476" cy="4882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96" name="Google Shape;296;p4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7" name="Google Shape;297;p49"/>
          <p:cNvPicPr preferRelativeResize="0"/>
          <p:nvPr/>
        </p:nvPicPr>
        <p:blipFill>
          <a:blip r:embed="rId3">
            <a:alphaModFix/>
          </a:blip>
          <a:stretch>
            <a:fillRect/>
          </a:stretch>
        </p:blipFill>
        <p:spPr>
          <a:xfrm>
            <a:off x="252275" y="217400"/>
            <a:ext cx="8580026" cy="4545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57150" rtl="0" algn="l">
              <a:spcBef>
                <a:spcPts val="0"/>
              </a:spcBef>
              <a:spcAft>
                <a:spcPts val="0"/>
              </a:spcAft>
              <a:buClr>
                <a:schemeClr val="accent1"/>
              </a:buClr>
              <a:buSzPts val="2700"/>
              <a:buFont typeface="Trebuchet MS"/>
              <a:buNone/>
            </a:pPr>
            <a:r>
              <a:rPr b="1" lang="en-US" sz="2300"/>
              <a:t>Recurrent Neural Network</a:t>
            </a:r>
            <a:endParaRPr/>
          </a:p>
        </p:txBody>
      </p:sp>
      <p:sp>
        <p:nvSpPr>
          <p:cNvPr id="303" name="Google Shape;303;p5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4" name="Google Shape;304;p50"/>
          <p:cNvPicPr preferRelativeResize="0"/>
          <p:nvPr/>
        </p:nvPicPr>
        <p:blipFill>
          <a:blip r:embed="rId3">
            <a:alphaModFix/>
          </a:blip>
          <a:stretch>
            <a:fillRect/>
          </a:stretch>
        </p:blipFill>
        <p:spPr>
          <a:xfrm>
            <a:off x="338138" y="1190625"/>
            <a:ext cx="8467725" cy="2762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8" name="Shape 308"/>
        <p:cNvGrpSpPr/>
        <p:nvPr/>
      </p:nvGrpSpPr>
      <p:grpSpPr>
        <a:xfrm>
          <a:off x="0" y="0"/>
          <a:ext cx="0" cy="0"/>
          <a:chOff x="0" y="0"/>
          <a:chExt cx="0" cy="0"/>
        </a:xfrm>
      </p:grpSpPr>
      <p:sp>
        <p:nvSpPr>
          <p:cNvPr id="309" name="Google Shape;309;p51"/>
          <p:cNvSpPr txBox="1"/>
          <p:nvPr>
            <p:ph type="title"/>
          </p:nvPr>
        </p:nvSpPr>
        <p:spPr>
          <a:xfrm>
            <a:off x="311700" y="315925"/>
            <a:ext cx="85206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4000"/>
              <a:buFont typeface="Trebuchet MS"/>
              <a:buNone/>
            </a:pPr>
            <a:r>
              <a:rPr b="1" lang="en-US" sz="2400"/>
              <a:t>Encoder decoder Framework of DCRNN</a:t>
            </a:r>
            <a:endParaRPr b="1" sz="2400"/>
          </a:p>
        </p:txBody>
      </p:sp>
      <p:sp>
        <p:nvSpPr>
          <p:cNvPr id="310" name="Google Shape;310;p51"/>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51"/>
          <p:cNvSpPr txBox="1"/>
          <p:nvPr/>
        </p:nvSpPr>
        <p:spPr>
          <a:xfrm>
            <a:off x="789561" y="3537831"/>
            <a:ext cx="488950" cy="808355"/>
          </a:xfrm>
          <a:prstGeom prst="rect">
            <a:avLst/>
          </a:prstGeom>
          <a:solidFill>
            <a:srgbClr val="FCD5B5"/>
          </a:solidFill>
          <a:ln cap="flat" cmpd="sng" w="25400">
            <a:solidFill>
              <a:srgbClr val="FAC090"/>
            </a:solidFill>
            <a:prstDash val="solid"/>
            <a:round/>
            <a:headEnd len="sm" w="sm" type="none"/>
            <a:tailEnd len="sm" w="sm" type="none"/>
          </a:ln>
        </p:spPr>
        <p:txBody>
          <a:bodyPr anchorCtr="0" anchor="t" bIns="0" lIns="0" spcFirstLastPara="1" rIns="0" wrap="square" tIns="78100">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Times New Roman"/>
              <a:ea typeface="Times New Roman"/>
              <a:cs typeface="Times New Roman"/>
              <a:sym typeface="Times New Roman"/>
            </a:endParaRPr>
          </a:p>
          <a:p>
            <a:pPr indent="0" lvl="0" marL="156210" marR="0" rtl="0" algn="l">
              <a:lnSpc>
                <a:spcPct val="100000"/>
              </a:lnSpc>
              <a:spcBef>
                <a:spcPts val="5"/>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1</a:t>
            </a:r>
            <a:endParaRPr b="0" baseline="-25000" i="0" sz="1800" u="none" cap="none" strike="noStrike">
              <a:solidFill>
                <a:srgbClr val="000000"/>
              </a:solidFill>
              <a:latin typeface="Calibri"/>
              <a:ea typeface="Calibri"/>
              <a:cs typeface="Calibri"/>
              <a:sym typeface="Calibri"/>
            </a:endParaRPr>
          </a:p>
        </p:txBody>
      </p:sp>
      <p:grpSp>
        <p:nvGrpSpPr>
          <p:cNvPr id="312" name="Google Shape;312;p51"/>
          <p:cNvGrpSpPr/>
          <p:nvPr/>
        </p:nvGrpSpPr>
        <p:grpSpPr>
          <a:xfrm>
            <a:off x="533463" y="2616648"/>
            <a:ext cx="1010919" cy="540385"/>
            <a:chOff x="533463" y="2616648"/>
            <a:chExt cx="1010919" cy="540385"/>
          </a:xfrm>
        </p:grpSpPr>
        <p:sp>
          <p:nvSpPr>
            <p:cNvPr id="313" name="Google Shape;313;p51"/>
            <p:cNvSpPr/>
            <p:nvPr/>
          </p:nvSpPr>
          <p:spPr>
            <a:xfrm>
              <a:off x="533463" y="2616648"/>
              <a:ext cx="1010919" cy="540385"/>
            </a:xfrm>
            <a:custGeom>
              <a:rect b="b" l="l" r="r" t="t"/>
              <a:pathLst>
                <a:path extrusionOk="0" h="540385" w="1010919">
                  <a:moveTo>
                    <a:pt x="1010364" y="0"/>
                  </a:moveTo>
                  <a:lnTo>
                    <a:pt x="0" y="0"/>
                  </a:lnTo>
                  <a:lnTo>
                    <a:pt x="0" y="539850"/>
                  </a:lnTo>
                  <a:lnTo>
                    <a:pt x="1010364" y="539850"/>
                  </a:lnTo>
                  <a:lnTo>
                    <a:pt x="1010364"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51"/>
            <p:cNvSpPr/>
            <p:nvPr/>
          </p:nvSpPr>
          <p:spPr>
            <a:xfrm>
              <a:off x="533463" y="2616648"/>
              <a:ext cx="1010919" cy="540385"/>
            </a:xfrm>
            <a:custGeom>
              <a:rect b="b" l="l" r="r" t="t"/>
              <a:pathLst>
                <a:path extrusionOk="0" h="540385" w="1010919">
                  <a:moveTo>
                    <a:pt x="0" y="0"/>
                  </a:moveTo>
                  <a:lnTo>
                    <a:pt x="1010365" y="0"/>
                  </a:lnTo>
                  <a:lnTo>
                    <a:pt x="1010365"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15" name="Google Shape;315;p51"/>
          <p:cNvSpPr txBox="1"/>
          <p:nvPr/>
        </p:nvSpPr>
        <p:spPr>
          <a:xfrm>
            <a:off x="546163" y="2724404"/>
            <a:ext cx="985519" cy="299720"/>
          </a:xfrm>
          <a:prstGeom prst="rect">
            <a:avLst/>
          </a:prstGeom>
          <a:noFill/>
          <a:ln>
            <a:noFill/>
          </a:ln>
        </p:spPr>
        <p:txBody>
          <a:bodyPr anchorCtr="0" anchor="t" bIns="0" lIns="0" spcFirstLastPara="1" rIns="0" wrap="square" tIns="12700">
            <a:spAutoFit/>
          </a:bodyPr>
          <a:lstStyle/>
          <a:p>
            <a:pPr indent="0" lvl="0" marL="154305"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sp>
        <p:nvSpPr>
          <p:cNvPr id="316" name="Google Shape;316;p51"/>
          <p:cNvSpPr/>
          <p:nvPr/>
        </p:nvSpPr>
        <p:spPr>
          <a:xfrm>
            <a:off x="999598" y="3156498"/>
            <a:ext cx="76200" cy="381635"/>
          </a:xfrm>
          <a:custGeom>
            <a:rect b="b" l="l" r="r" t="t"/>
            <a:pathLst>
              <a:path extrusionOk="0" h="381635" w="76200">
                <a:moveTo>
                  <a:pt x="33334" y="76134"/>
                </a:moveTo>
                <a:lnTo>
                  <a:pt x="29526" y="381274"/>
                </a:lnTo>
                <a:lnTo>
                  <a:pt x="39050" y="381392"/>
                </a:lnTo>
                <a:lnTo>
                  <a:pt x="42859" y="76253"/>
                </a:lnTo>
                <a:lnTo>
                  <a:pt x="33334" y="76134"/>
                </a:lnTo>
                <a:close/>
              </a:path>
              <a:path extrusionOk="0" h="381635" w="76200">
                <a:moveTo>
                  <a:pt x="69782" y="63436"/>
                </a:moveTo>
                <a:lnTo>
                  <a:pt x="33493" y="63436"/>
                </a:lnTo>
                <a:lnTo>
                  <a:pt x="43017" y="63554"/>
                </a:lnTo>
                <a:lnTo>
                  <a:pt x="42859" y="76253"/>
                </a:lnTo>
                <a:lnTo>
                  <a:pt x="76194" y="76669"/>
                </a:lnTo>
                <a:lnTo>
                  <a:pt x="69782" y="63436"/>
                </a:lnTo>
                <a:close/>
              </a:path>
              <a:path extrusionOk="0" h="381635" w="76200">
                <a:moveTo>
                  <a:pt x="33493" y="63436"/>
                </a:moveTo>
                <a:lnTo>
                  <a:pt x="33334" y="76134"/>
                </a:lnTo>
                <a:lnTo>
                  <a:pt x="42859" y="76253"/>
                </a:lnTo>
                <a:lnTo>
                  <a:pt x="43017" y="63554"/>
                </a:lnTo>
                <a:lnTo>
                  <a:pt x="33493" y="63436"/>
                </a:lnTo>
                <a:close/>
              </a:path>
              <a:path extrusionOk="0" h="381635" w="76200">
                <a:moveTo>
                  <a:pt x="39048" y="0"/>
                </a:moveTo>
                <a:lnTo>
                  <a:pt x="0" y="75718"/>
                </a:lnTo>
                <a:lnTo>
                  <a:pt x="33334" y="76134"/>
                </a:lnTo>
                <a:lnTo>
                  <a:pt x="33493" y="63436"/>
                </a:lnTo>
                <a:lnTo>
                  <a:pt x="69782" y="63436"/>
                </a:lnTo>
                <a:lnTo>
                  <a:pt x="39048" y="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51"/>
          <p:cNvSpPr txBox="1"/>
          <p:nvPr/>
        </p:nvSpPr>
        <p:spPr>
          <a:xfrm>
            <a:off x="2259526" y="3537831"/>
            <a:ext cx="488950" cy="808355"/>
          </a:xfrm>
          <a:prstGeom prst="rect">
            <a:avLst/>
          </a:prstGeom>
          <a:solidFill>
            <a:srgbClr val="FCD5B5"/>
          </a:solidFill>
          <a:ln cap="flat" cmpd="sng" w="25400">
            <a:solidFill>
              <a:srgbClr val="FAC090"/>
            </a:solidFill>
            <a:prstDash val="solid"/>
            <a:round/>
            <a:headEnd len="sm" w="sm" type="none"/>
            <a:tailEnd len="sm" w="sm" type="none"/>
          </a:ln>
        </p:spPr>
        <p:txBody>
          <a:bodyPr anchorCtr="0" anchor="t" bIns="0" lIns="0" spcFirstLastPara="1" rIns="0" wrap="square" tIns="78100">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Times New Roman"/>
              <a:ea typeface="Times New Roman"/>
              <a:cs typeface="Times New Roman"/>
              <a:sym typeface="Times New Roman"/>
            </a:endParaRPr>
          </a:p>
          <a:p>
            <a:pPr indent="0" lvl="0" marL="156210" marR="0" rtl="0" algn="l">
              <a:lnSpc>
                <a:spcPct val="100000"/>
              </a:lnSpc>
              <a:spcBef>
                <a:spcPts val="5"/>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2</a:t>
            </a:r>
            <a:endParaRPr b="0" baseline="-25000" i="0" sz="1800" u="none" cap="none" strike="noStrike">
              <a:solidFill>
                <a:srgbClr val="000000"/>
              </a:solidFill>
              <a:latin typeface="Calibri"/>
              <a:ea typeface="Calibri"/>
              <a:cs typeface="Calibri"/>
              <a:sym typeface="Calibri"/>
            </a:endParaRPr>
          </a:p>
        </p:txBody>
      </p:sp>
      <p:grpSp>
        <p:nvGrpSpPr>
          <p:cNvPr id="318" name="Google Shape;318;p51"/>
          <p:cNvGrpSpPr/>
          <p:nvPr/>
        </p:nvGrpSpPr>
        <p:grpSpPr>
          <a:xfrm>
            <a:off x="1987571" y="2616649"/>
            <a:ext cx="1024890" cy="540385"/>
            <a:chOff x="1987571" y="2616649"/>
            <a:chExt cx="1024890" cy="540385"/>
          </a:xfrm>
        </p:grpSpPr>
        <p:sp>
          <p:nvSpPr>
            <p:cNvPr id="319" name="Google Shape;319;p51"/>
            <p:cNvSpPr/>
            <p:nvPr/>
          </p:nvSpPr>
          <p:spPr>
            <a:xfrm>
              <a:off x="1987571" y="2616649"/>
              <a:ext cx="1024890" cy="540385"/>
            </a:xfrm>
            <a:custGeom>
              <a:rect b="b" l="l" r="r" t="t"/>
              <a:pathLst>
                <a:path extrusionOk="0" h="540385" w="1024889">
                  <a:moveTo>
                    <a:pt x="1024710" y="0"/>
                  </a:moveTo>
                  <a:lnTo>
                    <a:pt x="0" y="0"/>
                  </a:lnTo>
                  <a:lnTo>
                    <a:pt x="0" y="539850"/>
                  </a:lnTo>
                  <a:lnTo>
                    <a:pt x="1024710" y="539850"/>
                  </a:lnTo>
                  <a:lnTo>
                    <a:pt x="1024710"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51"/>
            <p:cNvSpPr/>
            <p:nvPr/>
          </p:nvSpPr>
          <p:spPr>
            <a:xfrm>
              <a:off x="1987571" y="2616649"/>
              <a:ext cx="1024890" cy="540385"/>
            </a:xfrm>
            <a:custGeom>
              <a:rect b="b" l="l" r="r" t="t"/>
              <a:pathLst>
                <a:path extrusionOk="0" h="540385" w="1024889">
                  <a:moveTo>
                    <a:pt x="0" y="0"/>
                  </a:moveTo>
                  <a:lnTo>
                    <a:pt x="1024710" y="0"/>
                  </a:lnTo>
                  <a:lnTo>
                    <a:pt x="1024710"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21" name="Google Shape;321;p51"/>
          <p:cNvSpPr txBox="1"/>
          <p:nvPr/>
        </p:nvSpPr>
        <p:spPr>
          <a:xfrm>
            <a:off x="2000271" y="2724404"/>
            <a:ext cx="999490" cy="299720"/>
          </a:xfrm>
          <a:prstGeom prst="rect">
            <a:avLst/>
          </a:prstGeom>
          <a:noFill/>
          <a:ln>
            <a:noFill/>
          </a:ln>
        </p:spPr>
        <p:txBody>
          <a:bodyPr anchorCtr="0" anchor="t" bIns="0" lIns="0" spcFirstLastPara="1" rIns="0" wrap="square" tIns="12700">
            <a:spAutoFit/>
          </a:bodyPr>
          <a:lstStyle/>
          <a:p>
            <a:pPr indent="0" lvl="0" marL="16129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sp>
        <p:nvSpPr>
          <p:cNvPr id="322" name="Google Shape;322;p51"/>
          <p:cNvSpPr/>
          <p:nvPr/>
        </p:nvSpPr>
        <p:spPr>
          <a:xfrm>
            <a:off x="2462613" y="3156499"/>
            <a:ext cx="76200" cy="381635"/>
          </a:xfrm>
          <a:custGeom>
            <a:rect b="b" l="l" r="r" t="t"/>
            <a:pathLst>
              <a:path extrusionOk="0" h="381635" w="76200">
                <a:moveTo>
                  <a:pt x="42859" y="76147"/>
                </a:moveTo>
                <a:lnTo>
                  <a:pt x="33334" y="76245"/>
                </a:lnTo>
                <a:lnTo>
                  <a:pt x="36476" y="381381"/>
                </a:lnTo>
                <a:lnTo>
                  <a:pt x="46001" y="381283"/>
                </a:lnTo>
                <a:lnTo>
                  <a:pt x="42859" y="76147"/>
                </a:lnTo>
                <a:close/>
              </a:path>
              <a:path extrusionOk="0" h="381635" w="76200">
                <a:moveTo>
                  <a:pt x="37312" y="0"/>
                </a:moveTo>
                <a:lnTo>
                  <a:pt x="0" y="76588"/>
                </a:lnTo>
                <a:lnTo>
                  <a:pt x="33334" y="76245"/>
                </a:lnTo>
                <a:lnTo>
                  <a:pt x="33204" y="63545"/>
                </a:lnTo>
                <a:lnTo>
                  <a:pt x="42729" y="63447"/>
                </a:lnTo>
                <a:lnTo>
                  <a:pt x="69857" y="63447"/>
                </a:lnTo>
                <a:lnTo>
                  <a:pt x="37312" y="0"/>
                </a:lnTo>
                <a:close/>
              </a:path>
              <a:path extrusionOk="0" h="381635" w="76200">
                <a:moveTo>
                  <a:pt x="42729" y="63447"/>
                </a:moveTo>
                <a:lnTo>
                  <a:pt x="33204" y="63545"/>
                </a:lnTo>
                <a:lnTo>
                  <a:pt x="33334" y="76245"/>
                </a:lnTo>
                <a:lnTo>
                  <a:pt x="42859" y="76147"/>
                </a:lnTo>
                <a:lnTo>
                  <a:pt x="42729" y="63447"/>
                </a:lnTo>
                <a:close/>
              </a:path>
              <a:path extrusionOk="0" h="381635" w="76200">
                <a:moveTo>
                  <a:pt x="69857" y="63447"/>
                </a:moveTo>
                <a:lnTo>
                  <a:pt x="42729" y="63447"/>
                </a:lnTo>
                <a:lnTo>
                  <a:pt x="42859" y="76147"/>
                </a:lnTo>
                <a:lnTo>
                  <a:pt x="76194" y="75803"/>
                </a:lnTo>
                <a:lnTo>
                  <a:pt x="69857" y="63447"/>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51"/>
          <p:cNvSpPr txBox="1"/>
          <p:nvPr/>
        </p:nvSpPr>
        <p:spPr>
          <a:xfrm>
            <a:off x="3779630" y="3538550"/>
            <a:ext cx="505459" cy="808355"/>
          </a:xfrm>
          <a:prstGeom prst="rect">
            <a:avLst/>
          </a:prstGeom>
          <a:solidFill>
            <a:srgbClr val="FCD5B5"/>
          </a:solidFill>
          <a:ln cap="flat" cmpd="sng" w="25400">
            <a:solidFill>
              <a:srgbClr val="FAC090"/>
            </a:solidFill>
            <a:prstDash val="solid"/>
            <a:round/>
            <a:headEnd len="sm" w="sm" type="none"/>
            <a:tailEnd len="sm" w="sm" type="none"/>
          </a:ln>
        </p:spPr>
        <p:txBody>
          <a:bodyPr anchorCtr="0" anchor="t" bIns="0" lIns="0" spcFirstLastPara="1" rIns="0" wrap="square" tIns="77450">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Times New Roman"/>
              <a:ea typeface="Times New Roman"/>
              <a:cs typeface="Times New Roman"/>
              <a:sym typeface="Times New Roman"/>
            </a:endParaRPr>
          </a:p>
          <a:p>
            <a:pPr indent="0" lvl="0" marL="164465"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3</a:t>
            </a:r>
            <a:endParaRPr b="0" baseline="-25000" i="0" sz="1800" u="none" cap="none" strike="noStrike">
              <a:solidFill>
                <a:srgbClr val="000000"/>
              </a:solidFill>
              <a:latin typeface="Calibri"/>
              <a:ea typeface="Calibri"/>
              <a:cs typeface="Calibri"/>
              <a:sym typeface="Calibri"/>
            </a:endParaRPr>
          </a:p>
        </p:txBody>
      </p:sp>
      <p:grpSp>
        <p:nvGrpSpPr>
          <p:cNvPr id="324" name="Google Shape;324;p51"/>
          <p:cNvGrpSpPr/>
          <p:nvPr/>
        </p:nvGrpSpPr>
        <p:grpSpPr>
          <a:xfrm>
            <a:off x="3553640" y="2617367"/>
            <a:ext cx="971550" cy="540385"/>
            <a:chOff x="3553640" y="2617367"/>
            <a:chExt cx="971550" cy="540385"/>
          </a:xfrm>
        </p:grpSpPr>
        <p:sp>
          <p:nvSpPr>
            <p:cNvPr id="325" name="Google Shape;325;p51"/>
            <p:cNvSpPr/>
            <p:nvPr/>
          </p:nvSpPr>
          <p:spPr>
            <a:xfrm>
              <a:off x="3553640" y="2617367"/>
              <a:ext cx="971550" cy="540385"/>
            </a:xfrm>
            <a:custGeom>
              <a:rect b="b" l="l" r="r" t="t"/>
              <a:pathLst>
                <a:path extrusionOk="0" h="540385" w="971550">
                  <a:moveTo>
                    <a:pt x="971064" y="0"/>
                  </a:moveTo>
                  <a:lnTo>
                    <a:pt x="0" y="0"/>
                  </a:lnTo>
                  <a:lnTo>
                    <a:pt x="0" y="539850"/>
                  </a:lnTo>
                  <a:lnTo>
                    <a:pt x="971064" y="539850"/>
                  </a:lnTo>
                  <a:lnTo>
                    <a:pt x="971064"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51"/>
            <p:cNvSpPr/>
            <p:nvPr/>
          </p:nvSpPr>
          <p:spPr>
            <a:xfrm>
              <a:off x="3553640" y="2617367"/>
              <a:ext cx="971550" cy="540385"/>
            </a:xfrm>
            <a:custGeom>
              <a:rect b="b" l="l" r="r" t="t"/>
              <a:pathLst>
                <a:path extrusionOk="0" h="540385" w="971550">
                  <a:moveTo>
                    <a:pt x="0" y="0"/>
                  </a:moveTo>
                  <a:lnTo>
                    <a:pt x="971065" y="0"/>
                  </a:lnTo>
                  <a:lnTo>
                    <a:pt x="971065"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27" name="Google Shape;327;p51"/>
          <p:cNvSpPr txBox="1"/>
          <p:nvPr/>
        </p:nvSpPr>
        <p:spPr>
          <a:xfrm>
            <a:off x="3566340" y="2724404"/>
            <a:ext cx="946150" cy="299720"/>
          </a:xfrm>
          <a:prstGeom prst="rect">
            <a:avLst/>
          </a:prstGeom>
          <a:noFill/>
          <a:ln>
            <a:noFill/>
          </a:ln>
        </p:spPr>
        <p:txBody>
          <a:bodyPr anchorCtr="0" anchor="t" bIns="0" lIns="0" spcFirstLastPara="1" rIns="0" wrap="square" tIns="12700">
            <a:spAutoFit/>
          </a:bodyPr>
          <a:lstStyle/>
          <a:p>
            <a:pPr indent="0" lvl="0" marL="13462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grpSp>
        <p:nvGrpSpPr>
          <p:cNvPr id="328" name="Google Shape;328;p51"/>
          <p:cNvGrpSpPr/>
          <p:nvPr/>
        </p:nvGrpSpPr>
        <p:grpSpPr>
          <a:xfrm>
            <a:off x="1543824" y="1465451"/>
            <a:ext cx="4212292" cy="2073276"/>
            <a:chOff x="1543824" y="1465451"/>
            <a:chExt cx="4212292" cy="2073276"/>
          </a:xfrm>
        </p:grpSpPr>
        <p:sp>
          <p:nvSpPr>
            <p:cNvPr id="329" name="Google Shape;329;p51"/>
            <p:cNvSpPr/>
            <p:nvPr/>
          </p:nvSpPr>
          <p:spPr>
            <a:xfrm>
              <a:off x="1543824" y="2848482"/>
              <a:ext cx="2532380" cy="690245"/>
            </a:xfrm>
            <a:custGeom>
              <a:rect b="b" l="l" r="r" t="t"/>
              <a:pathLst>
                <a:path extrusionOk="0" h="690245" w="2532379">
                  <a:moveTo>
                    <a:pt x="443738" y="38100"/>
                  </a:moveTo>
                  <a:lnTo>
                    <a:pt x="434213" y="33337"/>
                  </a:lnTo>
                  <a:lnTo>
                    <a:pt x="367538" y="0"/>
                  </a:lnTo>
                  <a:lnTo>
                    <a:pt x="367538" y="33337"/>
                  </a:lnTo>
                  <a:lnTo>
                    <a:pt x="0" y="33337"/>
                  </a:lnTo>
                  <a:lnTo>
                    <a:pt x="0" y="42862"/>
                  </a:lnTo>
                  <a:lnTo>
                    <a:pt x="367538" y="42862"/>
                  </a:lnTo>
                  <a:lnTo>
                    <a:pt x="367538" y="76200"/>
                  </a:lnTo>
                  <a:lnTo>
                    <a:pt x="434213" y="42862"/>
                  </a:lnTo>
                  <a:lnTo>
                    <a:pt x="443738" y="38100"/>
                  </a:lnTo>
                  <a:close/>
                </a:path>
                <a:path extrusionOk="0" h="690245" w="2532379">
                  <a:moveTo>
                    <a:pt x="2532075" y="385610"/>
                  </a:moveTo>
                  <a:lnTo>
                    <a:pt x="2525636" y="372148"/>
                  </a:lnTo>
                  <a:lnTo>
                    <a:pt x="2495346" y="308737"/>
                  </a:lnTo>
                  <a:lnTo>
                    <a:pt x="2455888" y="384238"/>
                  </a:lnTo>
                  <a:lnTo>
                    <a:pt x="2489212" y="384848"/>
                  </a:lnTo>
                  <a:lnTo>
                    <a:pt x="2483739" y="689991"/>
                  </a:lnTo>
                  <a:lnTo>
                    <a:pt x="2493264" y="690156"/>
                  </a:lnTo>
                  <a:lnTo>
                    <a:pt x="2498737" y="385013"/>
                  </a:lnTo>
                  <a:lnTo>
                    <a:pt x="2532075" y="38561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51"/>
            <p:cNvSpPr/>
            <p:nvPr/>
          </p:nvSpPr>
          <p:spPr>
            <a:xfrm>
              <a:off x="5220811" y="1465451"/>
              <a:ext cx="535305" cy="794385"/>
            </a:xfrm>
            <a:custGeom>
              <a:rect b="b" l="l" r="r" t="t"/>
              <a:pathLst>
                <a:path extrusionOk="0" h="794385" w="535304">
                  <a:moveTo>
                    <a:pt x="535119" y="0"/>
                  </a:moveTo>
                  <a:lnTo>
                    <a:pt x="0" y="0"/>
                  </a:lnTo>
                  <a:lnTo>
                    <a:pt x="0" y="794123"/>
                  </a:lnTo>
                  <a:lnTo>
                    <a:pt x="535119" y="794123"/>
                  </a:lnTo>
                  <a:lnTo>
                    <a:pt x="535119" y="0"/>
                  </a:lnTo>
                  <a:close/>
                </a:path>
              </a:pathLst>
            </a:custGeom>
            <a:solidFill>
              <a:srgbClr val="8EB4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51"/>
            <p:cNvSpPr/>
            <p:nvPr/>
          </p:nvSpPr>
          <p:spPr>
            <a:xfrm>
              <a:off x="5220811" y="1465451"/>
              <a:ext cx="535305" cy="794385"/>
            </a:xfrm>
            <a:custGeom>
              <a:rect b="b" l="l" r="r" t="t"/>
              <a:pathLst>
                <a:path extrusionOk="0" h="794385" w="535304">
                  <a:moveTo>
                    <a:pt x="0" y="0"/>
                  </a:moveTo>
                  <a:lnTo>
                    <a:pt x="535120" y="0"/>
                  </a:lnTo>
                  <a:lnTo>
                    <a:pt x="535120" y="794123"/>
                  </a:lnTo>
                  <a:lnTo>
                    <a:pt x="0" y="794123"/>
                  </a:lnTo>
                  <a:lnTo>
                    <a:pt x="0" y="0"/>
                  </a:lnTo>
                  <a:close/>
                </a:path>
              </a:pathLst>
            </a:custGeom>
            <a:noFill/>
            <a:ln cap="flat" cmpd="sng" w="25400">
              <a:solidFill>
                <a:srgbClr val="558ED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32" name="Google Shape;332;p51"/>
          <p:cNvSpPr txBox="1"/>
          <p:nvPr/>
        </p:nvSpPr>
        <p:spPr>
          <a:xfrm>
            <a:off x="5351846" y="1700276"/>
            <a:ext cx="27305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4</a:t>
            </a:r>
            <a:endParaRPr b="0" baseline="-25000" i="0" sz="1800" u="none" cap="none" strike="noStrike">
              <a:solidFill>
                <a:srgbClr val="000000"/>
              </a:solidFill>
              <a:latin typeface="Calibri"/>
              <a:ea typeface="Calibri"/>
              <a:cs typeface="Calibri"/>
              <a:sym typeface="Calibri"/>
            </a:endParaRPr>
          </a:p>
        </p:txBody>
      </p:sp>
      <p:grpSp>
        <p:nvGrpSpPr>
          <p:cNvPr id="333" name="Google Shape;333;p51"/>
          <p:cNvGrpSpPr/>
          <p:nvPr/>
        </p:nvGrpSpPr>
        <p:grpSpPr>
          <a:xfrm>
            <a:off x="5040678" y="2617363"/>
            <a:ext cx="903605" cy="540385"/>
            <a:chOff x="5040678" y="2617363"/>
            <a:chExt cx="903605" cy="540385"/>
          </a:xfrm>
        </p:grpSpPr>
        <p:sp>
          <p:nvSpPr>
            <p:cNvPr id="334" name="Google Shape;334;p51"/>
            <p:cNvSpPr/>
            <p:nvPr/>
          </p:nvSpPr>
          <p:spPr>
            <a:xfrm>
              <a:off x="5040678" y="2617363"/>
              <a:ext cx="903605" cy="540385"/>
            </a:xfrm>
            <a:custGeom>
              <a:rect b="b" l="l" r="r" t="t"/>
              <a:pathLst>
                <a:path extrusionOk="0" h="540385" w="903604">
                  <a:moveTo>
                    <a:pt x="903533" y="0"/>
                  </a:moveTo>
                  <a:lnTo>
                    <a:pt x="0" y="0"/>
                  </a:lnTo>
                  <a:lnTo>
                    <a:pt x="0" y="539850"/>
                  </a:lnTo>
                  <a:lnTo>
                    <a:pt x="903533" y="539850"/>
                  </a:lnTo>
                  <a:lnTo>
                    <a:pt x="903533"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51"/>
            <p:cNvSpPr/>
            <p:nvPr/>
          </p:nvSpPr>
          <p:spPr>
            <a:xfrm>
              <a:off x="5040678" y="2617363"/>
              <a:ext cx="903605" cy="540385"/>
            </a:xfrm>
            <a:custGeom>
              <a:rect b="b" l="l" r="r" t="t"/>
              <a:pathLst>
                <a:path extrusionOk="0" h="540385" w="903604">
                  <a:moveTo>
                    <a:pt x="0" y="0"/>
                  </a:moveTo>
                  <a:lnTo>
                    <a:pt x="903534" y="0"/>
                  </a:lnTo>
                  <a:lnTo>
                    <a:pt x="903534"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36" name="Google Shape;336;p51"/>
          <p:cNvSpPr txBox="1"/>
          <p:nvPr/>
        </p:nvSpPr>
        <p:spPr>
          <a:xfrm>
            <a:off x="5141829" y="2724404"/>
            <a:ext cx="7023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grpSp>
        <p:nvGrpSpPr>
          <p:cNvPr id="337" name="Google Shape;337;p51"/>
          <p:cNvGrpSpPr/>
          <p:nvPr/>
        </p:nvGrpSpPr>
        <p:grpSpPr>
          <a:xfrm>
            <a:off x="5451140" y="1466061"/>
            <a:ext cx="1687287" cy="1151654"/>
            <a:chOff x="5451140" y="1466061"/>
            <a:chExt cx="1687287" cy="1151654"/>
          </a:xfrm>
        </p:grpSpPr>
        <p:sp>
          <p:nvSpPr>
            <p:cNvPr id="338" name="Google Shape;338;p51"/>
            <p:cNvSpPr/>
            <p:nvPr/>
          </p:nvSpPr>
          <p:spPr>
            <a:xfrm>
              <a:off x="5451140" y="2259575"/>
              <a:ext cx="76200" cy="358140"/>
            </a:xfrm>
            <a:custGeom>
              <a:rect b="b" l="l" r="r" t="t"/>
              <a:pathLst>
                <a:path extrusionOk="0" h="358139" w="76200">
                  <a:moveTo>
                    <a:pt x="42859" y="76140"/>
                  </a:moveTo>
                  <a:lnTo>
                    <a:pt x="33334" y="76249"/>
                  </a:lnTo>
                  <a:lnTo>
                    <a:pt x="36541" y="357841"/>
                  </a:lnTo>
                  <a:lnTo>
                    <a:pt x="46066" y="357733"/>
                  </a:lnTo>
                  <a:lnTo>
                    <a:pt x="42859" y="76140"/>
                  </a:lnTo>
                  <a:close/>
                </a:path>
                <a:path extrusionOk="0" h="358139" w="76200">
                  <a:moveTo>
                    <a:pt x="37230" y="0"/>
                  </a:moveTo>
                  <a:lnTo>
                    <a:pt x="0" y="76629"/>
                  </a:lnTo>
                  <a:lnTo>
                    <a:pt x="33334" y="76249"/>
                  </a:lnTo>
                  <a:lnTo>
                    <a:pt x="33190" y="63549"/>
                  </a:lnTo>
                  <a:lnTo>
                    <a:pt x="42715" y="63441"/>
                  </a:lnTo>
                  <a:lnTo>
                    <a:pt x="69859" y="63441"/>
                  </a:lnTo>
                  <a:lnTo>
                    <a:pt x="37230" y="0"/>
                  </a:lnTo>
                  <a:close/>
                </a:path>
                <a:path extrusionOk="0" h="358139" w="76200">
                  <a:moveTo>
                    <a:pt x="42715" y="63441"/>
                  </a:moveTo>
                  <a:lnTo>
                    <a:pt x="33190" y="63549"/>
                  </a:lnTo>
                  <a:lnTo>
                    <a:pt x="33334" y="76249"/>
                  </a:lnTo>
                  <a:lnTo>
                    <a:pt x="42859" y="76140"/>
                  </a:lnTo>
                  <a:lnTo>
                    <a:pt x="42715" y="63441"/>
                  </a:lnTo>
                  <a:close/>
                </a:path>
                <a:path extrusionOk="0" h="358139" w="76200">
                  <a:moveTo>
                    <a:pt x="69859" y="63441"/>
                  </a:moveTo>
                  <a:lnTo>
                    <a:pt x="42715" y="63441"/>
                  </a:lnTo>
                  <a:lnTo>
                    <a:pt x="42859" y="76140"/>
                  </a:lnTo>
                  <a:lnTo>
                    <a:pt x="76194" y="75760"/>
                  </a:lnTo>
                  <a:lnTo>
                    <a:pt x="69859" y="63441"/>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51"/>
            <p:cNvSpPr/>
            <p:nvPr/>
          </p:nvSpPr>
          <p:spPr>
            <a:xfrm>
              <a:off x="6677418" y="1466061"/>
              <a:ext cx="461009" cy="794385"/>
            </a:xfrm>
            <a:custGeom>
              <a:rect b="b" l="l" r="r" t="t"/>
              <a:pathLst>
                <a:path extrusionOk="0" h="794385" w="461009">
                  <a:moveTo>
                    <a:pt x="460691" y="0"/>
                  </a:moveTo>
                  <a:lnTo>
                    <a:pt x="0" y="0"/>
                  </a:lnTo>
                  <a:lnTo>
                    <a:pt x="0" y="794122"/>
                  </a:lnTo>
                  <a:lnTo>
                    <a:pt x="460691" y="794122"/>
                  </a:lnTo>
                  <a:lnTo>
                    <a:pt x="460691" y="0"/>
                  </a:lnTo>
                  <a:close/>
                </a:path>
              </a:pathLst>
            </a:custGeom>
            <a:solidFill>
              <a:srgbClr val="8EB4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51"/>
            <p:cNvSpPr/>
            <p:nvPr/>
          </p:nvSpPr>
          <p:spPr>
            <a:xfrm>
              <a:off x="6677418" y="1466061"/>
              <a:ext cx="461009" cy="794385"/>
            </a:xfrm>
            <a:custGeom>
              <a:rect b="b" l="l" r="r" t="t"/>
              <a:pathLst>
                <a:path extrusionOk="0" h="794385" w="461009">
                  <a:moveTo>
                    <a:pt x="0" y="0"/>
                  </a:moveTo>
                  <a:lnTo>
                    <a:pt x="460692" y="0"/>
                  </a:lnTo>
                  <a:lnTo>
                    <a:pt x="460692" y="794123"/>
                  </a:lnTo>
                  <a:lnTo>
                    <a:pt x="0" y="794123"/>
                  </a:lnTo>
                  <a:lnTo>
                    <a:pt x="0" y="0"/>
                  </a:lnTo>
                  <a:close/>
                </a:path>
              </a:pathLst>
            </a:custGeom>
            <a:noFill/>
            <a:ln cap="flat" cmpd="sng" w="25400">
              <a:solidFill>
                <a:srgbClr val="558ED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41" name="Google Shape;341;p51"/>
          <p:cNvSpPr txBox="1"/>
          <p:nvPr/>
        </p:nvSpPr>
        <p:spPr>
          <a:xfrm>
            <a:off x="6771238" y="1700276"/>
            <a:ext cx="27305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5</a:t>
            </a:r>
            <a:endParaRPr b="0" baseline="-25000" i="0" sz="1800" u="none" cap="none" strike="noStrike">
              <a:solidFill>
                <a:srgbClr val="000000"/>
              </a:solidFill>
              <a:latin typeface="Calibri"/>
              <a:ea typeface="Calibri"/>
              <a:cs typeface="Calibri"/>
              <a:sym typeface="Calibri"/>
            </a:endParaRPr>
          </a:p>
        </p:txBody>
      </p:sp>
      <p:grpSp>
        <p:nvGrpSpPr>
          <p:cNvPr id="342" name="Google Shape;342;p51"/>
          <p:cNvGrpSpPr/>
          <p:nvPr/>
        </p:nvGrpSpPr>
        <p:grpSpPr>
          <a:xfrm>
            <a:off x="6448394" y="2617971"/>
            <a:ext cx="925830" cy="540385"/>
            <a:chOff x="6448394" y="2617971"/>
            <a:chExt cx="925830" cy="540385"/>
          </a:xfrm>
        </p:grpSpPr>
        <p:sp>
          <p:nvSpPr>
            <p:cNvPr id="343" name="Google Shape;343;p51"/>
            <p:cNvSpPr/>
            <p:nvPr/>
          </p:nvSpPr>
          <p:spPr>
            <a:xfrm>
              <a:off x="6448394" y="2617971"/>
              <a:ext cx="925830" cy="540385"/>
            </a:xfrm>
            <a:custGeom>
              <a:rect b="b" l="l" r="r" t="t"/>
              <a:pathLst>
                <a:path extrusionOk="0" h="540385" w="925829">
                  <a:moveTo>
                    <a:pt x="925780" y="0"/>
                  </a:moveTo>
                  <a:lnTo>
                    <a:pt x="0" y="0"/>
                  </a:lnTo>
                  <a:lnTo>
                    <a:pt x="0" y="539851"/>
                  </a:lnTo>
                  <a:lnTo>
                    <a:pt x="925780" y="539851"/>
                  </a:lnTo>
                  <a:lnTo>
                    <a:pt x="925780"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51"/>
            <p:cNvSpPr/>
            <p:nvPr/>
          </p:nvSpPr>
          <p:spPr>
            <a:xfrm>
              <a:off x="6448394" y="2617971"/>
              <a:ext cx="925830" cy="540385"/>
            </a:xfrm>
            <a:custGeom>
              <a:rect b="b" l="l" r="r" t="t"/>
              <a:pathLst>
                <a:path extrusionOk="0" h="540385" w="925829">
                  <a:moveTo>
                    <a:pt x="0" y="0"/>
                  </a:moveTo>
                  <a:lnTo>
                    <a:pt x="925780" y="0"/>
                  </a:lnTo>
                  <a:lnTo>
                    <a:pt x="925780"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45" name="Google Shape;345;p51"/>
          <p:cNvSpPr txBox="1"/>
          <p:nvPr/>
        </p:nvSpPr>
        <p:spPr>
          <a:xfrm>
            <a:off x="6560668" y="2724404"/>
            <a:ext cx="7023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grpSp>
        <p:nvGrpSpPr>
          <p:cNvPr id="346" name="Google Shape;346;p51"/>
          <p:cNvGrpSpPr/>
          <p:nvPr/>
        </p:nvGrpSpPr>
        <p:grpSpPr>
          <a:xfrm>
            <a:off x="6870417" y="1466778"/>
            <a:ext cx="1722098" cy="1151545"/>
            <a:chOff x="6870417" y="1466778"/>
            <a:chExt cx="1722098" cy="1151545"/>
          </a:xfrm>
        </p:grpSpPr>
        <p:sp>
          <p:nvSpPr>
            <p:cNvPr id="347" name="Google Shape;347;p51"/>
            <p:cNvSpPr/>
            <p:nvPr/>
          </p:nvSpPr>
          <p:spPr>
            <a:xfrm>
              <a:off x="6870417" y="2260183"/>
              <a:ext cx="76200" cy="358140"/>
            </a:xfrm>
            <a:custGeom>
              <a:rect b="b" l="l" r="r" t="t"/>
              <a:pathLst>
                <a:path extrusionOk="0" h="358139" w="76200">
                  <a:moveTo>
                    <a:pt x="42860" y="76149"/>
                  </a:moveTo>
                  <a:lnTo>
                    <a:pt x="33335" y="76243"/>
                  </a:lnTo>
                  <a:lnTo>
                    <a:pt x="36106" y="357835"/>
                  </a:lnTo>
                  <a:lnTo>
                    <a:pt x="45629" y="357741"/>
                  </a:lnTo>
                  <a:lnTo>
                    <a:pt x="42860" y="76149"/>
                  </a:lnTo>
                  <a:close/>
                </a:path>
                <a:path extrusionOk="0" h="358139" w="76200">
                  <a:moveTo>
                    <a:pt x="37348" y="0"/>
                  </a:moveTo>
                  <a:lnTo>
                    <a:pt x="0" y="76572"/>
                  </a:lnTo>
                  <a:lnTo>
                    <a:pt x="33335" y="76243"/>
                  </a:lnTo>
                  <a:lnTo>
                    <a:pt x="33210" y="63544"/>
                  </a:lnTo>
                  <a:lnTo>
                    <a:pt x="69857" y="63450"/>
                  </a:lnTo>
                  <a:lnTo>
                    <a:pt x="37348" y="0"/>
                  </a:lnTo>
                  <a:close/>
                </a:path>
                <a:path extrusionOk="0" h="358139" w="76200">
                  <a:moveTo>
                    <a:pt x="42735" y="63450"/>
                  </a:moveTo>
                  <a:lnTo>
                    <a:pt x="33210" y="63544"/>
                  </a:lnTo>
                  <a:lnTo>
                    <a:pt x="33335" y="76243"/>
                  </a:lnTo>
                  <a:lnTo>
                    <a:pt x="42860" y="76149"/>
                  </a:lnTo>
                  <a:lnTo>
                    <a:pt x="42735" y="63450"/>
                  </a:lnTo>
                  <a:close/>
                </a:path>
                <a:path extrusionOk="0" h="358139" w="76200">
                  <a:moveTo>
                    <a:pt x="69857" y="63450"/>
                  </a:moveTo>
                  <a:lnTo>
                    <a:pt x="42735" y="63450"/>
                  </a:lnTo>
                  <a:lnTo>
                    <a:pt x="42860" y="76149"/>
                  </a:lnTo>
                  <a:lnTo>
                    <a:pt x="76196" y="75821"/>
                  </a:lnTo>
                  <a:lnTo>
                    <a:pt x="69857" y="6345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51"/>
            <p:cNvSpPr/>
            <p:nvPr/>
          </p:nvSpPr>
          <p:spPr>
            <a:xfrm>
              <a:off x="8116265" y="1466778"/>
              <a:ext cx="476250" cy="794385"/>
            </a:xfrm>
            <a:custGeom>
              <a:rect b="b" l="l" r="r" t="t"/>
              <a:pathLst>
                <a:path extrusionOk="0" h="794385" w="476250">
                  <a:moveTo>
                    <a:pt x="476227" y="0"/>
                  </a:moveTo>
                  <a:lnTo>
                    <a:pt x="0" y="0"/>
                  </a:lnTo>
                  <a:lnTo>
                    <a:pt x="0" y="794123"/>
                  </a:lnTo>
                  <a:lnTo>
                    <a:pt x="476227" y="794123"/>
                  </a:lnTo>
                  <a:lnTo>
                    <a:pt x="476227" y="0"/>
                  </a:lnTo>
                  <a:close/>
                </a:path>
              </a:pathLst>
            </a:custGeom>
            <a:solidFill>
              <a:srgbClr val="8EB4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51"/>
            <p:cNvSpPr/>
            <p:nvPr/>
          </p:nvSpPr>
          <p:spPr>
            <a:xfrm>
              <a:off x="8116265" y="1466778"/>
              <a:ext cx="476250" cy="794385"/>
            </a:xfrm>
            <a:custGeom>
              <a:rect b="b" l="l" r="r" t="t"/>
              <a:pathLst>
                <a:path extrusionOk="0" h="794385" w="476250">
                  <a:moveTo>
                    <a:pt x="0" y="0"/>
                  </a:moveTo>
                  <a:lnTo>
                    <a:pt x="476228" y="0"/>
                  </a:lnTo>
                  <a:lnTo>
                    <a:pt x="476228" y="794123"/>
                  </a:lnTo>
                  <a:lnTo>
                    <a:pt x="0" y="794123"/>
                  </a:lnTo>
                  <a:lnTo>
                    <a:pt x="0" y="0"/>
                  </a:lnTo>
                  <a:close/>
                </a:path>
              </a:pathLst>
            </a:custGeom>
            <a:noFill/>
            <a:ln cap="flat" cmpd="sng" w="25400">
              <a:solidFill>
                <a:srgbClr val="558ED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0" name="Google Shape;350;p51"/>
          <p:cNvSpPr txBox="1"/>
          <p:nvPr/>
        </p:nvSpPr>
        <p:spPr>
          <a:xfrm>
            <a:off x="8217853" y="1700276"/>
            <a:ext cx="27305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6</a:t>
            </a:r>
            <a:endParaRPr b="0" baseline="-25000" i="0" sz="1800" u="none" cap="none" strike="noStrike">
              <a:solidFill>
                <a:srgbClr val="000000"/>
              </a:solidFill>
              <a:latin typeface="Calibri"/>
              <a:ea typeface="Calibri"/>
              <a:cs typeface="Calibri"/>
              <a:sym typeface="Calibri"/>
            </a:endParaRPr>
          </a:p>
        </p:txBody>
      </p:sp>
      <p:grpSp>
        <p:nvGrpSpPr>
          <p:cNvPr id="351" name="Google Shape;351;p51"/>
          <p:cNvGrpSpPr/>
          <p:nvPr/>
        </p:nvGrpSpPr>
        <p:grpSpPr>
          <a:xfrm>
            <a:off x="7888424" y="2618690"/>
            <a:ext cx="943610" cy="540385"/>
            <a:chOff x="7888424" y="2618690"/>
            <a:chExt cx="943610" cy="540385"/>
          </a:xfrm>
        </p:grpSpPr>
        <p:sp>
          <p:nvSpPr>
            <p:cNvPr id="352" name="Google Shape;352;p51"/>
            <p:cNvSpPr/>
            <p:nvPr/>
          </p:nvSpPr>
          <p:spPr>
            <a:xfrm>
              <a:off x="7888424" y="2618690"/>
              <a:ext cx="943610" cy="540385"/>
            </a:xfrm>
            <a:custGeom>
              <a:rect b="b" l="l" r="r" t="t"/>
              <a:pathLst>
                <a:path extrusionOk="0" h="540385" w="943609">
                  <a:moveTo>
                    <a:pt x="943165" y="0"/>
                  </a:moveTo>
                  <a:lnTo>
                    <a:pt x="0" y="0"/>
                  </a:lnTo>
                  <a:lnTo>
                    <a:pt x="0" y="539850"/>
                  </a:lnTo>
                  <a:lnTo>
                    <a:pt x="943165" y="539850"/>
                  </a:lnTo>
                  <a:lnTo>
                    <a:pt x="943165" y="0"/>
                  </a:lnTo>
                  <a:close/>
                </a:path>
              </a:pathLst>
            </a:custGeom>
            <a:solidFill>
              <a:srgbClr val="C3D6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51"/>
            <p:cNvSpPr/>
            <p:nvPr/>
          </p:nvSpPr>
          <p:spPr>
            <a:xfrm>
              <a:off x="7888424" y="2618690"/>
              <a:ext cx="943610" cy="540385"/>
            </a:xfrm>
            <a:custGeom>
              <a:rect b="b" l="l" r="r" t="t"/>
              <a:pathLst>
                <a:path extrusionOk="0" h="540385" w="943609">
                  <a:moveTo>
                    <a:pt x="0" y="0"/>
                  </a:moveTo>
                  <a:lnTo>
                    <a:pt x="943166" y="0"/>
                  </a:lnTo>
                  <a:lnTo>
                    <a:pt x="943166" y="539851"/>
                  </a:lnTo>
                  <a:lnTo>
                    <a:pt x="0" y="539851"/>
                  </a:lnTo>
                  <a:lnTo>
                    <a:pt x="0" y="0"/>
                  </a:lnTo>
                  <a:close/>
                </a:path>
              </a:pathLst>
            </a:custGeom>
            <a:noFill/>
            <a:ln cap="flat" cmpd="sng" w="25400">
              <a:solidFill>
                <a:srgbClr val="C3D69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4" name="Google Shape;354;p51"/>
          <p:cNvSpPr txBox="1"/>
          <p:nvPr/>
        </p:nvSpPr>
        <p:spPr>
          <a:xfrm>
            <a:off x="8009392" y="2727451"/>
            <a:ext cx="7023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DCGRU</a:t>
            </a:r>
            <a:endParaRPr b="0" i="0" sz="1800" u="none" cap="none" strike="noStrike">
              <a:solidFill>
                <a:srgbClr val="000000"/>
              </a:solidFill>
              <a:latin typeface="Calibri"/>
              <a:ea typeface="Calibri"/>
              <a:cs typeface="Calibri"/>
              <a:sym typeface="Calibri"/>
            </a:endParaRPr>
          </a:p>
        </p:txBody>
      </p:sp>
      <p:grpSp>
        <p:nvGrpSpPr>
          <p:cNvPr id="355" name="Google Shape;355;p51"/>
          <p:cNvGrpSpPr/>
          <p:nvPr/>
        </p:nvGrpSpPr>
        <p:grpSpPr>
          <a:xfrm>
            <a:off x="3023463" y="2260904"/>
            <a:ext cx="5370830" cy="2049091"/>
            <a:chOff x="3023463" y="2260904"/>
            <a:chExt cx="5370830" cy="2049091"/>
          </a:xfrm>
        </p:grpSpPr>
        <p:sp>
          <p:nvSpPr>
            <p:cNvPr id="356" name="Google Shape;356;p51"/>
            <p:cNvSpPr/>
            <p:nvPr/>
          </p:nvSpPr>
          <p:spPr>
            <a:xfrm>
              <a:off x="3023463" y="2260904"/>
              <a:ext cx="5370830" cy="666115"/>
            </a:xfrm>
            <a:custGeom>
              <a:rect b="b" l="l" r="r" t="t"/>
              <a:pathLst>
                <a:path extrusionOk="0" h="666114" w="5370830">
                  <a:moveTo>
                    <a:pt x="521157" y="630847"/>
                  </a:moveTo>
                  <a:lnTo>
                    <a:pt x="466648" y="630847"/>
                  </a:lnTo>
                  <a:lnTo>
                    <a:pt x="453948" y="630847"/>
                  </a:lnTo>
                  <a:lnTo>
                    <a:pt x="453783" y="664121"/>
                  </a:lnTo>
                  <a:lnTo>
                    <a:pt x="521157" y="630847"/>
                  </a:lnTo>
                  <a:close/>
                </a:path>
                <a:path extrusionOk="0" h="666114" w="5370830">
                  <a:moveTo>
                    <a:pt x="530174" y="626389"/>
                  </a:moveTo>
                  <a:lnTo>
                    <a:pt x="454152" y="587921"/>
                  </a:lnTo>
                  <a:lnTo>
                    <a:pt x="453999" y="621258"/>
                  </a:lnTo>
                  <a:lnTo>
                    <a:pt x="38" y="619048"/>
                  </a:lnTo>
                  <a:lnTo>
                    <a:pt x="0" y="628573"/>
                  </a:lnTo>
                  <a:lnTo>
                    <a:pt x="453948" y="630783"/>
                  </a:lnTo>
                  <a:lnTo>
                    <a:pt x="466648" y="630847"/>
                  </a:lnTo>
                  <a:lnTo>
                    <a:pt x="521284" y="630783"/>
                  </a:lnTo>
                  <a:lnTo>
                    <a:pt x="530174" y="626389"/>
                  </a:lnTo>
                  <a:close/>
                </a:path>
                <a:path extrusionOk="0" h="666114" w="5370830">
                  <a:moveTo>
                    <a:pt x="2017204" y="626389"/>
                  </a:moveTo>
                  <a:lnTo>
                    <a:pt x="2007679" y="621626"/>
                  </a:lnTo>
                  <a:lnTo>
                    <a:pt x="1941004" y="588289"/>
                  </a:lnTo>
                  <a:lnTo>
                    <a:pt x="1941004" y="621626"/>
                  </a:lnTo>
                  <a:lnTo>
                    <a:pt x="1501241" y="621626"/>
                  </a:lnTo>
                  <a:lnTo>
                    <a:pt x="1501241" y="631151"/>
                  </a:lnTo>
                  <a:lnTo>
                    <a:pt x="1941004" y="631151"/>
                  </a:lnTo>
                  <a:lnTo>
                    <a:pt x="1941004" y="664489"/>
                  </a:lnTo>
                  <a:lnTo>
                    <a:pt x="2017204" y="626389"/>
                  </a:lnTo>
                  <a:close/>
                </a:path>
                <a:path extrusionOk="0" h="666114" w="5370830">
                  <a:moveTo>
                    <a:pt x="3424923" y="626999"/>
                  </a:moveTo>
                  <a:lnTo>
                    <a:pt x="3348774" y="588810"/>
                  </a:lnTo>
                  <a:lnTo>
                    <a:pt x="3348736" y="622147"/>
                  </a:lnTo>
                  <a:lnTo>
                    <a:pt x="2920746" y="621626"/>
                  </a:lnTo>
                  <a:lnTo>
                    <a:pt x="2920733" y="631151"/>
                  </a:lnTo>
                  <a:lnTo>
                    <a:pt x="3348723" y="631672"/>
                  </a:lnTo>
                  <a:lnTo>
                    <a:pt x="3348685" y="665010"/>
                  </a:lnTo>
                  <a:lnTo>
                    <a:pt x="3415525" y="631685"/>
                  </a:lnTo>
                  <a:lnTo>
                    <a:pt x="3424923" y="626999"/>
                  </a:lnTo>
                  <a:close/>
                </a:path>
                <a:path extrusionOk="0" h="666114" w="5370830">
                  <a:moveTo>
                    <a:pt x="4864951" y="627722"/>
                  </a:moveTo>
                  <a:lnTo>
                    <a:pt x="4788814" y="589508"/>
                  </a:lnTo>
                  <a:lnTo>
                    <a:pt x="4788763" y="622846"/>
                  </a:lnTo>
                  <a:lnTo>
                    <a:pt x="4350715" y="622236"/>
                  </a:lnTo>
                  <a:lnTo>
                    <a:pt x="4350702" y="631761"/>
                  </a:lnTo>
                  <a:lnTo>
                    <a:pt x="4788751" y="632371"/>
                  </a:lnTo>
                  <a:lnTo>
                    <a:pt x="4788700" y="665708"/>
                  </a:lnTo>
                  <a:lnTo>
                    <a:pt x="4855578" y="632396"/>
                  </a:lnTo>
                  <a:lnTo>
                    <a:pt x="4864951" y="627722"/>
                  </a:lnTo>
                  <a:close/>
                </a:path>
                <a:path extrusionOk="0" h="666114" w="5370830">
                  <a:moveTo>
                    <a:pt x="5370207" y="75590"/>
                  </a:moveTo>
                  <a:lnTo>
                    <a:pt x="5363870" y="63423"/>
                  </a:lnTo>
                  <a:lnTo>
                    <a:pt x="5330914" y="0"/>
                  </a:lnTo>
                  <a:lnTo>
                    <a:pt x="5294007" y="76796"/>
                  </a:lnTo>
                  <a:lnTo>
                    <a:pt x="5327345" y="76263"/>
                  </a:lnTo>
                  <a:lnTo>
                    <a:pt x="5331777" y="357860"/>
                  </a:lnTo>
                  <a:lnTo>
                    <a:pt x="5341302" y="357720"/>
                  </a:lnTo>
                  <a:lnTo>
                    <a:pt x="5336870" y="76123"/>
                  </a:lnTo>
                  <a:lnTo>
                    <a:pt x="5370207" y="7559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51"/>
            <p:cNvSpPr/>
            <p:nvPr/>
          </p:nvSpPr>
          <p:spPr>
            <a:xfrm>
              <a:off x="6672464" y="3515610"/>
              <a:ext cx="505459" cy="794385"/>
            </a:xfrm>
            <a:custGeom>
              <a:rect b="b" l="l" r="r" t="t"/>
              <a:pathLst>
                <a:path extrusionOk="0" h="794385" w="505459">
                  <a:moveTo>
                    <a:pt x="505401" y="0"/>
                  </a:moveTo>
                  <a:lnTo>
                    <a:pt x="0" y="0"/>
                  </a:lnTo>
                  <a:lnTo>
                    <a:pt x="0" y="794123"/>
                  </a:lnTo>
                  <a:lnTo>
                    <a:pt x="505401" y="794123"/>
                  </a:lnTo>
                  <a:lnTo>
                    <a:pt x="505401" y="0"/>
                  </a:lnTo>
                  <a:close/>
                </a:path>
              </a:pathLst>
            </a:custGeom>
            <a:solidFill>
              <a:srgbClr val="8EB4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51"/>
            <p:cNvSpPr/>
            <p:nvPr/>
          </p:nvSpPr>
          <p:spPr>
            <a:xfrm>
              <a:off x="6672464" y="3515610"/>
              <a:ext cx="505459" cy="794385"/>
            </a:xfrm>
            <a:custGeom>
              <a:rect b="b" l="l" r="r" t="t"/>
              <a:pathLst>
                <a:path extrusionOk="0" h="794385" w="505459">
                  <a:moveTo>
                    <a:pt x="0" y="0"/>
                  </a:moveTo>
                  <a:lnTo>
                    <a:pt x="505401" y="0"/>
                  </a:lnTo>
                  <a:lnTo>
                    <a:pt x="505401" y="794123"/>
                  </a:lnTo>
                  <a:lnTo>
                    <a:pt x="0" y="794123"/>
                  </a:lnTo>
                  <a:lnTo>
                    <a:pt x="0" y="0"/>
                  </a:lnTo>
                  <a:close/>
                </a:path>
              </a:pathLst>
            </a:custGeom>
            <a:noFill/>
            <a:ln cap="flat" cmpd="sng" w="25400">
              <a:solidFill>
                <a:srgbClr val="558ED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9" name="Google Shape;359;p51"/>
          <p:cNvSpPr txBox="1"/>
          <p:nvPr/>
        </p:nvSpPr>
        <p:spPr>
          <a:xfrm>
            <a:off x="6788639" y="3751579"/>
            <a:ext cx="27305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4</a:t>
            </a:r>
            <a:endParaRPr b="0" baseline="-25000" i="0" sz="1800" u="none" cap="none" strike="noStrike">
              <a:solidFill>
                <a:srgbClr val="000000"/>
              </a:solidFill>
              <a:latin typeface="Calibri"/>
              <a:ea typeface="Calibri"/>
              <a:cs typeface="Calibri"/>
              <a:sym typeface="Calibri"/>
            </a:endParaRPr>
          </a:p>
        </p:txBody>
      </p:sp>
      <p:grpSp>
        <p:nvGrpSpPr>
          <p:cNvPr id="360" name="Google Shape;360;p51"/>
          <p:cNvGrpSpPr/>
          <p:nvPr/>
        </p:nvGrpSpPr>
        <p:grpSpPr>
          <a:xfrm>
            <a:off x="6869883" y="3145758"/>
            <a:ext cx="1725370" cy="1164237"/>
            <a:chOff x="6869883" y="3145758"/>
            <a:chExt cx="1725370" cy="1164237"/>
          </a:xfrm>
        </p:grpSpPr>
        <p:sp>
          <p:nvSpPr>
            <p:cNvPr id="361" name="Google Shape;361;p51"/>
            <p:cNvSpPr/>
            <p:nvPr/>
          </p:nvSpPr>
          <p:spPr>
            <a:xfrm>
              <a:off x="6869883" y="3145758"/>
              <a:ext cx="76200" cy="358140"/>
            </a:xfrm>
            <a:custGeom>
              <a:rect b="b" l="l" r="r" t="t"/>
              <a:pathLst>
                <a:path extrusionOk="0" h="358139" w="76200">
                  <a:moveTo>
                    <a:pt x="33337" y="76198"/>
                  </a:moveTo>
                  <a:lnTo>
                    <a:pt x="33254" y="357786"/>
                  </a:lnTo>
                  <a:lnTo>
                    <a:pt x="42779" y="357789"/>
                  </a:lnTo>
                  <a:lnTo>
                    <a:pt x="42862" y="76201"/>
                  </a:lnTo>
                  <a:lnTo>
                    <a:pt x="33337" y="76198"/>
                  </a:lnTo>
                  <a:close/>
                </a:path>
                <a:path extrusionOk="0" h="358139" w="76200">
                  <a:moveTo>
                    <a:pt x="69848" y="63498"/>
                  </a:moveTo>
                  <a:lnTo>
                    <a:pt x="33341" y="63498"/>
                  </a:lnTo>
                  <a:lnTo>
                    <a:pt x="42866" y="63501"/>
                  </a:lnTo>
                  <a:lnTo>
                    <a:pt x="42862" y="76201"/>
                  </a:lnTo>
                  <a:lnTo>
                    <a:pt x="76200" y="76211"/>
                  </a:lnTo>
                  <a:lnTo>
                    <a:pt x="69848" y="63498"/>
                  </a:lnTo>
                  <a:close/>
                </a:path>
                <a:path extrusionOk="0" h="358139" w="76200">
                  <a:moveTo>
                    <a:pt x="33341" y="63498"/>
                  </a:moveTo>
                  <a:lnTo>
                    <a:pt x="33337" y="76198"/>
                  </a:lnTo>
                  <a:lnTo>
                    <a:pt x="42862" y="76201"/>
                  </a:lnTo>
                  <a:lnTo>
                    <a:pt x="42866" y="63501"/>
                  </a:lnTo>
                  <a:lnTo>
                    <a:pt x="33341" y="63498"/>
                  </a:lnTo>
                  <a:close/>
                </a:path>
                <a:path extrusionOk="0" h="358139" w="76200">
                  <a:moveTo>
                    <a:pt x="38121" y="0"/>
                  </a:moveTo>
                  <a:lnTo>
                    <a:pt x="0" y="76188"/>
                  </a:lnTo>
                  <a:lnTo>
                    <a:pt x="33337" y="76198"/>
                  </a:lnTo>
                  <a:lnTo>
                    <a:pt x="33341" y="63498"/>
                  </a:lnTo>
                  <a:lnTo>
                    <a:pt x="69848" y="63498"/>
                  </a:lnTo>
                  <a:lnTo>
                    <a:pt x="38121" y="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51"/>
            <p:cNvSpPr/>
            <p:nvPr/>
          </p:nvSpPr>
          <p:spPr>
            <a:xfrm>
              <a:off x="8110113" y="3515610"/>
              <a:ext cx="485140" cy="794385"/>
            </a:xfrm>
            <a:custGeom>
              <a:rect b="b" l="l" r="r" t="t"/>
              <a:pathLst>
                <a:path extrusionOk="0" h="794385" w="485140">
                  <a:moveTo>
                    <a:pt x="484558" y="0"/>
                  </a:moveTo>
                  <a:lnTo>
                    <a:pt x="0" y="0"/>
                  </a:lnTo>
                  <a:lnTo>
                    <a:pt x="0" y="794123"/>
                  </a:lnTo>
                  <a:lnTo>
                    <a:pt x="484558" y="794123"/>
                  </a:lnTo>
                  <a:lnTo>
                    <a:pt x="484558" y="0"/>
                  </a:lnTo>
                  <a:close/>
                </a:path>
              </a:pathLst>
            </a:custGeom>
            <a:solidFill>
              <a:srgbClr val="8EB4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51"/>
            <p:cNvSpPr/>
            <p:nvPr/>
          </p:nvSpPr>
          <p:spPr>
            <a:xfrm>
              <a:off x="8110113" y="3515610"/>
              <a:ext cx="485140" cy="794385"/>
            </a:xfrm>
            <a:custGeom>
              <a:rect b="b" l="l" r="r" t="t"/>
              <a:pathLst>
                <a:path extrusionOk="0" h="794385" w="485140">
                  <a:moveTo>
                    <a:pt x="0" y="0"/>
                  </a:moveTo>
                  <a:lnTo>
                    <a:pt x="484558" y="0"/>
                  </a:lnTo>
                  <a:lnTo>
                    <a:pt x="484558" y="794123"/>
                  </a:lnTo>
                  <a:lnTo>
                    <a:pt x="0" y="794123"/>
                  </a:lnTo>
                  <a:lnTo>
                    <a:pt x="0" y="0"/>
                  </a:lnTo>
                  <a:close/>
                </a:path>
              </a:pathLst>
            </a:custGeom>
            <a:noFill/>
            <a:ln cap="flat" cmpd="sng" w="25400">
              <a:solidFill>
                <a:srgbClr val="558ED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64" name="Google Shape;364;p51"/>
          <p:cNvSpPr txBox="1"/>
          <p:nvPr/>
        </p:nvSpPr>
        <p:spPr>
          <a:xfrm>
            <a:off x="8215865" y="3751579"/>
            <a:ext cx="27305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X</a:t>
            </a:r>
            <a:r>
              <a:rPr b="0" baseline="-25000" i="0" lang="en-US" sz="1800" u="none" cap="none" strike="noStrike">
                <a:solidFill>
                  <a:srgbClr val="000000"/>
                </a:solidFill>
                <a:latin typeface="Calibri"/>
                <a:ea typeface="Calibri"/>
                <a:cs typeface="Calibri"/>
                <a:sym typeface="Calibri"/>
              </a:rPr>
              <a:t>5</a:t>
            </a:r>
            <a:endParaRPr b="0" baseline="-25000" i="0" sz="1800" u="none" cap="none" strike="noStrike">
              <a:solidFill>
                <a:srgbClr val="000000"/>
              </a:solidFill>
              <a:latin typeface="Calibri"/>
              <a:ea typeface="Calibri"/>
              <a:cs typeface="Calibri"/>
              <a:sym typeface="Calibri"/>
            </a:endParaRPr>
          </a:p>
        </p:txBody>
      </p:sp>
      <p:grpSp>
        <p:nvGrpSpPr>
          <p:cNvPr id="365" name="Google Shape;365;p51"/>
          <p:cNvGrpSpPr/>
          <p:nvPr/>
        </p:nvGrpSpPr>
        <p:grpSpPr>
          <a:xfrm>
            <a:off x="4770781" y="1214940"/>
            <a:ext cx="3599679" cy="3340100"/>
            <a:chOff x="4770781" y="1214940"/>
            <a:chExt cx="3599679" cy="3340100"/>
          </a:xfrm>
        </p:grpSpPr>
        <p:sp>
          <p:nvSpPr>
            <p:cNvPr id="366" name="Google Shape;366;p51"/>
            <p:cNvSpPr/>
            <p:nvPr/>
          </p:nvSpPr>
          <p:spPr>
            <a:xfrm>
              <a:off x="8294260" y="3153759"/>
              <a:ext cx="76200" cy="358140"/>
            </a:xfrm>
            <a:custGeom>
              <a:rect b="b" l="l" r="r" t="t"/>
              <a:pathLst>
                <a:path extrusionOk="0" h="358139" w="76200">
                  <a:moveTo>
                    <a:pt x="33337" y="76199"/>
                  </a:moveTo>
                  <a:lnTo>
                    <a:pt x="33254" y="357786"/>
                  </a:lnTo>
                  <a:lnTo>
                    <a:pt x="42779" y="357789"/>
                  </a:lnTo>
                  <a:lnTo>
                    <a:pt x="42862" y="76201"/>
                  </a:lnTo>
                  <a:lnTo>
                    <a:pt x="33337" y="76199"/>
                  </a:lnTo>
                  <a:close/>
                </a:path>
                <a:path extrusionOk="0" h="358139" w="76200">
                  <a:moveTo>
                    <a:pt x="69848" y="63498"/>
                  </a:moveTo>
                  <a:lnTo>
                    <a:pt x="33341" y="63498"/>
                  </a:lnTo>
                  <a:lnTo>
                    <a:pt x="42866" y="63502"/>
                  </a:lnTo>
                  <a:lnTo>
                    <a:pt x="42862" y="76201"/>
                  </a:lnTo>
                  <a:lnTo>
                    <a:pt x="76200" y="76211"/>
                  </a:lnTo>
                  <a:lnTo>
                    <a:pt x="69848" y="63498"/>
                  </a:lnTo>
                  <a:close/>
                </a:path>
                <a:path extrusionOk="0" h="358139" w="76200">
                  <a:moveTo>
                    <a:pt x="33341" y="63498"/>
                  </a:moveTo>
                  <a:lnTo>
                    <a:pt x="33337" y="76199"/>
                  </a:lnTo>
                  <a:lnTo>
                    <a:pt x="42862" y="76201"/>
                  </a:lnTo>
                  <a:lnTo>
                    <a:pt x="42866" y="63502"/>
                  </a:lnTo>
                  <a:lnTo>
                    <a:pt x="33341" y="63498"/>
                  </a:lnTo>
                  <a:close/>
                </a:path>
                <a:path extrusionOk="0" h="358139" w="76200">
                  <a:moveTo>
                    <a:pt x="38121" y="0"/>
                  </a:moveTo>
                  <a:lnTo>
                    <a:pt x="0" y="76189"/>
                  </a:lnTo>
                  <a:lnTo>
                    <a:pt x="33337" y="76199"/>
                  </a:lnTo>
                  <a:lnTo>
                    <a:pt x="33341" y="63498"/>
                  </a:lnTo>
                  <a:lnTo>
                    <a:pt x="69848" y="63498"/>
                  </a:lnTo>
                  <a:lnTo>
                    <a:pt x="38121" y="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51"/>
            <p:cNvSpPr/>
            <p:nvPr/>
          </p:nvSpPr>
          <p:spPr>
            <a:xfrm>
              <a:off x="4770781" y="1214940"/>
              <a:ext cx="0" cy="3340100"/>
            </a:xfrm>
            <a:custGeom>
              <a:rect b="b" l="l" r="r" t="t"/>
              <a:pathLst>
                <a:path extrusionOk="0" h="3340100" w="120000">
                  <a:moveTo>
                    <a:pt x="0" y="0"/>
                  </a:moveTo>
                  <a:lnTo>
                    <a:pt x="0" y="3339548"/>
                  </a:lnTo>
                </a:path>
              </a:pathLst>
            </a:custGeom>
            <a:noFill/>
            <a:ln cap="flat" cmpd="sng" w="9525">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51"/>
            <p:cNvSpPr/>
            <p:nvPr/>
          </p:nvSpPr>
          <p:spPr>
            <a:xfrm>
              <a:off x="5444849" y="3168271"/>
              <a:ext cx="76200" cy="358140"/>
            </a:xfrm>
            <a:custGeom>
              <a:rect b="b" l="l" r="r" t="t"/>
              <a:pathLst>
                <a:path extrusionOk="0" h="358139" w="76200">
                  <a:moveTo>
                    <a:pt x="33337" y="76198"/>
                  </a:moveTo>
                  <a:lnTo>
                    <a:pt x="33256" y="357785"/>
                  </a:lnTo>
                  <a:lnTo>
                    <a:pt x="42781" y="357788"/>
                  </a:lnTo>
                  <a:lnTo>
                    <a:pt x="42862" y="76200"/>
                  </a:lnTo>
                  <a:lnTo>
                    <a:pt x="33337" y="76198"/>
                  </a:lnTo>
                  <a:close/>
                </a:path>
                <a:path extrusionOk="0" h="358139" w="76200">
                  <a:moveTo>
                    <a:pt x="69848" y="63497"/>
                  </a:moveTo>
                  <a:lnTo>
                    <a:pt x="33341" y="63497"/>
                  </a:lnTo>
                  <a:lnTo>
                    <a:pt x="42866" y="63501"/>
                  </a:lnTo>
                  <a:lnTo>
                    <a:pt x="42862" y="76200"/>
                  </a:lnTo>
                  <a:lnTo>
                    <a:pt x="76200" y="76210"/>
                  </a:lnTo>
                  <a:lnTo>
                    <a:pt x="69848" y="63497"/>
                  </a:lnTo>
                  <a:close/>
                </a:path>
                <a:path extrusionOk="0" h="358139" w="76200">
                  <a:moveTo>
                    <a:pt x="33341" y="63497"/>
                  </a:moveTo>
                  <a:lnTo>
                    <a:pt x="33337" y="76198"/>
                  </a:lnTo>
                  <a:lnTo>
                    <a:pt x="42862" y="76200"/>
                  </a:lnTo>
                  <a:lnTo>
                    <a:pt x="42866" y="63501"/>
                  </a:lnTo>
                  <a:lnTo>
                    <a:pt x="33341" y="63497"/>
                  </a:lnTo>
                  <a:close/>
                </a:path>
                <a:path extrusionOk="0" h="358139" w="76200">
                  <a:moveTo>
                    <a:pt x="38122" y="0"/>
                  </a:moveTo>
                  <a:lnTo>
                    <a:pt x="0" y="76188"/>
                  </a:lnTo>
                  <a:lnTo>
                    <a:pt x="33337" y="76198"/>
                  </a:lnTo>
                  <a:lnTo>
                    <a:pt x="33341" y="63497"/>
                  </a:lnTo>
                  <a:lnTo>
                    <a:pt x="69848" y="63497"/>
                  </a:lnTo>
                  <a:lnTo>
                    <a:pt x="38122" y="0"/>
                  </a:lnTo>
                  <a:close/>
                </a:path>
              </a:pathLst>
            </a:custGeom>
            <a:solidFill>
              <a:srgbClr val="4A7EB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69" name="Google Shape;369;p51"/>
          <p:cNvSpPr txBox="1"/>
          <p:nvPr/>
        </p:nvSpPr>
        <p:spPr>
          <a:xfrm>
            <a:off x="5224302" y="3465067"/>
            <a:ext cx="5492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&lt;GO&gt;</a:t>
            </a:r>
            <a:endParaRPr b="0" i="0" sz="1800" u="none" cap="none" strike="noStrike">
              <a:solidFill>
                <a:srgbClr val="000000"/>
              </a:solidFill>
              <a:latin typeface="Calibri"/>
              <a:ea typeface="Calibri"/>
              <a:cs typeface="Calibri"/>
              <a:sym typeface="Calibri"/>
            </a:endParaRPr>
          </a:p>
        </p:txBody>
      </p:sp>
      <p:sp>
        <p:nvSpPr>
          <p:cNvPr id="370" name="Google Shape;370;p51"/>
          <p:cNvSpPr txBox="1"/>
          <p:nvPr/>
        </p:nvSpPr>
        <p:spPr>
          <a:xfrm>
            <a:off x="3479642" y="1099820"/>
            <a:ext cx="12103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Current time</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12700" rtl="0" algn="l">
              <a:spcBef>
                <a:spcPts val="0"/>
              </a:spcBef>
              <a:spcAft>
                <a:spcPts val="0"/>
              </a:spcAft>
              <a:buClr>
                <a:schemeClr val="accent1"/>
              </a:buClr>
              <a:buSzPct val="64285"/>
              <a:buFont typeface="Trebuchet MS"/>
              <a:buNone/>
            </a:pPr>
            <a:r>
              <a:rPr lang="en-US"/>
              <a:t>  </a:t>
            </a:r>
            <a:endParaRPr/>
          </a:p>
          <a:p>
            <a:pPr indent="0" lvl="0" marL="12700" rtl="0" algn="l">
              <a:spcBef>
                <a:spcPts val="0"/>
              </a:spcBef>
              <a:spcAft>
                <a:spcPts val="0"/>
              </a:spcAft>
              <a:buNone/>
            </a:pPr>
            <a:r>
              <a:rPr lang="en-US"/>
              <a:t>GRU Cell  </a:t>
            </a:r>
            <a:endParaRPr/>
          </a:p>
        </p:txBody>
      </p:sp>
      <p:sp>
        <p:nvSpPr>
          <p:cNvPr id="376" name="Google Shape;376;p5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7" name="Google Shape;377;p52"/>
          <p:cNvPicPr preferRelativeResize="0"/>
          <p:nvPr/>
        </p:nvPicPr>
        <p:blipFill>
          <a:blip r:embed="rId3">
            <a:alphaModFix/>
          </a:blip>
          <a:stretch>
            <a:fillRect/>
          </a:stretch>
        </p:blipFill>
        <p:spPr>
          <a:xfrm>
            <a:off x="323850" y="1228725"/>
            <a:ext cx="5245926" cy="2686050"/>
          </a:xfrm>
          <a:prstGeom prst="rect">
            <a:avLst/>
          </a:prstGeom>
          <a:noFill/>
          <a:ln>
            <a:noFill/>
          </a:ln>
        </p:spPr>
      </p:pic>
      <p:sp>
        <p:nvSpPr>
          <p:cNvPr id="378" name="Google Shape;378;p52"/>
          <p:cNvSpPr txBox="1"/>
          <p:nvPr/>
        </p:nvSpPr>
        <p:spPr>
          <a:xfrm>
            <a:off x="5580650" y="1450625"/>
            <a:ext cx="3586200" cy="324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500">
                <a:solidFill>
                  <a:schemeClr val="dk1"/>
                </a:solidFill>
                <a:latin typeface="Cambria Math"/>
                <a:ea typeface="Cambria Math"/>
                <a:cs typeface="Cambria Math"/>
                <a:sym typeface="Cambria Math"/>
              </a:rPr>
              <a:t>z</a:t>
            </a:r>
            <a:r>
              <a:rPr baseline="-25000" lang="en-US" sz="2550">
                <a:solidFill>
                  <a:schemeClr val="dk1"/>
                </a:solidFill>
                <a:latin typeface="Cambria Math"/>
                <a:ea typeface="Cambria Math"/>
                <a:cs typeface="Cambria Math"/>
                <a:sym typeface="Cambria Math"/>
              </a:rPr>
              <a:t>𝑡</a:t>
            </a:r>
            <a:r>
              <a:rPr lang="en-US" sz="1900">
                <a:solidFill>
                  <a:schemeClr val="dk1"/>
                </a:solidFill>
              </a:rPr>
              <a:t>: Fraction of new information to keep.(Update)</a:t>
            </a:r>
            <a:endParaRPr sz="1900">
              <a:solidFill>
                <a:schemeClr val="dk1"/>
              </a:solidFill>
            </a:endParaRPr>
          </a:p>
          <a:p>
            <a:pPr indent="0" lvl="0" marL="0" rtl="0" algn="l">
              <a:spcBef>
                <a:spcPts val="0"/>
              </a:spcBef>
              <a:spcAft>
                <a:spcPts val="0"/>
              </a:spcAft>
              <a:buClr>
                <a:schemeClr val="dk1"/>
              </a:buClr>
              <a:buSzPts val="1100"/>
              <a:buFont typeface="Arial"/>
              <a:buNone/>
            </a:pPr>
            <a:r>
              <a:rPr lang="en-US" sz="2500">
                <a:solidFill>
                  <a:schemeClr val="dk1"/>
                </a:solidFill>
                <a:latin typeface="Cambria Math"/>
                <a:ea typeface="Cambria Math"/>
                <a:cs typeface="Cambria Math"/>
                <a:sym typeface="Cambria Math"/>
              </a:rPr>
              <a:t>𝑟</a:t>
            </a:r>
            <a:r>
              <a:rPr baseline="-25000" lang="en-US" sz="2550">
                <a:solidFill>
                  <a:schemeClr val="dk1"/>
                </a:solidFill>
                <a:latin typeface="Cambria Math"/>
                <a:ea typeface="Cambria Math"/>
                <a:cs typeface="Cambria Math"/>
                <a:sym typeface="Cambria Math"/>
              </a:rPr>
              <a:t>𝑡 </a:t>
            </a:r>
            <a:r>
              <a:rPr lang="en-US" sz="1900">
                <a:solidFill>
                  <a:schemeClr val="dk1"/>
                </a:solidFill>
              </a:rPr>
              <a:t>: Fraction of past information to reset.(Reset)</a:t>
            </a:r>
            <a:endParaRPr sz="1900">
              <a:solidFill>
                <a:schemeClr val="dk1"/>
              </a:solidFill>
            </a:endParaRPr>
          </a:p>
          <a:p>
            <a:pPr indent="0" lvl="0" marL="0" rtl="0" algn="l">
              <a:spcBef>
                <a:spcPts val="0"/>
              </a:spcBef>
              <a:spcAft>
                <a:spcPts val="0"/>
              </a:spcAft>
              <a:buNone/>
            </a:pPr>
            <a:r>
              <a:rPr baseline="-25000" lang="en-US" sz="2700">
                <a:solidFill>
                  <a:schemeClr val="dk1"/>
                </a:solidFill>
                <a:latin typeface="Cambria Math"/>
                <a:ea typeface="Cambria Math"/>
                <a:cs typeface="Cambria Math"/>
                <a:sym typeface="Cambria Math"/>
              </a:rPr>
              <a:t> </a:t>
            </a:r>
            <a:r>
              <a:rPr lang="en-US" sz="1900">
                <a:solidFill>
                  <a:schemeClr val="dk1"/>
                </a:solidFill>
              </a:rPr>
              <a:t>: Updated memory content.</a:t>
            </a:r>
            <a:endParaRPr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   (Candidate Hidden State)</a:t>
            </a:r>
            <a:endParaRPr sz="1900">
              <a:solidFill>
                <a:schemeClr val="dk1"/>
              </a:solidFill>
            </a:endParaRPr>
          </a:p>
          <a:p>
            <a:pPr indent="0" lvl="0" marL="0" rtl="0" algn="l">
              <a:spcBef>
                <a:spcPts val="0"/>
              </a:spcBef>
              <a:spcAft>
                <a:spcPts val="0"/>
              </a:spcAft>
              <a:buClr>
                <a:schemeClr val="dk1"/>
              </a:buClr>
              <a:buSzPts val="1100"/>
              <a:buFont typeface="Arial"/>
              <a:buNone/>
            </a:pPr>
            <a:r>
              <a:rPr lang="en-US" sz="2500">
                <a:solidFill>
                  <a:schemeClr val="dk1"/>
                </a:solidFill>
                <a:latin typeface="Cambria Math"/>
                <a:ea typeface="Cambria Math"/>
                <a:cs typeface="Cambria Math"/>
                <a:sym typeface="Cambria Math"/>
              </a:rPr>
              <a:t>ℎ</a:t>
            </a:r>
            <a:r>
              <a:rPr baseline="-25000" lang="en-US" sz="2700">
                <a:solidFill>
                  <a:schemeClr val="dk1"/>
                </a:solidFill>
                <a:latin typeface="Cambria Math"/>
                <a:ea typeface="Cambria Math"/>
                <a:cs typeface="Cambria Math"/>
                <a:sym typeface="Cambria Math"/>
              </a:rPr>
              <a:t>𝑡</a:t>
            </a:r>
            <a:r>
              <a:rPr lang="en-US" sz="1900">
                <a:solidFill>
                  <a:schemeClr val="dk1"/>
                </a:solidFill>
              </a:rPr>
              <a:t>: Final combined hidden state.(FInal Hidden State)</a:t>
            </a:r>
            <a:endParaRPr sz="1900">
              <a:solidFill>
                <a:schemeClr val="dk1"/>
              </a:solidFill>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379" name="Google Shape;379;p52"/>
          <p:cNvPicPr preferRelativeResize="0"/>
          <p:nvPr/>
        </p:nvPicPr>
        <p:blipFill>
          <a:blip r:embed="rId4">
            <a:alphaModFix/>
          </a:blip>
          <a:stretch>
            <a:fillRect/>
          </a:stretch>
        </p:blipFill>
        <p:spPr>
          <a:xfrm>
            <a:off x="5330550" y="2959125"/>
            <a:ext cx="337100" cy="3944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pic>
        <p:nvPicPr>
          <p:cNvPr id="385" name="Google Shape;385;p53"/>
          <p:cNvPicPr preferRelativeResize="0"/>
          <p:nvPr/>
        </p:nvPicPr>
        <p:blipFill>
          <a:blip r:embed="rId3">
            <a:alphaModFix/>
          </a:blip>
          <a:stretch>
            <a:fillRect/>
          </a:stretch>
        </p:blipFill>
        <p:spPr>
          <a:xfrm>
            <a:off x="246450" y="462150"/>
            <a:ext cx="7872925" cy="2109600"/>
          </a:xfrm>
          <a:prstGeom prst="rect">
            <a:avLst/>
          </a:prstGeom>
          <a:noFill/>
          <a:ln>
            <a:noFill/>
          </a:ln>
        </p:spPr>
      </p:pic>
      <p:pic>
        <p:nvPicPr>
          <p:cNvPr id="386" name="Google Shape;386;p53"/>
          <p:cNvPicPr preferRelativeResize="0"/>
          <p:nvPr/>
        </p:nvPicPr>
        <p:blipFill>
          <a:blip r:embed="rId4">
            <a:alphaModFix/>
          </a:blip>
          <a:stretch>
            <a:fillRect/>
          </a:stretch>
        </p:blipFill>
        <p:spPr>
          <a:xfrm>
            <a:off x="505025" y="2831650"/>
            <a:ext cx="7011225" cy="1520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pic>
        <p:nvPicPr>
          <p:cNvPr id="392" name="Google Shape;392;p54"/>
          <p:cNvPicPr preferRelativeResize="0"/>
          <p:nvPr/>
        </p:nvPicPr>
        <p:blipFill>
          <a:blip r:embed="rId3">
            <a:alphaModFix/>
          </a:blip>
          <a:stretch>
            <a:fillRect/>
          </a:stretch>
        </p:blipFill>
        <p:spPr>
          <a:xfrm>
            <a:off x="152400" y="450200"/>
            <a:ext cx="8520600" cy="3164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311700" y="315925"/>
            <a:ext cx="85206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t/>
            </a:r>
            <a:endParaRPr/>
          </a:p>
        </p:txBody>
      </p:sp>
      <p:sp>
        <p:nvSpPr>
          <p:cNvPr id="398" name="Google Shape;398;p55"/>
          <p:cNvSpPr txBox="1"/>
          <p:nvPr/>
        </p:nvSpPr>
        <p:spPr>
          <a:xfrm>
            <a:off x="377100" y="1492875"/>
            <a:ext cx="4344600" cy="702300"/>
          </a:xfrm>
          <a:prstGeom prst="rect">
            <a:avLst/>
          </a:prstGeom>
          <a:noFill/>
          <a:ln>
            <a:noFill/>
          </a:ln>
        </p:spPr>
        <p:txBody>
          <a:bodyPr anchorCtr="0" anchor="t" bIns="0" lIns="0" spcFirstLastPara="1" rIns="0" wrap="square" tIns="238125">
            <a:spAutoFit/>
          </a:bodyPr>
          <a:lstStyle/>
          <a:p>
            <a:pPr indent="4444" lvl="0" marL="63500" marR="55880" rtl="0" algn="l">
              <a:lnSpc>
                <a:spcPct val="175333"/>
              </a:lnSpc>
              <a:spcBef>
                <a:spcPts val="0"/>
              </a:spcBef>
              <a:spcAft>
                <a:spcPts val="0"/>
              </a:spcAft>
              <a:buNone/>
            </a:pPr>
            <a:r>
              <a:t/>
            </a:r>
            <a:endParaRPr b="0" baseline="-25000" i="0" sz="3000" u="none" cap="none" strike="noStrike">
              <a:solidFill>
                <a:srgbClr val="000000"/>
              </a:solidFill>
              <a:latin typeface="Cambria Math"/>
              <a:ea typeface="Cambria Math"/>
              <a:cs typeface="Cambria Math"/>
              <a:sym typeface="Cambria Math"/>
            </a:endParaRPr>
          </a:p>
        </p:txBody>
      </p:sp>
      <p:sp>
        <p:nvSpPr>
          <p:cNvPr id="399" name="Google Shape;399;p55"/>
          <p:cNvSpPr txBox="1"/>
          <p:nvPr/>
        </p:nvSpPr>
        <p:spPr>
          <a:xfrm>
            <a:off x="4775950" y="1602850"/>
            <a:ext cx="43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400" name="Google Shape;400;p55"/>
          <p:cNvPicPr preferRelativeResize="0"/>
          <p:nvPr/>
        </p:nvPicPr>
        <p:blipFill>
          <a:blip r:embed="rId3">
            <a:alphaModFix/>
          </a:blip>
          <a:stretch>
            <a:fillRect/>
          </a:stretch>
        </p:blipFill>
        <p:spPr>
          <a:xfrm>
            <a:off x="311700" y="315925"/>
            <a:ext cx="8465950" cy="46751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4" name="Shape 404"/>
        <p:cNvGrpSpPr/>
        <p:nvPr/>
      </p:nvGrpSpPr>
      <p:grpSpPr>
        <a:xfrm>
          <a:off x="0" y="0"/>
          <a:ext cx="0" cy="0"/>
          <a:chOff x="0" y="0"/>
          <a:chExt cx="0" cy="0"/>
        </a:xfrm>
      </p:grpSpPr>
      <p:sp>
        <p:nvSpPr>
          <p:cNvPr id="405" name="Google Shape;405;p56"/>
          <p:cNvSpPr txBox="1"/>
          <p:nvPr>
            <p:ph type="title"/>
          </p:nvPr>
        </p:nvSpPr>
        <p:spPr>
          <a:xfrm>
            <a:off x="311700" y="315925"/>
            <a:ext cx="85206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rPr lang="en-US"/>
              <a:t>DCRNN cell</a:t>
            </a:r>
            <a:endParaRPr/>
          </a:p>
        </p:txBody>
      </p:sp>
      <p:sp>
        <p:nvSpPr>
          <p:cNvPr id="406" name="Google Shape;406;p56"/>
          <p:cNvSpPr txBox="1"/>
          <p:nvPr/>
        </p:nvSpPr>
        <p:spPr>
          <a:xfrm>
            <a:off x="375004" y="1217540"/>
            <a:ext cx="4542300" cy="2791500"/>
          </a:xfrm>
          <a:prstGeom prst="rect">
            <a:avLst/>
          </a:prstGeom>
          <a:noFill/>
          <a:ln>
            <a:noFill/>
          </a:ln>
        </p:spPr>
        <p:txBody>
          <a:bodyPr anchorCtr="0" anchor="t" bIns="0" lIns="0" spcFirstLastPara="1" rIns="0" wrap="square" tIns="238125">
            <a:spAutoFit/>
          </a:bodyPr>
          <a:lstStyle/>
          <a:p>
            <a:pPr indent="0" lvl="0" marL="88900" marR="0" rtl="0" algn="l">
              <a:lnSpc>
                <a:spcPct val="100000"/>
              </a:lnSpc>
              <a:spcBef>
                <a:spcPts val="0"/>
              </a:spcBef>
              <a:spcAft>
                <a:spcPts val="0"/>
              </a:spcAft>
              <a:buNone/>
            </a:pPr>
            <a:r>
              <a:rPr b="0" i="0" lang="en-US" sz="2800" u="none" cap="none" strike="noStrike">
                <a:solidFill>
                  <a:srgbClr val="000000"/>
                </a:solidFill>
                <a:latin typeface="Cambria Math"/>
                <a:ea typeface="Cambria Math"/>
                <a:cs typeface="Cambria Math"/>
                <a:sym typeface="Cambria Math"/>
              </a:rPr>
              <a:t>𝑢</a:t>
            </a:r>
            <a:r>
              <a:rPr b="0" baseline="-25000" i="0" lang="en-US" sz="2850" u="none" cap="none" strike="noStrike">
                <a:solidFill>
                  <a:srgbClr val="000000"/>
                </a:solidFill>
                <a:latin typeface="Cambria Math"/>
                <a:ea typeface="Cambria Math"/>
                <a:cs typeface="Cambria Math"/>
                <a:sym typeface="Cambria Math"/>
              </a:rPr>
              <a:t>𝑡 </a:t>
            </a:r>
            <a:r>
              <a:rPr b="0" i="0" lang="en-US" sz="2800" u="none" cap="none" strike="noStrike">
                <a:solidFill>
                  <a:srgbClr val="000000"/>
                </a:solidFill>
                <a:latin typeface="Cambria Math"/>
                <a:ea typeface="Cambria Math"/>
                <a:cs typeface="Cambria Math"/>
                <a:sym typeface="Cambria Math"/>
              </a:rPr>
              <a:t>= 𝜎(𝑤</a:t>
            </a:r>
            <a:r>
              <a:rPr b="0" baseline="-25000" i="0" lang="en-US" sz="3000" u="none" cap="none" strike="noStrike">
                <a:solidFill>
                  <a:srgbClr val="000000"/>
                </a:solidFill>
                <a:latin typeface="Cambria Math"/>
                <a:ea typeface="Cambria Math"/>
                <a:cs typeface="Cambria Math"/>
                <a:sym typeface="Cambria Math"/>
              </a:rPr>
              <a:t>𝑢∗𝐺</a:t>
            </a:r>
            <a:r>
              <a:rPr b="0" i="0" lang="en-US" sz="2800" u="none" cap="none" strike="noStrike">
                <a:solidFill>
                  <a:srgbClr val="000000"/>
                </a:solidFill>
                <a:latin typeface="Cambria Math"/>
                <a:ea typeface="Cambria Math"/>
                <a:cs typeface="Cambria Math"/>
                <a:sym typeface="Cambria Math"/>
              </a:rPr>
              <a:t>[ℎ</a:t>
            </a:r>
            <a:r>
              <a:rPr b="0" baseline="-25000" i="0" lang="en-US" sz="3000" u="none" cap="none" strike="noStrike">
                <a:solidFill>
                  <a:srgbClr val="000000"/>
                </a:solidFill>
                <a:latin typeface="Cambria Math"/>
                <a:ea typeface="Cambria Math"/>
                <a:cs typeface="Cambria Math"/>
                <a:sym typeface="Cambria Math"/>
              </a:rPr>
              <a:t>𝑡–1</a:t>
            </a:r>
            <a:r>
              <a:rPr b="0" i="0" lang="en-US" sz="2800" u="none" cap="none" strike="noStrike">
                <a:solidFill>
                  <a:srgbClr val="000000"/>
                </a:solidFill>
                <a:latin typeface="Cambria Math"/>
                <a:ea typeface="Cambria Math"/>
                <a:cs typeface="Cambria Math"/>
                <a:sym typeface="Cambria Math"/>
              </a:rPr>
              <a:t>, 𝑥</a:t>
            </a:r>
            <a:r>
              <a:rPr b="0" baseline="-25000" i="0" lang="en-US" sz="3000" u="none" cap="none" strike="noStrike">
                <a:solidFill>
                  <a:srgbClr val="000000"/>
                </a:solidFill>
                <a:latin typeface="Cambria Math"/>
                <a:ea typeface="Cambria Math"/>
                <a:cs typeface="Cambria Math"/>
                <a:sym typeface="Cambria Math"/>
              </a:rPr>
              <a:t>𝑡</a:t>
            </a:r>
            <a:r>
              <a:rPr b="0" i="0" lang="en-US" sz="2800" u="none" cap="none" strike="noStrike">
                <a:solidFill>
                  <a:srgbClr val="000000"/>
                </a:solidFill>
                <a:latin typeface="Cambria Math"/>
                <a:ea typeface="Cambria Math"/>
                <a:cs typeface="Cambria Math"/>
                <a:sym typeface="Cambria Math"/>
              </a:rPr>
              <a:t>])</a:t>
            </a:r>
            <a:endParaRPr b="0" i="0" sz="2800" u="none" cap="none" strike="noStrike">
              <a:solidFill>
                <a:srgbClr val="000000"/>
              </a:solidFill>
              <a:latin typeface="Cambria Math"/>
              <a:ea typeface="Cambria Math"/>
              <a:cs typeface="Cambria Math"/>
              <a:sym typeface="Cambria Math"/>
            </a:endParaRPr>
          </a:p>
          <a:p>
            <a:pPr indent="0" lvl="0" marL="120014" marR="0" rtl="0" algn="l">
              <a:lnSpc>
                <a:spcPct val="100000"/>
              </a:lnSpc>
              <a:spcBef>
                <a:spcPts val="1775"/>
              </a:spcBef>
              <a:spcAft>
                <a:spcPts val="0"/>
              </a:spcAft>
              <a:buNone/>
            </a:pPr>
            <a:r>
              <a:rPr b="0" i="0" lang="en-US" sz="2800" u="none" cap="none" strike="noStrike">
                <a:solidFill>
                  <a:srgbClr val="000000"/>
                </a:solidFill>
                <a:latin typeface="Cambria Math"/>
                <a:ea typeface="Cambria Math"/>
                <a:cs typeface="Cambria Math"/>
                <a:sym typeface="Cambria Math"/>
              </a:rPr>
              <a:t>𝑟</a:t>
            </a:r>
            <a:r>
              <a:rPr b="0" baseline="-25000" i="0" lang="en-US" sz="2850" u="none" cap="none" strike="noStrike">
                <a:solidFill>
                  <a:srgbClr val="000000"/>
                </a:solidFill>
                <a:latin typeface="Cambria Math"/>
                <a:ea typeface="Cambria Math"/>
                <a:cs typeface="Cambria Math"/>
                <a:sym typeface="Cambria Math"/>
              </a:rPr>
              <a:t>𝑡 </a:t>
            </a:r>
            <a:r>
              <a:rPr b="0" i="0" lang="en-US" sz="2800" u="none" cap="none" strike="noStrike">
                <a:solidFill>
                  <a:srgbClr val="000000"/>
                </a:solidFill>
                <a:latin typeface="Cambria Math"/>
                <a:ea typeface="Cambria Math"/>
                <a:cs typeface="Cambria Math"/>
                <a:sym typeface="Cambria Math"/>
              </a:rPr>
              <a:t>= 𝜎(𝑤</a:t>
            </a:r>
            <a:r>
              <a:rPr b="0" baseline="-25000" i="0" lang="en-US" sz="3000" u="none" cap="none" strike="noStrike">
                <a:solidFill>
                  <a:srgbClr val="000000"/>
                </a:solidFill>
                <a:latin typeface="Cambria Math"/>
                <a:ea typeface="Cambria Math"/>
                <a:cs typeface="Cambria Math"/>
                <a:sym typeface="Cambria Math"/>
              </a:rPr>
              <a:t>𝑟∗𝐺</a:t>
            </a:r>
            <a:r>
              <a:rPr b="0" i="0" lang="en-US" sz="2800" u="none" cap="none" strike="noStrike">
                <a:solidFill>
                  <a:srgbClr val="000000"/>
                </a:solidFill>
                <a:latin typeface="Cambria Math"/>
                <a:ea typeface="Cambria Math"/>
                <a:cs typeface="Cambria Math"/>
                <a:sym typeface="Cambria Math"/>
              </a:rPr>
              <a:t>[ℎ</a:t>
            </a:r>
            <a:r>
              <a:rPr b="0" baseline="-25000" i="0" lang="en-US" sz="3000" u="none" cap="none" strike="noStrike">
                <a:solidFill>
                  <a:srgbClr val="000000"/>
                </a:solidFill>
                <a:latin typeface="Cambria Math"/>
                <a:ea typeface="Cambria Math"/>
                <a:cs typeface="Cambria Math"/>
                <a:sym typeface="Cambria Math"/>
              </a:rPr>
              <a:t>𝑡–1</a:t>
            </a:r>
            <a:r>
              <a:rPr b="0" i="0" lang="en-US" sz="2800" u="none" cap="none" strike="noStrike">
                <a:solidFill>
                  <a:srgbClr val="000000"/>
                </a:solidFill>
                <a:latin typeface="Cambria Math"/>
                <a:ea typeface="Cambria Math"/>
                <a:cs typeface="Cambria Math"/>
                <a:sym typeface="Cambria Math"/>
              </a:rPr>
              <a:t>, 𝑥</a:t>
            </a:r>
            <a:r>
              <a:rPr b="0" baseline="-25000" i="0" lang="en-US" sz="3000" u="none" cap="none" strike="noStrike">
                <a:solidFill>
                  <a:srgbClr val="000000"/>
                </a:solidFill>
                <a:latin typeface="Cambria Math"/>
                <a:ea typeface="Cambria Math"/>
                <a:cs typeface="Cambria Math"/>
                <a:sym typeface="Cambria Math"/>
              </a:rPr>
              <a:t>𝑡</a:t>
            </a:r>
            <a:r>
              <a:rPr b="0" i="0" lang="en-US" sz="2800" u="none" cap="none" strike="noStrike">
                <a:solidFill>
                  <a:srgbClr val="000000"/>
                </a:solidFill>
                <a:latin typeface="Cambria Math"/>
                <a:ea typeface="Cambria Math"/>
                <a:cs typeface="Cambria Math"/>
                <a:sym typeface="Cambria Math"/>
              </a:rPr>
              <a:t>])</a:t>
            </a:r>
            <a:endParaRPr b="0" i="0" sz="2800" u="none" cap="none" strike="noStrike">
              <a:solidFill>
                <a:srgbClr val="000000"/>
              </a:solidFill>
              <a:latin typeface="Cambria Math"/>
              <a:ea typeface="Cambria Math"/>
              <a:cs typeface="Cambria Math"/>
              <a:sym typeface="Cambria Math"/>
            </a:endParaRPr>
          </a:p>
          <a:p>
            <a:pPr indent="29844" lvl="0" marL="63500" marR="43180" rtl="0" algn="l">
              <a:lnSpc>
                <a:spcPct val="175333"/>
              </a:lnSpc>
              <a:spcBef>
                <a:spcPts val="1000"/>
              </a:spcBef>
              <a:spcAft>
                <a:spcPts val="0"/>
              </a:spcAft>
              <a:buNone/>
            </a:pPr>
            <a:r>
              <a:rPr b="0" i="0" lang="en-US" sz="2800" u="none" cap="none" strike="noStrike">
                <a:solidFill>
                  <a:srgbClr val="000000"/>
                </a:solidFill>
                <a:latin typeface="Cambria Math"/>
                <a:ea typeface="Cambria Math"/>
                <a:cs typeface="Cambria Math"/>
                <a:sym typeface="Cambria Math"/>
              </a:rPr>
              <a:t>𝑐</a:t>
            </a:r>
            <a:r>
              <a:rPr b="0" baseline="-25000" i="0" lang="en-US" sz="3000" u="none" cap="none" strike="noStrike">
                <a:solidFill>
                  <a:srgbClr val="000000"/>
                </a:solidFill>
                <a:latin typeface="Cambria Math"/>
                <a:ea typeface="Cambria Math"/>
                <a:cs typeface="Cambria Math"/>
                <a:sym typeface="Cambria Math"/>
              </a:rPr>
              <a:t>𝑡  </a:t>
            </a:r>
            <a:r>
              <a:rPr b="0" i="0" lang="en-US" sz="2800" u="none" cap="none" strike="noStrike">
                <a:solidFill>
                  <a:srgbClr val="000000"/>
                </a:solidFill>
                <a:latin typeface="Cambria Math"/>
                <a:ea typeface="Cambria Math"/>
                <a:cs typeface="Cambria Math"/>
                <a:sym typeface="Cambria Math"/>
              </a:rPr>
              <a:t>= 𝑡𝑎𝑛ℎ(𝑤</a:t>
            </a:r>
            <a:r>
              <a:rPr b="0" baseline="-25000" i="0" lang="en-US" sz="3000" u="none" cap="none" strike="noStrike">
                <a:solidFill>
                  <a:srgbClr val="000000"/>
                </a:solidFill>
                <a:latin typeface="Cambria Math"/>
                <a:ea typeface="Cambria Math"/>
                <a:cs typeface="Cambria Math"/>
                <a:sym typeface="Cambria Math"/>
              </a:rPr>
              <a:t>𝑐∗𝐺 </a:t>
            </a:r>
            <a:r>
              <a:rPr b="0" i="0" lang="en-US" sz="2800" u="none" cap="none" strike="noStrike">
                <a:solidFill>
                  <a:srgbClr val="000000"/>
                </a:solidFill>
                <a:latin typeface="Cambria Math"/>
                <a:ea typeface="Cambria Math"/>
                <a:cs typeface="Cambria Math"/>
                <a:sym typeface="Cambria Math"/>
              </a:rPr>
              <a:t>[𝑟</a:t>
            </a:r>
            <a:r>
              <a:rPr b="0" baseline="-25000" i="0" lang="en-US" sz="3000" u="none" cap="none" strike="noStrike">
                <a:solidFill>
                  <a:srgbClr val="000000"/>
                </a:solidFill>
                <a:latin typeface="Cambria Math"/>
                <a:ea typeface="Cambria Math"/>
                <a:cs typeface="Cambria Math"/>
                <a:sym typeface="Cambria Math"/>
              </a:rPr>
              <a:t>𝑡</a:t>
            </a:r>
            <a:r>
              <a:rPr b="0" i="0" lang="en-US" sz="2800" u="none" cap="none" strike="noStrike">
                <a:solidFill>
                  <a:srgbClr val="000000"/>
                </a:solidFill>
                <a:latin typeface="Cambria Math"/>
                <a:ea typeface="Cambria Math"/>
                <a:cs typeface="Cambria Math"/>
                <a:sym typeface="Cambria Math"/>
              </a:rPr>
              <a:t>∗ ℎ</a:t>
            </a:r>
            <a:r>
              <a:rPr b="0" baseline="-25000" i="0" lang="en-US" sz="3000" u="none" cap="none" strike="noStrike">
                <a:solidFill>
                  <a:srgbClr val="000000"/>
                </a:solidFill>
                <a:latin typeface="Cambria Math"/>
                <a:ea typeface="Cambria Math"/>
                <a:cs typeface="Cambria Math"/>
                <a:sym typeface="Cambria Math"/>
              </a:rPr>
              <a:t>𝑡–1</a:t>
            </a:r>
            <a:r>
              <a:rPr b="0" i="0" lang="en-US" sz="2800" u="none" cap="none" strike="noStrike">
                <a:solidFill>
                  <a:srgbClr val="000000"/>
                </a:solidFill>
                <a:latin typeface="Cambria Math"/>
                <a:ea typeface="Cambria Math"/>
                <a:cs typeface="Cambria Math"/>
                <a:sym typeface="Cambria Math"/>
              </a:rPr>
              <a:t>, 𝑥</a:t>
            </a:r>
            <a:r>
              <a:rPr b="0" baseline="-25000" i="0" lang="en-US" sz="3000" u="none" cap="none" strike="noStrike">
                <a:solidFill>
                  <a:srgbClr val="000000"/>
                </a:solidFill>
                <a:latin typeface="Cambria Math"/>
                <a:ea typeface="Cambria Math"/>
                <a:cs typeface="Cambria Math"/>
                <a:sym typeface="Cambria Math"/>
              </a:rPr>
              <a:t>𝑡</a:t>
            </a:r>
            <a:r>
              <a:rPr b="0" i="0" lang="en-US" sz="2800" u="none" cap="none" strike="noStrike">
                <a:solidFill>
                  <a:srgbClr val="000000"/>
                </a:solidFill>
                <a:latin typeface="Cambria Math"/>
                <a:ea typeface="Cambria Math"/>
                <a:cs typeface="Cambria Math"/>
                <a:sym typeface="Cambria Math"/>
              </a:rPr>
              <a:t>]) ℎ</a:t>
            </a:r>
            <a:r>
              <a:rPr b="0" baseline="-25000" i="0" lang="en-US" sz="3000" u="none" cap="none" strike="noStrike">
                <a:solidFill>
                  <a:srgbClr val="000000"/>
                </a:solidFill>
                <a:latin typeface="Cambria Math"/>
                <a:ea typeface="Cambria Math"/>
                <a:cs typeface="Cambria Math"/>
                <a:sym typeface="Cambria Math"/>
              </a:rPr>
              <a:t>𝑡  </a:t>
            </a:r>
            <a:r>
              <a:rPr b="0" i="0" lang="en-US" sz="2800" u="none" cap="none" strike="noStrike">
                <a:solidFill>
                  <a:srgbClr val="000000"/>
                </a:solidFill>
                <a:latin typeface="Cambria Math"/>
                <a:ea typeface="Cambria Math"/>
                <a:cs typeface="Cambria Math"/>
                <a:sym typeface="Cambria Math"/>
              </a:rPr>
              <a:t>=	(1 − 𝑢</a:t>
            </a:r>
            <a:r>
              <a:rPr b="0" baseline="-25000" i="0" lang="en-US" sz="3000" u="none" cap="none" strike="noStrike">
                <a:solidFill>
                  <a:srgbClr val="000000"/>
                </a:solidFill>
                <a:latin typeface="Cambria Math"/>
                <a:ea typeface="Cambria Math"/>
                <a:cs typeface="Cambria Math"/>
                <a:sym typeface="Cambria Math"/>
              </a:rPr>
              <a:t>𝑡</a:t>
            </a:r>
            <a:r>
              <a:rPr lang="en-US" sz="2800">
                <a:latin typeface="Cambria Math"/>
                <a:ea typeface="Cambria Math"/>
                <a:cs typeface="Cambria Math"/>
                <a:sym typeface="Cambria Math"/>
              </a:rPr>
              <a:t>) * </a:t>
            </a:r>
            <a:r>
              <a:rPr b="0" i="0" lang="en-US" sz="2800" u="none" cap="none" strike="noStrike">
                <a:solidFill>
                  <a:srgbClr val="000000"/>
                </a:solidFill>
                <a:latin typeface="Cambria Math"/>
                <a:ea typeface="Cambria Math"/>
                <a:cs typeface="Cambria Math"/>
                <a:sym typeface="Cambria Math"/>
              </a:rPr>
              <a:t>ℎ</a:t>
            </a:r>
            <a:r>
              <a:rPr b="0" baseline="-25000" i="0" lang="en-US" sz="3000" u="none" cap="none" strike="noStrike">
                <a:solidFill>
                  <a:srgbClr val="000000"/>
                </a:solidFill>
                <a:latin typeface="Cambria Math"/>
                <a:ea typeface="Cambria Math"/>
                <a:cs typeface="Cambria Math"/>
                <a:sym typeface="Cambria Math"/>
              </a:rPr>
              <a:t>𝑡–1 </a:t>
            </a:r>
            <a:r>
              <a:rPr b="0" i="0" lang="en-US" sz="2800" u="none" cap="none" strike="noStrike">
                <a:solidFill>
                  <a:srgbClr val="000000"/>
                </a:solidFill>
                <a:latin typeface="Cambria Math"/>
                <a:ea typeface="Cambria Math"/>
                <a:cs typeface="Cambria Math"/>
                <a:sym typeface="Cambria Math"/>
              </a:rPr>
              <a:t>+ 𝑢</a:t>
            </a:r>
            <a:r>
              <a:rPr b="0" baseline="-25000" i="0" lang="en-US" sz="2850" u="none" cap="none" strike="noStrike">
                <a:solidFill>
                  <a:srgbClr val="000000"/>
                </a:solidFill>
                <a:latin typeface="Cambria Math"/>
                <a:ea typeface="Cambria Math"/>
                <a:cs typeface="Cambria Math"/>
                <a:sym typeface="Cambria Math"/>
              </a:rPr>
              <a:t>𝑡 </a:t>
            </a:r>
            <a:r>
              <a:rPr b="0" i="0" lang="en-US" sz="2800" u="none" cap="none" strike="noStrike">
                <a:solidFill>
                  <a:srgbClr val="000000"/>
                </a:solidFill>
                <a:latin typeface="Cambria Math"/>
                <a:ea typeface="Cambria Math"/>
                <a:cs typeface="Cambria Math"/>
                <a:sym typeface="Cambria Math"/>
              </a:rPr>
              <a:t>∗ 𝑐</a:t>
            </a:r>
            <a:r>
              <a:rPr b="0" baseline="-25000" i="0" lang="en-US" sz="3000" u="none" cap="none" strike="noStrike">
                <a:solidFill>
                  <a:srgbClr val="000000"/>
                </a:solidFill>
                <a:latin typeface="Cambria Math"/>
                <a:ea typeface="Cambria Math"/>
                <a:cs typeface="Cambria Math"/>
                <a:sym typeface="Cambria Math"/>
              </a:rPr>
              <a:t>𝑡</a:t>
            </a:r>
            <a:endParaRPr b="0" baseline="-25000" i="0" sz="3000" u="none" cap="none" strike="noStrike">
              <a:solidFill>
                <a:srgbClr val="000000"/>
              </a:solidFill>
              <a:latin typeface="Cambria Math"/>
              <a:ea typeface="Cambria Math"/>
              <a:cs typeface="Cambria Math"/>
              <a:sym typeface="Cambria Math"/>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7"/>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228600" rtl="0" algn="l">
              <a:spcBef>
                <a:spcPts val="0"/>
              </a:spcBef>
              <a:spcAft>
                <a:spcPts val="0"/>
              </a:spcAft>
              <a:buClr>
                <a:schemeClr val="accent1"/>
              </a:buClr>
              <a:buSzPts val="2400"/>
              <a:buFont typeface="Trebuchet MS"/>
              <a:buNone/>
            </a:pPr>
            <a:r>
              <a:rPr b="1" lang="en-US" sz="2400"/>
              <a:t>How Graph Convolution Modifies the Gates?</a:t>
            </a:r>
            <a:endParaRPr sz="2400"/>
          </a:p>
        </p:txBody>
      </p:sp>
      <p:sp>
        <p:nvSpPr>
          <p:cNvPr id="412" name="Google Shape;412;p57"/>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rmAutofit fontScale="77500" lnSpcReduction="10000"/>
          </a:bodyPr>
          <a:lstStyle/>
          <a:p>
            <a:pPr indent="-242316" lvl="0" marL="257175" rtl="0" algn="l">
              <a:spcBef>
                <a:spcPts val="0"/>
              </a:spcBef>
              <a:spcAft>
                <a:spcPts val="0"/>
              </a:spcAft>
              <a:buClr>
                <a:schemeClr val="dk1"/>
              </a:buClr>
              <a:buSzPct val="57777"/>
              <a:buChar char="●"/>
            </a:pPr>
            <a:r>
              <a:rPr lang="en-US">
                <a:solidFill>
                  <a:schemeClr val="dk1"/>
                </a:solidFill>
              </a:rPr>
              <a:t>The </a:t>
            </a:r>
            <a:r>
              <a:rPr b="1" lang="en-US">
                <a:solidFill>
                  <a:schemeClr val="dk1"/>
                </a:solidFill>
              </a:rPr>
              <a:t>incorporation of graph convolution (G)</a:t>
            </a:r>
            <a:r>
              <a:rPr lang="en-US">
                <a:solidFill>
                  <a:schemeClr val="dk1"/>
                </a:solidFill>
              </a:rPr>
              <a:t> in DCRNN fundamentally changes how the </a:t>
            </a:r>
            <a:r>
              <a:rPr b="1" lang="en-US">
                <a:solidFill>
                  <a:schemeClr val="dk1"/>
                </a:solidFill>
              </a:rPr>
              <a:t>update</a:t>
            </a:r>
            <a:r>
              <a:rPr lang="en-US">
                <a:solidFill>
                  <a:schemeClr val="dk1"/>
                </a:solidFill>
              </a:rPr>
              <a:t> and </a:t>
            </a:r>
            <a:r>
              <a:rPr b="1" lang="en-US">
                <a:solidFill>
                  <a:schemeClr val="dk1"/>
                </a:solidFill>
              </a:rPr>
              <a:t>reset gates</a:t>
            </a:r>
            <a:r>
              <a:rPr lang="en-US">
                <a:solidFill>
                  <a:schemeClr val="dk1"/>
                </a:solidFill>
              </a:rPr>
              <a:t> operate compared to a standard GRU because it allows these gates to model </a:t>
            </a:r>
            <a:r>
              <a:rPr b="1" lang="en-US">
                <a:solidFill>
                  <a:schemeClr val="dk1"/>
                </a:solidFill>
              </a:rPr>
              <a:t>spatial dependencies</a:t>
            </a:r>
            <a:r>
              <a:rPr lang="en-US">
                <a:solidFill>
                  <a:schemeClr val="dk1"/>
                </a:solidFill>
              </a:rPr>
              <a:t> in addition to temporal dynamics.</a:t>
            </a:r>
            <a:endParaRPr>
              <a:solidFill>
                <a:schemeClr val="dk1"/>
              </a:solidFill>
            </a:endParaRPr>
          </a:p>
          <a:p>
            <a:pPr indent="-242316" lvl="0" marL="257175" rtl="0" algn="l">
              <a:spcBef>
                <a:spcPts val="750"/>
              </a:spcBef>
              <a:spcAft>
                <a:spcPts val="0"/>
              </a:spcAft>
              <a:buClr>
                <a:schemeClr val="dk1"/>
              </a:buClr>
              <a:buSzPct val="57777"/>
              <a:buChar char="●"/>
            </a:pPr>
            <a:r>
              <a:rPr lang="en-US">
                <a:solidFill>
                  <a:schemeClr val="dk1"/>
                </a:solidFill>
              </a:rPr>
              <a:t>In a </a:t>
            </a:r>
            <a:r>
              <a:rPr b="1" lang="en-US">
                <a:solidFill>
                  <a:schemeClr val="dk1"/>
                </a:solidFill>
              </a:rPr>
              <a:t>normal GRU</a:t>
            </a:r>
            <a:r>
              <a:rPr lang="en-US">
                <a:solidFill>
                  <a:schemeClr val="dk1"/>
                </a:solidFill>
              </a:rPr>
              <a:t>, the gates operate </a:t>
            </a:r>
            <a:r>
              <a:rPr b="1" lang="en-US">
                <a:solidFill>
                  <a:schemeClr val="dk1"/>
                </a:solidFill>
              </a:rPr>
              <a:t>independently per node or feature</a:t>
            </a:r>
            <a:r>
              <a:rPr lang="en-US">
                <a:solidFill>
                  <a:schemeClr val="dk1"/>
                </a:solidFill>
              </a:rPr>
              <a:t> without considering relationships between nodes.</a:t>
            </a:r>
            <a:endParaRPr>
              <a:solidFill>
                <a:schemeClr val="dk1"/>
              </a:solidFill>
            </a:endParaRPr>
          </a:p>
          <a:p>
            <a:pPr indent="-242316" lvl="0" marL="257175" rtl="0" algn="l">
              <a:spcBef>
                <a:spcPts val="750"/>
              </a:spcBef>
              <a:spcAft>
                <a:spcPts val="0"/>
              </a:spcAft>
              <a:buClr>
                <a:schemeClr val="dk1"/>
              </a:buClr>
              <a:buSzPct val="57777"/>
              <a:buChar char="●"/>
            </a:pPr>
            <a:r>
              <a:rPr lang="en-US">
                <a:solidFill>
                  <a:schemeClr val="dk1"/>
                </a:solidFill>
              </a:rPr>
              <a:t>In </a:t>
            </a:r>
            <a:r>
              <a:rPr b="1" lang="en-US">
                <a:solidFill>
                  <a:schemeClr val="dk1"/>
                </a:solidFill>
              </a:rPr>
              <a:t>DCRNN</a:t>
            </a:r>
            <a:r>
              <a:rPr lang="en-US">
                <a:solidFill>
                  <a:schemeClr val="dk1"/>
                </a:solidFill>
              </a:rPr>
              <a:t>, graph convolution enables the gates to </a:t>
            </a:r>
            <a:r>
              <a:rPr b="1" lang="en-US">
                <a:solidFill>
                  <a:schemeClr val="dk1"/>
                </a:solidFill>
              </a:rPr>
              <a:t>dynamically adapt</a:t>
            </a:r>
            <a:r>
              <a:rPr lang="en-US">
                <a:solidFill>
                  <a:schemeClr val="dk1"/>
                </a:solidFill>
              </a:rPr>
              <a:t> based on the structure of the graph:</a:t>
            </a:r>
            <a:endParaRPr>
              <a:solidFill>
                <a:schemeClr val="dk1"/>
              </a:solidFill>
            </a:endParaRPr>
          </a:p>
          <a:p>
            <a:pPr indent="-242316" lvl="0" marL="257175" rtl="0" algn="l">
              <a:spcBef>
                <a:spcPts val="750"/>
              </a:spcBef>
              <a:spcAft>
                <a:spcPts val="0"/>
              </a:spcAft>
              <a:buClr>
                <a:schemeClr val="dk1"/>
              </a:buClr>
              <a:buSzPct val="57777"/>
              <a:buChar char="●"/>
            </a:pPr>
            <a:r>
              <a:rPr b="1" lang="en-US">
                <a:solidFill>
                  <a:schemeClr val="dk1"/>
                </a:solidFill>
              </a:rPr>
              <a:t>Neighbor Influence</a:t>
            </a:r>
            <a:r>
              <a:rPr lang="en-US">
                <a:solidFill>
                  <a:schemeClr val="dk1"/>
                </a:solidFill>
              </a:rPr>
              <a:t>: A node's gates are influenced by its neighbors, which is essential for spatiotemporal data like traffic or sensor networks.</a:t>
            </a:r>
            <a:endParaRPr>
              <a:solidFill>
                <a:schemeClr val="dk1"/>
              </a:solidFill>
            </a:endParaRPr>
          </a:p>
          <a:p>
            <a:pPr indent="-242316" lvl="0" marL="257175" rtl="0" algn="l">
              <a:spcBef>
                <a:spcPts val="750"/>
              </a:spcBef>
              <a:spcAft>
                <a:spcPts val="0"/>
              </a:spcAft>
              <a:buClr>
                <a:schemeClr val="dk1"/>
              </a:buClr>
              <a:buSzPct val="57777"/>
              <a:buChar char="●"/>
            </a:pPr>
            <a:r>
              <a:rPr b="1" lang="en-US">
                <a:solidFill>
                  <a:schemeClr val="dk1"/>
                </a:solidFill>
              </a:rPr>
              <a:t>Propagation of Information</a:t>
            </a:r>
            <a:r>
              <a:rPr lang="en-US">
                <a:solidFill>
                  <a:schemeClr val="dk1"/>
                </a:solidFill>
              </a:rPr>
              <a:t>: Information from connected nodes is propagated through the graph during every update/reset step, leading to a richer, more context-aware representation.</a:t>
            </a:r>
            <a:endParaRPr>
              <a:solidFill>
                <a:schemeClr val="dk1"/>
              </a:solidFill>
            </a:endParaRPr>
          </a:p>
          <a:p>
            <a:pPr indent="-188595" lvl="0" marL="257175" rtl="0" algn="l">
              <a:spcBef>
                <a:spcPts val="750"/>
              </a:spcBef>
              <a:spcAft>
                <a:spcPts val="0"/>
              </a:spcAft>
              <a:buSzPct val="60000"/>
              <a:buNone/>
            </a:pPr>
            <a:r>
              <a:t/>
            </a:r>
            <a:endParaRPr>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8"/>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700"/>
              <a:buFont typeface="Trebuchet MS"/>
              <a:buNone/>
            </a:pPr>
            <a:r>
              <a:rPr b="1" lang="en-US"/>
              <a:t>Update Gate (</a:t>
            </a:r>
            <a:r>
              <a:rPr lang="en-US" sz="2400">
                <a:latin typeface="Cambria Math"/>
                <a:ea typeface="Cambria Math"/>
                <a:cs typeface="Cambria Math"/>
                <a:sym typeface="Cambria Math"/>
              </a:rPr>
              <a:t>𝑢</a:t>
            </a:r>
            <a:r>
              <a:rPr baseline="-25000" lang="en-US" sz="2800">
                <a:latin typeface="Cambria Math"/>
                <a:ea typeface="Cambria Math"/>
                <a:cs typeface="Cambria Math"/>
                <a:sym typeface="Cambria Math"/>
              </a:rPr>
              <a:t>𝑡 </a:t>
            </a:r>
            <a:r>
              <a:rPr b="1" lang="en-US"/>
              <a:t>​)</a:t>
            </a:r>
            <a:r>
              <a:rPr lang="en-US"/>
              <a:t>:</a:t>
            </a:r>
            <a:endParaRPr/>
          </a:p>
        </p:txBody>
      </p:sp>
      <p:sp>
        <p:nvSpPr>
          <p:cNvPr id="418" name="Google Shape;418;p58"/>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rmAutofit/>
          </a:bodyPr>
          <a:lstStyle/>
          <a:p>
            <a:pPr indent="-257175" lvl="0" marL="257175" rtl="0" algn="l">
              <a:spcBef>
                <a:spcPts val="0"/>
              </a:spcBef>
              <a:spcAft>
                <a:spcPts val="0"/>
              </a:spcAft>
              <a:buClr>
                <a:schemeClr val="dk1"/>
              </a:buClr>
              <a:buSzPts val="1040"/>
              <a:buChar char="●"/>
            </a:pPr>
            <a:r>
              <a:rPr lang="en-US">
                <a:solidFill>
                  <a:schemeClr val="dk1"/>
                </a:solidFill>
              </a:rPr>
              <a:t>Standard GRU: Determines how much of the past state (</a:t>
            </a:r>
            <a:r>
              <a:rPr lang="en-US" sz="1200">
                <a:solidFill>
                  <a:schemeClr val="dk1"/>
                </a:solidFill>
                <a:latin typeface="Cambria Math"/>
                <a:ea typeface="Cambria Math"/>
                <a:cs typeface="Cambria Math"/>
                <a:sym typeface="Cambria Math"/>
              </a:rPr>
              <a:t>ℎ</a:t>
            </a:r>
            <a:r>
              <a:rPr baseline="-25000" lang="en-US" sz="1400">
                <a:solidFill>
                  <a:schemeClr val="dk1"/>
                </a:solidFill>
                <a:latin typeface="Cambria Math"/>
                <a:ea typeface="Cambria Math"/>
                <a:cs typeface="Cambria Math"/>
                <a:sym typeface="Cambria Math"/>
              </a:rPr>
              <a:t>𝑡–1</a:t>
            </a:r>
            <a:r>
              <a:rPr lang="en-US">
                <a:solidFill>
                  <a:schemeClr val="dk1"/>
                </a:solidFill>
              </a:rPr>
              <a:t>) to retain for the current state, based on local information.</a:t>
            </a:r>
            <a:endParaRPr>
              <a:solidFill>
                <a:schemeClr val="dk1"/>
              </a:solidFill>
            </a:endParaRPr>
          </a:p>
          <a:p>
            <a:pPr indent="-257175" lvl="0" marL="257175" rtl="0" algn="l">
              <a:spcBef>
                <a:spcPts val="750"/>
              </a:spcBef>
              <a:spcAft>
                <a:spcPts val="0"/>
              </a:spcAft>
              <a:buClr>
                <a:schemeClr val="dk1"/>
              </a:buClr>
              <a:buSzPts val="1040"/>
              <a:buChar char="●"/>
            </a:pPr>
            <a:r>
              <a:rPr lang="en-US">
                <a:solidFill>
                  <a:schemeClr val="dk1"/>
                </a:solidFill>
              </a:rPr>
              <a:t>DCRNN: </a:t>
            </a:r>
            <a:r>
              <a:rPr lang="en-US" sz="1200">
                <a:solidFill>
                  <a:schemeClr val="dk1"/>
                </a:solidFill>
                <a:latin typeface="Cambria Math"/>
                <a:ea typeface="Cambria Math"/>
                <a:cs typeface="Cambria Math"/>
                <a:sym typeface="Cambria Math"/>
              </a:rPr>
              <a:t>𝑢</a:t>
            </a:r>
            <a:r>
              <a:rPr baseline="-25000" lang="en-US" sz="1400">
                <a:solidFill>
                  <a:schemeClr val="dk1"/>
                </a:solidFill>
                <a:latin typeface="Cambria Math"/>
                <a:ea typeface="Cambria Math"/>
                <a:cs typeface="Cambria Math"/>
                <a:sym typeface="Cambria Math"/>
              </a:rPr>
              <a:t>𝑡  </a:t>
            </a:r>
            <a:r>
              <a:rPr lang="en-US">
                <a:solidFill>
                  <a:schemeClr val="dk1"/>
                </a:solidFill>
              </a:rPr>
              <a:t>is influenced not only by the node's past state but also by the states of its connected neighbors in the graph. </a:t>
            </a:r>
            <a:endParaRPr>
              <a:solidFill>
                <a:schemeClr val="dk1"/>
              </a:solidFill>
            </a:endParaRPr>
          </a:p>
          <a:p>
            <a:pPr indent="-257175" lvl="0" marL="257175" rtl="0" algn="l">
              <a:spcBef>
                <a:spcPts val="750"/>
              </a:spcBef>
              <a:spcAft>
                <a:spcPts val="0"/>
              </a:spcAft>
              <a:buClr>
                <a:schemeClr val="dk1"/>
              </a:buClr>
              <a:buSzPts val="1040"/>
              <a:buChar char="●"/>
            </a:pPr>
            <a:r>
              <a:rPr lang="en-US">
                <a:solidFill>
                  <a:schemeClr val="dk1"/>
                </a:solidFill>
              </a:rPr>
              <a:t>The </a:t>
            </a:r>
            <a:r>
              <a:rPr b="1" lang="en-US">
                <a:solidFill>
                  <a:schemeClr val="dk1"/>
                </a:solidFill>
              </a:rPr>
              <a:t>graph convolution</a:t>
            </a:r>
            <a:r>
              <a:rPr lang="en-US">
                <a:solidFill>
                  <a:schemeClr val="dk1"/>
                </a:solidFill>
              </a:rPr>
              <a:t> aggregates information from neighboring nodes, enabling </a:t>
            </a:r>
            <a:r>
              <a:rPr lang="en-US" sz="1200">
                <a:solidFill>
                  <a:schemeClr val="dk1"/>
                </a:solidFill>
                <a:latin typeface="Cambria Math"/>
                <a:ea typeface="Cambria Math"/>
                <a:cs typeface="Cambria Math"/>
                <a:sym typeface="Cambria Math"/>
              </a:rPr>
              <a:t>𝑢</a:t>
            </a:r>
            <a:r>
              <a:rPr baseline="-25000" lang="en-US" sz="1400">
                <a:solidFill>
                  <a:schemeClr val="dk1"/>
                </a:solidFill>
                <a:latin typeface="Cambria Math"/>
                <a:ea typeface="Cambria Math"/>
                <a:cs typeface="Cambria Math"/>
                <a:sym typeface="Cambria Math"/>
              </a:rPr>
              <a:t>𝑡 </a:t>
            </a:r>
            <a:r>
              <a:rPr lang="en-US">
                <a:solidFill>
                  <a:schemeClr val="dk1"/>
                </a:solidFill>
              </a:rPr>
              <a:t>​ to capture </a:t>
            </a:r>
            <a:r>
              <a:rPr b="1" lang="en-US">
                <a:solidFill>
                  <a:schemeClr val="dk1"/>
                </a:solidFill>
              </a:rPr>
              <a:t>spatial patterns</a:t>
            </a:r>
            <a:r>
              <a:rPr lang="en-US">
                <a:solidFill>
                  <a:schemeClr val="dk1"/>
                </a:solidFill>
              </a:rPr>
              <a:t> (e.g., how traffic at nearby sensors affects the current sensor).</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700"/>
              <a:buFont typeface="Trebuchet MS"/>
              <a:buNone/>
            </a:pPr>
            <a:r>
              <a:rPr b="1" lang="en-US"/>
              <a:t>Reset Gate (rt​)</a:t>
            </a:r>
            <a:r>
              <a:rPr lang="en-US"/>
              <a:t>:</a:t>
            </a:r>
            <a:endParaRPr/>
          </a:p>
        </p:txBody>
      </p:sp>
      <p:sp>
        <p:nvSpPr>
          <p:cNvPr id="424" name="Google Shape;424;p59"/>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rmAutofit/>
          </a:bodyPr>
          <a:lstStyle/>
          <a:p>
            <a:pPr indent="-257175" lvl="0" marL="257175" rtl="0" algn="l">
              <a:spcBef>
                <a:spcPts val="0"/>
              </a:spcBef>
              <a:spcAft>
                <a:spcPts val="0"/>
              </a:spcAft>
              <a:buClr>
                <a:schemeClr val="dk1"/>
              </a:buClr>
              <a:buSzPts val="1040"/>
              <a:buChar char="●"/>
            </a:pPr>
            <a:r>
              <a:rPr lang="en-US">
                <a:solidFill>
                  <a:schemeClr val="dk1"/>
                </a:solidFill>
              </a:rPr>
              <a:t>Standard GRU: Controls how much of the past state (</a:t>
            </a:r>
            <a:r>
              <a:rPr lang="en-US" sz="1200">
                <a:solidFill>
                  <a:schemeClr val="dk1"/>
                </a:solidFill>
                <a:latin typeface="Cambria Math"/>
                <a:ea typeface="Cambria Math"/>
                <a:cs typeface="Cambria Math"/>
                <a:sym typeface="Cambria Math"/>
              </a:rPr>
              <a:t>ℎ</a:t>
            </a:r>
            <a:r>
              <a:rPr baseline="-25000" lang="en-US" sz="1400">
                <a:solidFill>
                  <a:schemeClr val="dk1"/>
                </a:solidFill>
                <a:latin typeface="Cambria Math"/>
                <a:ea typeface="Cambria Math"/>
                <a:cs typeface="Cambria Math"/>
                <a:sym typeface="Cambria Math"/>
              </a:rPr>
              <a:t>𝑡–1 </a:t>
            </a:r>
            <a:r>
              <a:rPr lang="en-US">
                <a:solidFill>
                  <a:schemeClr val="dk1"/>
                </a:solidFill>
              </a:rPr>
              <a:t>​) should be "forgotten" when calculating the candidate state.</a:t>
            </a:r>
            <a:endParaRPr>
              <a:solidFill>
                <a:schemeClr val="dk1"/>
              </a:solidFill>
            </a:endParaRPr>
          </a:p>
          <a:p>
            <a:pPr indent="-257175" lvl="0" marL="257175" rtl="0" algn="l">
              <a:spcBef>
                <a:spcPts val="750"/>
              </a:spcBef>
              <a:spcAft>
                <a:spcPts val="0"/>
              </a:spcAft>
              <a:buClr>
                <a:schemeClr val="dk1"/>
              </a:buClr>
              <a:buSzPts val="1040"/>
              <a:buChar char="●"/>
            </a:pPr>
            <a:r>
              <a:rPr lang="en-US">
                <a:solidFill>
                  <a:schemeClr val="dk1"/>
                </a:solidFill>
              </a:rPr>
              <a:t>DCRNN: </a:t>
            </a:r>
            <a:r>
              <a:rPr lang="en-US" sz="1400">
                <a:solidFill>
                  <a:schemeClr val="dk1"/>
                </a:solidFill>
                <a:latin typeface="Cambria Math"/>
                <a:ea typeface="Cambria Math"/>
                <a:cs typeface="Cambria Math"/>
                <a:sym typeface="Cambria Math"/>
              </a:rPr>
              <a:t>𝑟</a:t>
            </a:r>
            <a:r>
              <a:rPr baseline="-25000" lang="en-US" sz="1600">
                <a:solidFill>
                  <a:schemeClr val="dk1"/>
                </a:solidFill>
                <a:latin typeface="Cambria Math"/>
                <a:ea typeface="Cambria Math"/>
                <a:cs typeface="Cambria Math"/>
                <a:sym typeface="Cambria Math"/>
              </a:rPr>
              <a:t>𝑡</a:t>
            </a:r>
            <a:r>
              <a:rPr lang="en-US">
                <a:solidFill>
                  <a:schemeClr val="dk1"/>
                </a:solidFill>
              </a:rPr>
              <a:t> incorporates spatial dependencies, deciding how much of the neighbor-influenced state should be reset. </a:t>
            </a:r>
            <a:endParaRPr>
              <a:solidFill>
                <a:schemeClr val="dk1"/>
              </a:solidFill>
            </a:endParaRPr>
          </a:p>
          <a:p>
            <a:pPr indent="-257175" lvl="0" marL="257175" rtl="0" algn="l">
              <a:spcBef>
                <a:spcPts val="750"/>
              </a:spcBef>
              <a:spcAft>
                <a:spcPts val="0"/>
              </a:spcAft>
              <a:buClr>
                <a:schemeClr val="dk1"/>
              </a:buClr>
              <a:buSzPts val="1040"/>
              <a:buChar char="●"/>
            </a:pPr>
            <a:r>
              <a:rPr lang="en-US">
                <a:solidFill>
                  <a:schemeClr val="dk1"/>
                </a:solidFill>
              </a:rPr>
              <a:t>This ensures that the reset operation respects graph relationships (e.g., if a traffic event at one sensor strongly affects another, it might retain more history).</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700" y="116500"/>
            <a:ext cx="8520600" cy="868500"/>
          </a:xfrm>
          <a:prstGeom prst="rect">
            <a:avLst/>
          </a:prstGeom>
          <a:noFill/>
          <a:ln>
            <a:noFill/>
          </a:ln>
        </p:spPr>
        <p:txBody>
          <a:bodyPr anchorCtr="0" anchor="t" bIns="0" lIns="0" spcFirstLastPara="1" rIns="0" wrap="square" tIns="219950">
            <a:spAutoFit/>
          </a:bodyPr>
          <a:lstStyle/>
          <a:p>
            <a:pPr indent="-349884" lvl="0" marL="521334" rtl="0" algn="l">
              <a:lnSpc>
                <a:spcPct val="100000"/>
              </a:lnSpc>
              <a:spcBef>
                <a:spcPts val="0"/>
              </a:spcBef>
              <a:spcAft>
                <a:spcPts val="0"/>
              </a:spcAft>
              <a:buClr>
                <a:schemeClr val="accent1"/>
              </a:buClr>
              <a:buSzPts val="2700"/>
              <a:buFont typeface="Trebuchet MS"/>
              <a:buNone/>
            </a:pPr>
            <a:r>
              <a:rPr lang="en-US"/>
              <a:t>Traffic forecasting using DCRNN</a:t>
            </a:r>
            <a:endParaRPr/>
          </a:p>
        </p:txBody>
      </p:sp>
      <p:sp>
        <p:nvSpPr>
          <p:cNvPr id="430" name="Google Shape;430;p60"/>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pic>
        <p:nvPicPr>
          <p:cNvPr id="431" name="Google Shape;431;p60"/>
          <p:cNvPicPr preferRelativeResize="0"/>
          <p:nvPr/>
        </p:nvPicPr>
        <p:blipFill rotWithShape="1">
          <a:blip r:embed="rId3">
            <a:alphaModFix/>
          </a:blip>
          <a:srcRect b="0" l="0" r="0" t="0"/>
          <a:stretch/>
        </p:blipFill>
        <p:spPr>
          <a:xfrm>
            <a:off x="660400" y="1142774"/>
            <a:ext cx="7823199" cy="375025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5" name="Shape 435"/>
        <p:cNvGrpSpPr/>
        <p:nvPr/>
      </p:nvGrpSpPr>
      <p:grpSpPr>
        <a:xfrm>
          <a:off x="0" y="0"/>
          <a:ext cx="0" cy="0"/>
          <a:chOff x="0" y="0"/>
          <a:chExt cx="0" cy="0"/>
        </a:xfrm>
      </p:grpSpPr>
      <p:sp>
        <p:nvSpPr>
          <p:cNvPr id="436" name="Google Shape;436;p61"/>
          <p:cNvSpPr txBox="1"/>
          <p:nvPr>
            <p:ph type="title"/>
          </p:nvPr>
        </p:nvSpPr>
        <p:spPr>
          <a:xfrm>
            <a:off x="311700" y="182975"/>
            <a:ext cx="8520600" cy="868500"/>
          </a:xfrm>
          <a:prstGeom prst="rect">
            <a:avLst/>
          </a:prstGeom>
          <a:noFill/>
          <a:ln>
            <a:noFill/>
          </a:ln>
        </p:spPr>
        <p:txBody>
          <a:bodyPr anchorCtr="0" anchor="t" bIns="0" lIns="0" spcFirstLastPara="1" rIns="0" wrap="square" tIns="219950">
            <a:spAutoFit/>
          </a:bodyPr>
          <a:lstStyle/>
          <a:p>
            <a:pPr indent="-521334" lvl="0" marL="521334" rtl="0" algn="l">
              <a:lnSpc>
                <a:spcPct val="100000"/>
              </a:lnSpc>
              <a:spcBef>
                <a:spcPts val="0"/>
              </a:spcBef>
              <a:spcAft>
                <a:spcPts val="0"/>
              </a:spcAft>
              <a:buClr>
                <a:schemeClr val="accent1"/>
              </a:buClr>
              <a:buSzPts val="2700"/>
              <a:buFont typeface="Trebuchet MS"/>
              <a:buNone/>
            </a:pPr>
            <a:r>
              <a:rPr b="1" lang="en-US"/>
              <a:t>Predicted graph sequence:</a:t>
            </a:r>
            <a:endParaRPr/>
          </a:p>
        </p:txBody>
      </p:sp>
      <p:sp>
        <p:nvSpPr>
          <p:cNvPr id="437" name="Google Shape;437;p61"/>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438" name="Google Shape;438;p61"/>
          <p:cNvSpPr txBox="1"/>
          <p:nvPr/>
        </p:nvSpPr>
        <p:spPr>
          <a:xfrm>
            <a:off x="457201" y="1428750"/>
            <a:ext cx="8077200" cy="38379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SzPts val="1400"/>
              <a:buAutoNum type="arabicPeriod"/>
            </a:pPr>
            <a:r>
              <a:rPr b="1" lang="en-US"/>
              <a:t>I</a:t>
            </a:r>
            <a:r>
              <a:rPr b="1" i="0" lang="en-US" u="none" cap="none" strike="noStrike">
                <a:solidFill>
                  <a:srgbClr val="000000"/>
                </a:solidFill>
                <a:latin typeface="Arial"/>
                <a:ea typeface="Arial"/>
                <a:cs typeface="Arial"/>
                <a:sym typeface="Arial"/>
              </a:rPr>
              <a:t>nput Graph Sequence</a:t>
            </a:r>
            <a:r>
              <a:rPr b="0" i="0" lang="en-US" u="none" cap="none" strike="noStrike">
                <a:solidFill>
                  <a:srgbClr val="000000"/>
                </a:solidFill>
                <a:latin typeface="Arial"/>
                <a:ea typeface="Arial"/>
                <a:cs typeface="Arial"/>
                <a:sym typeface="Arial"/>
              </a:rPr>
              <a:t>:</a:t>
            </a:r>
            <a:r>
              <a:rPr lang="en-US"/>
              <a:t> </a:t>
            </a:r>
            <a:r>
              <a:rPr b="0" i="0" lang="en-US" u="none" cap="none" strike="noStrike">
                <a:solidFill>
                  <a:srgbClr val="000000"/>
                </a:solidFill>
                <a:latin typeface="Arial"/>
                <a:ea typeface="Arial"/>
                <a:cs typeface="Arial"/>
                <a:sym typeface="Arial"/>
              </a:rPr>
              <a:t>The input is a sequence of graphs where nodes represent sensors or locations, and the edges represent their relationships (e.g., road connectivity or geographical proximity). The node features (e.g., traffic speed, volume, or congestion level) are derived from the dataset.</a:t>
            </a:r>
            <a:endParaRPr/>
          </a:p>
          <a:p>
            <a:pPr indent="-317500" lvl="0" marL="457200" marR="0" rtl="0" algn="l">
              <a:lnSpc>
                <a:spcPct val="100000"/>
              </a:lnSpc>
              <a:spcBef>
                <a:spcPts val="1000"/>
              </a:spcBef>
              <a:spcAft>
                <a:spcPts val="0"/>
              </a:spcAft>
              <a:buClr>
                <a:srgbClr val="000000"/>
              </a:buClr>
              <a:buSzPts val="1400"/>
              <a:buFont typeface="Arial"/>
              <a:buAutoNum type="arabicPeriod"/>
            </a:pPr>
            <a:r>
              <a:rPr b="1" i="0" lang="en-US" u="none" cap="none" strike="noStrike">
                <a:solidFill>
                  <a:srgbClr val="000000"/>
                </a:solidFill>
                <a:latin typeface="Arial"/>
                <a:ea typeface="Arial"/>
                <a:cs typeface="Arial"/>
                <a:sym typeface="Arial"/>
              </a:rPr>
              <a:t>Encoder</a:t>
            </a:r>
            <a:r>
              <a:rPr b="0" i="0" lang="en-US" u="none" cap="none" strike="noStrike">
                <a:solidFill>
                  <a:srgbClr val="000000"/>
                </a:solidFill>
                <a:latin typeface="Arial"/>
                <a:ea typeface="Arial"/>
                <a:cs typeface="Arial"/>
                <a:sym typeface="Arial"/>
              </a:rPr>
              <a:t>:</a:t>
            </a:r>
            <a:r>
              <a:rPr lang="en-US"/>
              <a:t> </a:t>
            </a:r>
            <a:r>
              <a:rPr b="0" i="0" lang="en-US" u="none" cap="none" strike="noStrike">
                <a:solidFill>
                  <a:srgbClr val="000000"/>
                </a:solidFill>
                <a:latin typeface="Arial"/>
                <a:ea typeface="Arial"/>
                <a:cs typeface="Arial"/>
                <a:sym typeface="Arial"/>
              </a:rPr>
              <a:t>The encoder processes the input graph sequence and captures temporal dependencies using recurrent layers (like GRU with diffusion convolution). It outputs a hidden state that represents the encoded spatiotemporal features up to the current time step.</a:t>
            </a:r>
            <a:endParaRPr/>
          </a:p>
          <a:p>
            <a:pPr indent="-317500" lvl="0" marL="457200" marR="0" rtl="0" algn="l">
              <a:lnSpc>
                <a:spcPct val="100000"/>
              </a:lnSpc>
              <a:spcBef>
                <a:spcPts val="1000"/>
              </a:spcBef>
              <a:spcAft>
                <a:spcPts val="0"/>
              </a:spcAft>
              <a:buClr>
                <a:srgbClr val="000000"/>
              </a:buClr>
              <a:buSzPts val="1400"/>
              <a:buFont typeface="Arial"/>
              <a:buAutoNum type="arabicPeriod"/>
            </a:pPr>
            <a:r>
              <a:rPr b="1" i="0" lang="en-US" u="none" cap="none" strike="noStrike">
                <a:solidFill>
                  <a:srgbClr val="000000"/>
                </a:solidFill>
                <a:latin typeface="Arial"/>
                <a:ea typeface="Arial"/>
                <a:cs typeface="Arial"/>
                <a:sym typeface="Arial"/>
              </a:rPr>
              <a:t>Decoder</a:t>
            </a:r>
            <a:r>
              <a:rPr b="0" i="0" lang="en-US" u="none" cap="none" strike="noStrike">
                <a:solidFill>
                  <a:srgbClr val="000000"/>
                </a:solidFill>
                <a:latin typeface="Arial"/>
                <a:ea typeface="Arial"/>
                <a:cs typeface="Arial"/>
                <a:sym typeface="Arial"/>
              </a:rPr>
              <a:t>:</a:t>
            </a:r>
            <a:r>
              <a:rPr lang="en-US"/>
              <a:t> </a:t>
            </a:r>
            <a:r>
              <a:rPr b="0" i="0" lang="en-US" u="none" cap="none" strike="noStrike">
                <a:solidFill>
                  <a:srgbClr val="000000"/>
                </a:solidFill>
                <a:latin typeface="Arial"/>
                <a:ea typeface="Arial"/>
                <a:cs typeface="Arial"/>
                <a:sym typeface="Arial"/>
              </a:rPr>
              <a:t>The decoder uses the hidden state from the encoder as its initial input and predicts the graph features step-by-step for future time intervals. The decoder also employs recurrent layers to maintain temporal continuity.</a:t>
            </a:r>
            <a:endParaRPr/>
          </a:p>
          <a:p>
            <a:pPr indent="-317500" lvl="0" marL="457200" marR="0" rtl="0" algn="l">
              <a:lnSpc>
                <a:spcPct val="100000"/>
              </a:lnSpc>
              <a:spcBef>
                <a:spcPts val="1000"/>
              </a:spcBef>
              <a:spcAft>
                <a:spcPts val="0"/>
              </a:spcAft>
              <a:buClr>
                <a:srgbClr val="000000"/>
              </a:buClr>
              <a:buSzPts val="1400"/>
              <a:buFont typeface="Arial"/>
              <a:buAutoNum type="arabicPeriod"/>
            </a:pPr>
            <a:r>
              <a:rPr b="1" i="0" lang="en-US" u="none" cap="none" strike="noStrike">
                <a:solidFill>
                  <a:srgbClr val="000000"/>
                </a:solidFill>
                <a:latin typeface="Arial"/>
                <a:ea typeface="Arial"/>
                <a:cs typeface="Arial"/>
                <a:sym typeface="Arial"/>
              </a:rPr>
              <a:t>Output Graph Sequence</a:t>
            </a:r>
            <a:r>
              <a:rPr b="0" i="0" lang="en-US" u="none" cap="none" strike="noStrike">
                <a:solidFill>
                  <a:srgbClr val="000000"/>
                </a:solidFill>
                <a:latin typeface="Arial"/>
                <a:ea typeface="Arial"/>
                <a:cs typeface="Arial"/>
                <a:sym typeface="Arial"/>
              </a:rPr>
              <a:t>:</a:t>
            </a:r>
            <a:r>
              <a:rPr lang="en-US"/>
              <a:t> </a:t>
            </a:r>
            <a:r>
              <a:rPr b="0" i="0" lang="en-US" u="none" cap="none" strike="noStrike">
                <a:solidFill>
                  <a:srgbClr val="000000"/>
                </a:solidFill>
                <a:latin typeface="Arial"/>
                <a:ea typeface="Arial"/>
                <a:cs typeface="Arial"/>
                <a:sym typeface="Arial"/>
              </a:rPr>
              <a:t>The output graphs predict traffic conditions (e.g., average speed or congestion levels at each node) for the future time steps. Each node's value in the output graph corresponds to the predicted feature (e.g., traffic speed) at that location for a specific future time step.</a:t>
            </a:r>
            <a:endParaRPr/>
          </a:p>
          <a:p>
            <a:pPr indent="0" lvl="0" marL="457200" marR="0" rtl="0" algn="l">
              <a:lnSpc>
                <a:spcPct val="100000"/>
              </a:lnSpc>
              <a:spcBef>
                <a:spcPts val="1000"/>
              </a:spcBef>
              <a:spcAft>
                <a:spcPts val="1000"/>
              </a:spcAft>
              <a:buNone/>
            </a:pPr>
            <a:r>
              <a:t/>
            </a:r>
            <a:endParaRPr b="0" i="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2" name="Shape 442"/>
        <p:cNvGrpSpPr/>
        <p:nvPr/>
      </p:nvGrpSpPr>
      <p:grpSpPr>
        <a:xfrm>
          <a:off x="0" y="0"/>
          <a:ext cx="0" cy="0"/>
          <a:chOff x="0" y="0"/>
          <a:chExt cx="0" cy="0"/>
        </a:xfrm>
      </p:grpSpPr>
      <p:sp>
        <p:nvSpPr>
          <p:cNvPr id="443" name="Google Shape;443;p62"/>
          <p:cNvSpPr txBox="1"/>
          <p:nvPr>
            <p:ph type="title"/>
          </p:nvPr>
        </p:nvSpPr>
        <p:spPr>
          <a:xfrm>
            <a:off x="311700" y="540275"/>
            <a:ext cx="8520600" cy="489900"/>
          </a:xfrm>
          <a:prstGeom prst="rect">
            <a:avLst/>
          </a:prstGeom>
          <a:noFill/>
          <a:ln>
            <a:noFill/>
          </a:ln>
        </p:spPr>
        <p:txBody>
          <a:bodyPr anchorCtr="0" anchor="t" bIns="0" lIns="0" spcFirstLastPara="1" rIns="0" wrap="square" tIns="12700">
            <a:spAutoFit/>
          </a:bodyPr>
          <a:lstStyle/>
          <a:p>
            <a:pPr indent="44450" lvl="0" marL="12700" rtl="0" algn="l">
              <a:lnSpc>
                <a:spcPct val="100000"/>
              </a:lnSpc>
              <a:spcBef>
                <a:spcPts val="0"/>
              </a:spcBef>
              <a:spcAft>
                <a:spcPts val="0"/>
              </a:spcAft>
              <a:buClr>
                <a:schemeClr val="accent1"/>
              </a:buClr>
              <a:buSzPts val="2700"/>
              <a:buFont typeface="Trebuchet MS"/>
              <a:buNone/>
            </a:pPr>
            <a:r>
              <a:rPr b="1" lang="en-US" sz="3100"/>
              <a:t>Scaling DCRNN on HPC systems</a:t>
            </a:r>
            <a:endParaRPr b="1" sz="3100"/>
          </a:p>
        </p:txBody>
      </p:sp>
      <p:sp>
        <p:nvSpPr>
          <p:cNvPr id="444" name="Google Shape;444;p62"/>
          <p:cNvSpPr txBox="1"/>
          <p:nvPr/>
        </p:nvSpPr>
        <p:spPr>
          <a:xfrm>
            <a:off x="527640" y="1519332"/>
            <a:ext cx="7343100" cy="1839000"/>
          </a:xfrm>
          <a:prstGeom prst="rect">
            <a:avLst/>
          </a:prstGeom>
          <a:noFill/>
          <a:ln>
            <a:noFill/>
          </a:ln>
        </p:spPr>
        <p:txBody>
          <a:bodyPr anchorCtr="0" anchor="t" bIns="0" lIns="0" spcFirstLastPara="1" rIns="0" wrap="square" tIns="108575">
            <a:spAutoFit/>
          </a:bodyPr>
          <a:lstStyle/>
          <a:p>
            <a:pPr indent="-247015" lvl="0" marL="354965" marR="0" rtl="0" algn="l">
              <a:lnSpc>
                <a:spcPct val="100000"/>
              </a:lnSpc>
              <a:spcBef>
                <a:spcPts val="0"/>
              </a:spcBef>
              <a:spcAft>
                <a:spcPts val="0"/>
              </a:spcAft>
              <a:buClr>
                <a:srgbClr val="000000"/>
              </a:buClr>
              <a:buSzPts val="1700"/>
              <a:buChar char="•"/>
            </a:pPr>
            <a:r>
              <a:rPr i="0" lang="en-US" sz="1700" u="none" cap="none" strike="noStrike">
                <a:solidFill>
                  <a:srgbClr val="000000"/>
                </a:solidFill>
              </a:rPr>
              <a:t>Domain decomposition for large networks</a:t>
            </a:r>
            <a:endParaRPr i="0" sz="1700" u="none" cap="none" strike="noStrike">
              <a:solidFill>
                <a:srgbClr val="000000"/>
              </a:solidFill>
            </a:endParaRPr>
          </a:p>
          <a:p>
            <a:pPr indent="-214630" lvl="1" marL="754380" marR="0" rtl="0" algn="l">
              <a:lnSpc>
                <a:spcPct val="100000"/>
              </a:lnSpc>
              <a:spcBef>
                <a:spcPts val="665"/>
              </a:spcBef>
              <a:spcAft>
                <a:spcPts val="0"/>
              </a:spcAft>
              <a:buClr>
                <a:srgbClr val="000000"/>
              </a:buClr>
              <a:buSzPts val="1700"/>
              <a:buChar char="–"/>
            </a:pPr>
            <a:r>
              <a:rPr i="0" lang="en-US" sz="1700" u="none" cap="none" strike="noStrike">
                <a:solidFill>
                  <a:srgbClr val="000000"/>
                </a:solidFill>
              </a:rPr>
              <a:t>Partition large graph into sub-graph</a:t>
            </a:r>
            <a:endParaRPr i="0" sz="1700" u="none" cap="none" strike="noStrike">
              <a:solidFill>
                <a:srgbClr val="000000"/>
              </a:solidFill>
            </a:endParaRPr>
          </a:p>
          <a:p>
            <a:pPr indent="-214630" lvl="1" marL="754380" marR="5080" rtl="0" algn="l">
              <a:lnSpc>
                <a:spcPct val="118214"/>
              </a:lnSpc>
              <a:spcBef>
                <a:spcPts val="875"/>
              </a:spcBef>
              <a:spcAft>
                <a:spcPts val="0"/>
              </a:spcAft>
              <a:buClr>
                <a:srgbClr val="000000"/>
              </a:buClr>
              <a:buSzPts val="1700"/>
              <a:buChar char="–"/>
            </a:pPr>
            <a:r>
              <a:rPr i="0" lang="en-US" sz="1700" u="none" cap="none" strike="noStrike">
                <a:solidFill>
                  <a:srgbClr val="000000"/>
                </a:solidFill>
              </a:rPr>
              <a:t>Run DCRNN for each sub-graph on a compute 	node</a:t>
            </a:r>
            <a:endParaRPr i="0" sz="1700" u="none" cap="none" strike="noStrike">
              <a:solidFill>
                <a:srgbClr val="000000"/>
              </a:solidFill>
            </a:endParaRPr>
          </a:p>
          <a:p>
            <a:pPr indent="-214630" lvl="1" marL="754380" marR="0" rtl="0" algn="l">
              <a:lnSpc>
                <a:spcPct val="100000"/>
              </a:lnSpc>
              <a:spcBef>
                <a:spcPts val="640"/>
              </a:spcBef>
              <a:spcAft>
                <a:spcPts val="0"/>
              </a:spcAft>
              <a:buClr>
                <a:srgbClr val="000000"/>
              </a:buClr>
              <a:buSzPts val="1700"/>
              <a:buChar char="–"/>
            </a:pPr>
            <a:r>
              <a:rPr i="0" lang="en-US" sz="1700" u="none" cap="none" strike="noStrike">
                <a:solidFill>
                  <a:srgbClr val="000000"/>
                </a:solidFill>
              </a:rPr>
              <a:t>Combine the results and forecast traffic</a:t>
            </a:r>
            <a:endParaRPr i="0" sz="1700" u="none" cap="none" strike="noStrike">
              <a:solidFill>
                <a:srgbClr val="000000"/>
              </a:solidFill>
            </a:endParaRPr>
          </a:p>
          <a:p>
            <a:pPr indent="-247015" lvl="0" marL="354965" marR="0" rtl="0" algn="l">
              <a:lnSpc>
                <a:spcPct val="100000"/>
              </a:lnSpc>
              <a:spcBef>
                <a:spcPts val="730"/>
              </a:spcBef>
              <a:spcAft>
                <a:spcPts val="0"/>
              </a:spcAft>
              <a:buClr>
                <a:srgbClr val="000000"/>
              </a:buClr>
              <a:buSzPts val="1700"/>
              <a:buChar char="•"/>
            </a:pPr>
            <a:r>
              <a:rPr i="0" lang="en-US" sz="1700" u="none" cap="none" strike="noStrike">
                <a:solidFill>
                  <a:srgbClr val="000000"/>
                </a:solidFill>
              </a:rPr>
              <a:t>Simultaneous execution of DCRNN</a:t>
            </a:r>
            <a:endParaRPr i="0" sz="1700" u="none" cap="none" strike="noStrike">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8" name="Shape 448"/>
        <p:cNvGrpSpPr/>
        <p:nvPr/>
      </p:nvGrpSpPr>
      <p:grpSpPr>
        <a:xfrm>
          <a:off x="0" y="0"/>
          <a:ext cx="0" cy="0"/>
          <a:chOff x="0" y="0"/>
          <a:chExt cx="0" cy="0"/>
        </a:xfrm>
      </p:grpSpPr>
      <p:sp>
        <p:nvSpPr>
          <p:cNvPr id="449" name="Google Shape;449;p63"/>
          <p:cNvSpPr txBox="1"/>
          <p:nvPr>
            <p:ph type="title"/>
          </p:nvPr>
        </p:nvSpPr>
        <p:spPr>
          <a:xfrm>
            <a:off x="311700" y="315925"/>
            <a:ext cx="8520600" cy="459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rPr b="1" lang="en-US" sz="2900"/>
              <a:t>Graph partitioning using Metis</a:t>
            </a:r>
            <a:endParaRPr b="1" sz="2900"/>
          </a:p>
        </p:txBody>
      </p:sp>
      <p:sp>
        <p:nvSpPr>
          <p:cNvPr id="450" name="Google Shape;450;p63"/>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451" name="Google Shape;451;p63"/>
          <p:cNvSpPr txBox="1"/>
          <p:nvPr/>
        </p:nvSpPr>
        <p:spPr>
          <a:xfrm>
            <a:off x="875157" y="1121077"/>
            <a:ext cx="3606165" cy="3353435"/>
          </a:xfrm>
          <a:prstGeom prst="rect">
            <a:avLst/>
          </a:prstGeom>
          <a:noFill/>
          <a:ln>
            <a:noFill/>
          </a:ln>
        </p:spPr>
        <p:txBody>
          <a:bodyPr anchorCtr="0" anchor="t" bIns="0" lIns="0" spcFirstLastPara="1" rIns="0" wrap="square" tIns="99050">
            <a:spAutoFit/>
          </a:bodyPr>
          <a:lstStyle/>
          <a:p>
            <a:pPr indent="-342265" lvl="0" marL="354965"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3 major phases</a:t>
            </a:r>
            <a:endParaRPr b="0" i="0" sz="2800" u="none" cap="none" strike="noStrike">
              <a:solidFill>
                <a:srgbClr val="000000"/>
              </a:solidFill>
              <a:latin typeface="Calibri"/>
              <a:ea typeface="Calibri"/>
              <a:cs typeface="Calibri"/>
              <a:sym typeface="Calibri"/>
            </a:endParaRPr>
          </a:p>
          <a:p>
            <a:pPr indent="-285750" lvl="1" marL="755650" marR="0" rtl="0" algn="l">
              <a:lnSpc>
                <a:spcPct val="100000"/>
              </a:lnSpc>
              <a:spcBef>
                <a:spcPts val="63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coarsening</a:t>
            </a:r>
            <a:endParaRPr b="0" i="0" sz="2600" u="none" cap="none" strike="noStrike">
              <a:solidFill>
                <a:srgbClr val="000000"/>
              </a:solidFill>
              <a:latin typeface="Calibri"/>
              <a:ea typeface="Calibri"/>
              <a:cs typeface="Calibri"/>
              <a:sym typeface="Calibri"/>
            </a:endParaRPr>
          </a:p>
          <a:p>
            <a:pPr indent="-285750" lvl="1" marL="755650" marR="0" rtl="0" algn="l">
              <a:lnSpc>
                <a:spcPct val="100000"/>
              </a:lnSpc>
              <a:spcBef>
                <a:spcPts val="695"/>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initial partitioning</a:t>
            </a:r>
            <a:endParaRPr b="0" i="0" sz="2600" u="none" cap="none" strike="noStrike">
              <a:solidFill>
                <a:srgbClr val="000000"/>
              </a:solidFill>
              <a:latin typeface="Calibri"/>
              <a:ea typeface="Calibri"/>
              <a:cs typeface="Calibri"/>
              <a:sym typeface="Calibri"/>
            </a:endParaRPr>
          </a:p>
          <a:p>
            <a:pPr indent="-285750" lvl="1" marL="755650" marR="0" rtl="0" algn="l">
              <a:lnSpc>
                <a:spcPct val="100000"/>
              </a:lnSpc>
              <a:spcBef>
                <a:spcPts val="58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refinement</a:t>
            </a:r>
            <a:endParaRPr b="0" i="0" sz="2600" u="none" cap="none" strike="noStrike">
              <a:solidFill>
                <a:srgbClr val="000000"/>
              </a:solidFill>
              <a:latin typeface="Calibri"/>
              <a:ea typeface="Calibri"/>
              <a:cs typeface="Calibri"/>
              <a:sym typeface="Calibri"/>
            </a:endParaRPr>
          </a:p>
          <a:p>
            <a:pPr indent="-342265" lvl="0" marL="354965" marR="0" rtl="0" algn="l">
              <a:lnSpc>
                <a:spcPct val="100000"/>
              </a:lnSpc>
              <a:spcBef>
                <a:spcPts val="685"/>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Key advantage</a:t>
            </a:r>
            <a:endParaRPr b="0" i="0" sz="2800" u="none" cap="none" strike="noStrike">
              <a:solidFill>
                <a:srgbClr val="000000"/>
              </a:solidFill>
              <a:latin typeface="Calibri"/>
              <a:ea typeface="Calibri"/>
              <a:cs typeface="Calibri"/>
              <a:sym typeface="Calibri"/>
            </a:endParaRPr>
          </a:p>
          <a:p>
            <a:pPr indent="-285750" lvl="1" marL="755650" marR="5080" rtl="0" algn="l">
              <a:lnSpc>
                <a:spcPct val="119230"/>
              </a:lnSpc>
              <a:spcBef>
                <a:spcPts val="750"/>
              </a:spcBef>
              <a:spcAft>
                <a:spcPts val="0"/>
              </a:spcAft>
              <a:buClr>
                <a:srgbClr val="000000"/>
              </a:buClr>
              <a:buSzPts val="2600"/>
              <a:buFont typeface="Arial"/>
              <a:buChar char="–"/>
            </a:pPr>
            <a:r>
              <a:rPr b="0" i="0" lang="en-US" sz="2600" u="none" cap="none" strike="noStrike">
                <a:solidFill>
                  <a:srgbClr val="000000"/>
                </a:solidFill>
                <a:latin typeface="Calibri"/>
                <a:ea typeface="Calibri"/>
                <a:cs typeface="Calibri"/>
                <a:sym typeface="Calibri"/>
              </a:rPr>
              <a:t>millions of vertices in few seconds</a:t>
            </a:r>
            <a:endParaRPr b="0" i="0" sz="2600" u="none" cap="none" strike="noStrike">
              <a:solidFill>
                <a:srgbClr val="000000"/>
              </a:solidFill>
              <a:latin typeface="Calibri"/>
              <a:ea typeface="Calibri"/>
              <a:cs typeface="Calibri"/>
              <a:sym typeface="Calibri"/>
            </a:endParaRPr>
          </a:p>
        </p:txBody>
      </p:sp>
      <p:grpSp>
        <p:nvGrpSpPr>
          <p:cNvPr id="452" name="Google Shape;452;p63"/>
          <p:cNvGrpSpPr/>
          <p:nvPr/>
        </p:nvGrpSpPr>
        <p:grpSpPr>
          <a:xfrm>
            <a:off x="5246147" y="1485900"/>
            <a:ext cx="697452" cy="349003"/>
            <a:chOff x="5246147" y="1485900"/>
            <a:chExt cx="697452" cy="349003"/>
          </a:xfrm>
        </p:grpSpPr>
        <p:sp>
          <p:nvSpPr>
            <p:cNvPr id="453" name="Google Shape;453;p63"/>
            <p:cNvSpPr/>
            <p:nvPr/>
          </p:nvSpPr>
          <p:spPr>
            <a:xfrm>
              <a:off x="5246147" y="1485900"/>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63"/>
            <p:cNvSpPr/>
            <p:nvPr/>
          </p:nvSpPr>
          <p:spPr>
            <a:xfrm>
              <a:off x="5246147" y="148590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63"/>
            <p:cNvSpPr/>
            <p:nvPr/>
          </p:nvSpPr>
          <p:spPr>
            <a:xfrm>
              <a:off x="5531897" y="1492003"/>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63"/>
            <p:cNvSpPr/>
            <p:nvPr/>
          </p:nvSpPr>
          <p:spPr>
            <a:xfrm>
              <a:off x="5531897" y="1492003"/>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63"/>
            <p:cNvSpPr/>
            <p:nvPr/>
          </p:nvSpPr>
          <p:spPr>
            <a:xfrm>
              <a:off x="5246147" y="1720603"/>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63"/>
            <p:cNvSpPr/>
            <p:nvPr/>
          </p:nvSpPr>
          <p:spPr>
            <a:xfrm>
              <a:off x="5246147" y="1720603"/>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63"/>
            <p:cNvSpPr/>
            <p:nvPr/>
          </p:nvSpPr>
          <p:spPr>
            <a:xfrm>
              <a:off x="5531897" y="1720603"/>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63"/>
            <p:cNvSpPr/>
            <p:nvPr/>
          </p:nvSpPr>
          <p:spPr>
            <a:xfrm>
              <a:off x="5531897" y="1720603"/>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63"/>
            <p:cNvSpPr/>
            <p:nvPr/>
          </p:nvSpPr>
          <p:spPr>
            <a:xfrm>
              <a:off x="5829299" y="1496442"/>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63"/>
            <p:cNvSpPr/>
            <p:nvPr/>
          </p:nvSpPr>
          <p:spPr>
            <a:xfrm>
              <a:off x="5829299" y="1496442"/>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63"/>
            <p:cNvSpPr/>
            <p:nvPr/>
          </p:nvSpPr>
          <p:spPr>
            <a:xfrm>
              <a:off x="5829299" y="1720603"/>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63"/>
            <p:cNvSpPr/>
            <p:nvPr/>
          </p:nvSpPr>
          <p:spPr>
            <a:xfrm>
              <a:off x="5829299" y="1720603"/>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63"/>
            <p:cNvSpPr/>
            <p:nvPr/>
          </p:nvSpPr>
          <p:spPr>
            <a:xfrm>
              <a:off x="5303297" y="1600200"/>
              <a:ext cx="0" cy="120650"/>
            </a:xfrm>
            <a:custGeom>
              <a:rect b="b" l="l" r="r" t="t"/>
              <a:pathLst>
                <a:path extrusionOk="0" h="120650" w="120000">
                  <a:moveTo>
                    <a:pt x="0" y="0"/>
                  </a:moveTo>
                  <a:lnTo>
                    <a:pt x="0" y="1204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63"/>
            <p:cNvSpPr/>
            <p:nvPr/>
          </p:nvSpPr>
          <p:spPr>
            <a:xfrm>
              <a:off x="5360447" y="1777753"/>
              <a:ext cx="171450" cy="0"/>
            </a:xfrm>
            <a:custGeom>
              <a:rect b="b" l="l" r="r" t="t"/>
              <a:pathLst>
                <a:path extrusionOk="0" h="120000" w="171450">
                  <a:moveTo>
                    <a:pt x="0" y="0"/>
                  </a:moveTo>
                  <a:lnTo>
                    <a:pt x="171450"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63"/>
            <p:cNvSpPr/>
            <p:nvPr/>
          </p:nvSpPr>
          <p:spPr>
            <a:xfrm>
              <a:off x="5589047" y="1606303"/>
              <a:ext cx="0" cy="114300"/>
            </a:xfrm>
            <a:custGeom>
              <a:rect b="b" l="l" r="r" t="t"/>
              <a:pathLst>
                <a:path extrusionOk="0" h="114300" w="120000">
                  <a:moveTo>
                    <a:pt x="0" y="0"/>
                  </a:moveTo>
                  <a:lnTo>
                    <a:pt x="0" y="11430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63"/>
            <p:cNvSpPr/>
            <p:nvPr/>
          </p:nvSpPr>
          <p:spPr>
            <a:xfrm>
              <a:off x="5886449" y="1610742"/>
              <a:ext cx="0" cy="110489"/>
            </a:xfrm>
            <a:custGeom>
              <a:rect b="b" l="l" r="r" t="t"/>
              <a:pathLst>
                <a:path extrusionOk="0" h="110489" w="120000">
                  <a:moveTo>
                    <a:pt x="0" y="0"/>
                  </a:moveTo>
                  <a:lnTo>
                    <a:pt x="0" y="109862"/>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63"/>
            <p:cNvSpPr/>
            <p:nvPr/>
          </p:nvSpPr>
          <p:spPr>
            <a:xfrm>
              <a:off x="5360447" y="1543050"/>
              <a:ext cx="171450" cy="6350"/>
            </a:xfrm>
            <a:custGeom>
              <a:rect b="b" l="l" r="r" t="t"/>
              <a:pathLst>
                <a:path extrusionOk="0" h="6350" w="171450">
                  <a:moveTo>
                    <a:pt x="0" y="0"/>
                  </a:moveTo>
                  <a:lnTo>
                    <a:pt x="171450" y="61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63"/>
            <p:cNvSpPr/>
            <p:nvPr/>
          </p:nvSpPr>
          <p:spPr>
            <a:xfrm>
              <a:off x="5646197" y="1549153"/>
              <a:ext cx="183515" cy="4445"/>
            </a:xfrm>
            <a:custGeom>
              <a:rect b="b" l="l" r="r" t="t"/>
              <a:pathLst>
                <a:path extrusionOk="0" h="4444" w="183514">
                  <a:moveTo>
                    <a:pt x="183102" y="4439"/>
                  </a:moveTo>
                  <a:lnTo>
                    <a:pt x="0"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63"/>
            <p:cNvSpPr/>
            <p:nvPr/>
          </p:nvSpPr>
          <p:spPr>
            <a:xfrm>
              <a:off x="5646197" y="1777753"/>
              <a:ext cx="183515" cy="0"/>
            </a:xfrm>
            <a:custGeom>
              <a:rect b="b" l="l" r="r" t="t"/>
              <a:pathLst>
                <a:path extrusionOk="0" h="120000" w="183514">
                  <a:moveTo>
                    <a:pt x="0" y="0"/>
                  </a:moveTo>
                  <a:lnTo>
                    <a:pt x="183102"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472" name="Google Shape;472;p63"/>
          <p:cNvGrpSpPr/>
          <p:nvPr/>
        </p:nvGrpSpPr>
        <p:grpSpPr>
          <a:xfrm>
            <a:off x="5613462" y="2737096"/>
            <a:ext cx="400050" cy="120403"/>
            <a:chOff x="5613462" y="2737096"/>
            <a:chExt cx="400050" cy="120403"/>
          </a:xfrm>
        </p:grpSpPr>
        <p:sp>
          <p:nvSpPr>
            <p:cNvPr id="473" name="Google Shape;473;p63"/>
            <p:cNvSpPr/>
            <p:nvPr/>
          </p:nvSpPr>
          <p:spPr>
            <a:xfrm>
              <a:off x="5613462" y="2737096"/>
              <a:ext cx="114300" cy="114300"/>
            </a:xfrm>
            <a:custGeom>
              <a:rect b="b" l="l" r="r" t="t"/>
              <a:pathLst>
                <a:path extrusionOk="0" h="114300" w="114300">
                  <a:moveTo>
                    <a:pt x="57150" y="0"/>
                  </a:moveTo>
                  <a:lnTo>
                    <a:pt x="34904" y="4491"/>
                  </a:lnTo>
                  <a:lnTo>
                    <a:pt x="16738" y="16739"/>
                  </a:lnTo>
                  <a:lnTo>
                    <a:pt x="4491" y="34905"/>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5"/>
                  </a:lnTo>
                  <a:lnTo>
                    <a:pt x="97561" y="16739"/>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63"/>
            <p:cNvSpPr/>
            <p:nvPr/>
          </p:nvSpPr>
          <p:spPr>
            <a:xfrm>
              <a:off x="5613462" y="2737096"/>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63"/>
            <p:cNvSpPr/>
            <p:nvPr/>
          </p:nvSpPr>
          <p:spPr>
            <a:xfrm>
              <a:off x="5899212" y="2743199"/>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63"/>
            <p:cNvSpPr/>
            <p:nvPr/>
          </p:nvSpPr>
          <p:spPr>
            <a:xfrm>
              <a:off x="5899212" y="2743199"/>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63"/>
            <p:cNvSpPr/>
            <p:nvPr/>
          </p:nvSpPr>
          <p:spPr>
            <a:xfrm>
              <a:off x="5716110" y="2800349"/>
              <a:ext cx="183515" cy="0"/>
            </a:xfrm>
            <a:custGeom>
              <a:rect b="b" l="l" r="r" t="t"/>
              <a:pathLst>
                <a:path extrusionOk="0" h="120000" w="183514">
                  <a:moveTo>
                    <a:pt x="0" y="0"/>
                  </a:moveTo>
                  <a:lnTo>
                    <a:pt x="183102"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478" name="Google Shape;478;p63"/>
          <p:cNvGrpSpPr/>
          <p:nvPr/>
        </p:nvGrpSpPr>
        <p:grpSpPr>
          <a:xfrm>
            <a:off x="5613462" y="2971800"/>
            <a:ext cx="400050" cy="114300"/>
            <a:chOff x="5613462" y="2971800"/>
            <a:chExt cx="400050" cy="114300"/>
          </a:xfrm>
        </p:grpSpPr>
        <p:sp>
          <p:nvSpPr>
            <p:cNvPr id="479" name="Google Shape;479;p63"/>
            <p:cNvSpPr/>
            <p:nvPr/>
          </p:nvSpPr>
          <p:spPr>
            <a:xfrm>
              <a:off x="5613462" y="2971800"/>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63"/>
            <p:cNvSpPr/>
            <p:nvPr/>
          </p:nvSpPr>
          <p:spPr>
            <a:xfrm>
              <a:off x="5613462" y="297180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63"/>
            <p:cNvSpPr/>
            <p:nvPr/>
          </p:nvSpPr>
          <p:spPr>
            <a:xfrm>
              <a:off x="5899212" y="2971800"/>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63"/>
            <p:cNvSpPr/>
            <p:nvPr/>
          </p:nvSpPr>
          <p:spPr>
            <a:xfrm>
              <a:off x="5899212" y="297180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63"/>
            <p:cNvSpPr/>
            <p:nvPr/>
          </p:nvSpPr>
          <p:spPr>
            <a:xfrm>
              <a:off x="5727762" y="3043375"/>
              <a:ext cx="183515" cy="0"/>
            </a:xfrm>
            <a:custGeom>
              <a:rect b="b" l="l" r="r" t="t"/>
              <a:pathLst>
                <a:path extrusionOk="0" h="120000" w="183514">
                  <a:moveTo>
                    <a:pt x="0" y="0"/>
                  </a:moveTo>
                  <a:lnTo>
                    <a:pt x="183102"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484" name="Google Shape;484;p63"/>
          <p:cNvGrpSpPr/>
          <p:nvPr/>
        </p:nvGrpSpPr>
        <p:grpSpPr>
          <a:xfrm>
            <a:off x="6172200" y="3765796"/>
            <a:ext cx="400050" cy="120404"/>
            <a:chOff x="6172200" y="3765796"/>
            <a:chExt cx="400050" cy="120404"/>
          </a:xfrm>
        </p:grpSpPr>
        <p:sp>
          <p:nvSpPr>
            <p:cNvPr id="485" name="Google Shape;485;p63"/>
            <p:cNvSpPr/>
            <p:nvPr/>
          </p:nvSpPr>
          <p:spPr>
            <a:xfrm>
              <a:off x="6172200" y="3765796"/>
              <a:ext cx="114300" cy="114300"/>
            </a:xfrm>
            <a:custGeom>
              <a:rect b="b" l="l" r="r" t="t"/>
              <a:pathLst>
                <a:path extrusionOk="0" h="114300" w="114300">
                  <a:moveTo>
                    <a:pt x="57150" y="0"/>
                  </a:moveTo>
                  <a:lnTo>
                    <a:pt x="34904" y="4491"/>
                  </a:lnTo>
                  <a:lnTo>
                    <a:pt x="16738" y="16739"/>
                  </a:lnTo>
                  <a:lnTo>
                    <a:pt x="4491" y="34905"/>
                  </a:lnTo>
                  <a:lnTo>
                    <a:pt x="0" y="57149"/>
                  </a:lnTo>
                  <a:lnTo>
                    <a:pt x="4491" y="79395"/>
                  </a:lnTo>
                  <a:lnTo>
                    <a:pt x="16738" y="97561"/>
                  </a:lnTo>
                  <a:lnTo>
                    <a:pt x="34904" y="109809"/>
                  </a:lnTo>
                  <a:lnTo>
                    <a:pt x="57150" y="114300"/>
                  </a:lnTo>
                  <a:lnTo>
                    <a:pt x="79395" y="109809"/>
                  </a:lnTo>
                  <a:lnTo>
                    <a:pt x="97561" y="97561"/>
                  </a:lnTo>
                  <a:lnTo>
                    <a:pt x="109808" y="79395"/>
                  </a:lnTo>
                  <a:lnTo>
                    <a:pt x="114300" y="57149"/>
                  </a:lnTo>
                  <a:lnTo>
                    <a:pt x="109808" y="34905"/>
                  </a:lnTo>
                  <a:lnTo>
                    <a:pt x="97561" y="16739"/>
                  </a:lnTo>
                  <a:lnTo>
                    <a:pt x="79395" y="4491"/>
                  </a:lnTo>
                  <a:lnTo>
                    <a:pt x="57150" y="0"/>
                  </a:lnTo>
                  <a:close/>
                </a:path>
              </a:pathLst>
            </a:custGeom>
            <a:solidFill>
              <a:srgbClr val="9BBB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63"/>
            <p:cNvSpPr/>
            <p:nvPr/>
          </p:nvSpPr>
          <p:spPr>
            <a:xfrm>
              <a:off x="6172200" y="3765796"/>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4F622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63"/>
            <p:cNvSpPr/>
            <p:nvPr/>
          </p:nvSpPr>
          <p:spPr>
            <a:xfrm>
              <a:off x="6457950" y="3771900"/>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299"/>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63"/>
            <p:cNvSpPr/>
            <p:nvPr/>
          </p:nvSpPr>
          <p:spPr>
            <a:xfrm>
              <a:off x="6457950" y="377190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6325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63"/>
            <p:cNvSpPr/>
            <p:nvPr/>
          </p:nvSpPr>
          <p:spPr>
            <a:xfrm>
              <a:off x="6286500" y="3829050"/>
              <a:ext cx="183515" cy="0"/>
            </a:xfrm>
            <a:custGeom>
              <a:rect b="b" l="l" r="r" t="t"/>
              <a:pathLst>
                <a:path extrusionOk="0" h="120000" w="183514">
                  <a:moveTo>
                    <a:pt x="0" y="0"/>
                  </a:moveTo>
                  <a:lnTo>
                    <a:pt x="183102"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490" name="Google Shape;490;p63"/>
          <p:cNvSpPr txBox="1"/>
          <p:nvPr/>
        </p:nvSpPr>
        <p:spPr>
          <a:xfrm>
            <a:off x="4853940" y="1562100"/>
            <a:ext cx="242570" cy="2387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G</a:t>
            </a:r>
            <a:r>
              <a:rPr b="0" baseline="-25000" i="0" lang="en-US" sz="1350" u="none" cap="none" strike="noStrike">
                <a:solidFill>
                  <a:srgbClr val="000000"/>
                </a:solidFill>
                <a:latin typeface="Calibri"/>
                <a:ea typeface="Calibri"/>
                <a:cs typeface="Calibri"/>
                <a:sym typeface="Calibri"/>
              </a:rPr>
              <a:t>1</a:t>
            </a:r>
            <a:endParaRPr b="0" baseline="-25000" i="0" sz="1350" u="none" cap="none" strike="noStrike">
              <a:solidFill>
                <a:srgbClr val="000000"/>
              </a:solidFill>
              <a:latin typeface="Calibri"/>
              <a:ea typeface="Calibri"/>
              <a:cs typeface="Calibri"/>
              <a:sym typeface="Calibri"/>
            </a:endParaRPr>
          </a:p>
        </p:txBody>
      </p:sp>
      <p:sp>
        <p:nvSpPr>
          <p:cNvPr id="491" name="Google Shape;491;p63"/>
          <p:cNvSpPr txBox="1"/>
          <p:nvPr/>
        </p:nvSpPr>
        <p:spPr>
          <a:xfrm>
            <a:off x="5674033" y="3649979"/>
            <a:ext cx="1360805" cy="561975"/>
          </a:xfrm>
          <a:prstGeom prst="rect">
            <a:avLst/>
          </a:prstGeom>
          <a:noFill/>
          <a:ln>
            <a:noFill/>
          </a:ln>
        </p:spPr>
        <p:txBody>
          <a:bodyPr anchorCtr="0" anchor="t" bIns="0" lIns="0" spcFirstLastPara="1" rIns="0" wrap="square" tIns="67300">
            <a:spAutoFit/>
          </a:bodyPr>
          <a:lstStyle/>
          <a:p>
            <a:pPr indent="0" lvl="0" marL="381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G</a:t>
            </a:r>
            <a:r>
              <a:rPr b="0" baseline="-25000" i="0" lang="en-US" sz="1350" u="none" cap="none" strike="noStrike">
                <a:solidFill>
                  <a:srgbClr val="000000"/>
                </a:solidFill>
                <a:latin typeface="Calibri"/>
                <a:ea typeface="Calibri"/>
                <a:cs typeface="Calibri"/>
                <a:sym typeface="Calibri"/>
              </a:rPr>
              <a:t>n</a:t>
            </a:r>
            <a:endParaRPr b="0" baseline="-25000" i="0" sz="1350" u="none" cap="none" strike="noStrike">
              <a:solidFill>
                <a:srgbClr val="000000"/>
              </a:solidFill>
              <a:latin typeface="Calibri"/>
              <a:ea typeface="Calibri"/>
              <a:cs typeface="Calibri"/>
              <a:sym typeface="Calibri"/>
            </a:endParaRPr>
          </a:p>
          <a:p>
            <a:pPr indent="0" lvl="0" marL="73025" marR="0" rtl="0" algn="l">
              <a:lnSpc>
                <a:spcPct val="100000"/>
              </a:lnSpc>
              <a:spcBef>
                <a:spcPts val="430"/>
              </a:spcBef>
              <a:spcAft>
                <a:spcPts val="0"/>
              </a:spcAft>
              <a:buNone/>
            </a:pPr>
            <a:r>
              <a:rPr b="0" i="0" lang="en-US" sz="1400" u="none" cap="none" strike="noStrike">
                <a:solidFill>
                  <a:srgbClr val="000000"/>
                </a:solidFill>
                <a:latin typeface="Calibri"/>
                <a:ea typeface="Calibri"/>
                <a:cs typeface="Calibri"/>
                <a:sym typeface="Calibri"/>
              </a:rPr>
              <a:t>initial partitioning</a:t>
            </a:r>
            <a:endParaRPr b="0" i="0" sz="1400" u="none" cap="none" strike="noStrike">
              <a:solidFill>
                <a:srgbClr val="000000"/>
              </a:solidFill>
              <a:latin typeface="Calibri"/>
              <a:ea typeface="Calibri"/>
              <a:cs typeface="Calibri"/>
              <a:sym typeface="Calibri"/>
            </a:endParaRPr>
          </a:p>
        </p:txBody>
      </p:sp>
      <p:grpSp>
        <p:nvGrpSpPr>
          <p:cNvPr id="492" name="Google Shape;492;p63"/>
          <p:cNvGrpSpPr/>
          <p:nvPr/>
        </p:nvGrpSpPr>
        <p:grpSpPr>
          <a:xfrm>
            <a:off x="6626069" y="1491725"/>
            <a:ext cx="697454" cy="349005"/>
            <a:chOff x="6626069" y="1491725"/>
            <a:chExt cx="697454" cy="349005"/>
          </a:xfrm>
        </p:grpSpPr>
        <p:sp>
          <p:nvSpPr>
            <p:cNvPr id="493" name="Google Shape;493;p63"/>
            <p:cNvSpPr/>
            <p:nvPr/>
          </p:nvSpPr>
          <p:spPr>
            <a:xfrm>
              <a:off x="6626069" y="1491725"/>
              <a:ext cx="114300" cy="114300"/>
            </a:xfrm>
            <a:custGeom>
              <a:rect b="b" l="l" r="r" t="t"/>
              <a:pathLst>
                <a:path extrusionOk="0" h="114300" w="114300">
                  <a:moveTo>
                    <a:pt x="57150" y="0"/>
                  </a:moveTo>
                  <a:lnTo>
                    <a:pt x="34905" y="4491"/>
                  </a:lnTo>
                  <a:lnTo>
                    <a:pt x="16739" y="16739"/>
                  </a:lnTo>
                  <a:lnTo>
                    <a:pt x="4491" y="34905"/>
                  </a:lnTo>
                  <a:lnTo>
                    <a:pt x="0" y="57150"/>
                  </a:lnTo>
                  <a:lnTo>
                    <a:pt x="4491" y="79395"/>
                  </a:lnTo>
                  <a:lnTo>
                    <a:pt x="16739" y="97561"/>
                  </a:lnTo>
                  <a:lnTo>
                    <a:pt x="34905" y="109808"/>
                  </a:lnTo>
                  <a:lnTo>
                    <a:pt x="57150" y="114300"/>
                  </a:lnTo>
                  <a:lnTo>
                    <a:pt x="79395" y="109808"/>
                  </a:lnTo>
                  <a:lnTo>
                    <a:pt x="97561" y="97561"/>
                  </a:lnTo>
                  <a:lnTo>
                    <a:pt x="109808" y="79395"/>
                  </a:lnTo>
                  <a:lnTo>
                    <a:pt x="114300" y="57150"/>
                  </a:lnTo>
                  <a:lnTo>
                    <a:pt x="109808" y="34905"/>
                  </a:lnTo>
                  <a:lnTo>
                    <a:pt x="97561" y="16739"/>
                  </a:lnTo>
                  <a:lnTo>
                    <a:pt x="79395" y="4491"/>
                  </a:lnTo>
                  <a:lnTo>
                    <a:pt x="57150" y="0"/>
                  </a:lnTo>
                  <a:close/>
                </a:path>
              </a:pathLst>
            </a:custGeom>
            <a:solidFill>
              <a:srgbClr val="9BBB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63"/>
            <p:cNvSpPr/>
            <p:nvPr/>
          </p:nvSpPr>
          <p:spPr>
            <a:xfrm>
              <a:off x="6626069" y="1491725"/>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4F622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63"/>
            <p:cNvSpPr/>
            <p:nvPr/>
          </p:nvSpPr>
          <p:spPr>
            <a:xfrm>
              <a:off x="6911819" y="1497830"/>
              <a:ext cx="114300" cy="114300"/>
            </a:xfrm>
            <a:custGeom>
              <a:rect b="b" l="l" r="r" t="t"/>
              <a:pathLst>
                <a:path extrusionOk="0" h="114300" w="114300">
                  <a:moveTo>
                    <a:pt x="57150" y="0"/>
                  </a:moveTo>
                  <a:lnTo>
                    <a:pt x="34905" y="4491"/>
                  </a:lnTo>
                  <a:lnTo>
                    <a:pt x="16739" y="16738"/>
                  </a:lnTo>
                  <a:lnTo>
                    <a:pt x="4491" y="34904"/>
                  </a:lnTo>
                  <a:lnTo>
                    <a:pt x="0" y="57150"/>
                  </a:lnTo>
                  <a:lnTo>
                    <a:pt x="4491" y="79394"/>
                  </a:lnTo>
                  <a:lnTo>
                    <a:pt x="16739" y="97560"/>
                  </a:lnTo>
                  <a:lnTo>
                    <a:pt x="34905" y="109808"/>
                  </a:lnTo>
                  <a:lnTo>
                    <a:pt x="57150" y="114300"/>
                  </a:lnTo>
                  <a:lnTo>
                    <a:pt x="79395" y="109808"/>
                  </a:lnTo>
                  <a:lnTo>
                    <a:pt x="97561" y="97560"/>
                  </a:lnTo>
                  <a:lnTo>
                    <a:pt x="109808" y="79394"/>
                  </a:lnTo>
                  <a:lnTo>
                    <a:pt x="114300" y="57150"/>
                  </a:lnTo>
                  <a:lnTo>
                    <a:pt x="109808" y="34904"/>
                  </a:lnTo>
                  <a:lnTo>
                    <a:pt x="97561" y="16738"/>
                  </a:lnTo>
                  <a:lnTo>
                    <a:pt x="79395" y="4491"/>
                  </a:lnTo>
                  <a:lnTo>
                    <a:pt x="57150" y="0"/>
                  </a:lnTo>
                  <a:close/>
                </a:path>
              </a:pathLst>
            </a:custGeom>
            <a:solidFill>
              <a:srgbClr val="9BBB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63"/>
            <p:cNvSpPr/>
            <p:nvPr/>
          </p:nvSpPr>
          <p:spPr>
            <a:xfrm>
              <a:off x="6911819" y="149783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4F622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63"/>
            <p:cNvSpPr/>
            <p:nvPr/>
          </p:nvSpPr>
          <p:spPr>
            <a:xfrm>
              <a:off x="6626069" y="1726430"/>
              <a:ext cx="114300" cy="114300"/>
            </a:xfrm>
            <a:custGeom>
              <a:rect b="b" l="l" r="r" t="t"/>
              <a:pathLst>
                <a:path extrusionOk="0" h="114300" w="114300">
                  <a:moveTo>
                    <a:pt x="57150" y="0"/>
                  </a:moveTo>
                  <a:lnTo>
                    <a:pt x="34905" y="4491"/>
                  </a:lnTo>
                  <a:lnTo>
                    <a:pt x="16739" y="16738"/>
                  </a:lnTo>
                  <a:lnTo>
                    <a:pt x="4491" y="34904"/>
                  </a:lnTo>
                  <a:lnTo>
                    <a:pt x="0" y="57150"/>
                  </a:lnTo>
                  <a:lnTo>
                    <a:pt x="4491" y="79395"/>
                  </a:lnTo>
                  <a:lnTo>
                    <a:pt x="16739" y="97561"/>
                  </a:lnTo>
                  <a:lnTo>
                    <a:pt x="34905"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9BBB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63"/>
            <p:cNvSpPr/>
            <p:nvPr/>
          </p:nvSpPr>
          <p:spPr>
            <a:xfrm>
              <a:off x="6626069" y="172643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4F622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63"/>
            <p:cNvSpPr/>
            <p:nvPr/>
          </p:nvSpPr>
          <p:spPr>
            <a:xfrm>
              <a:off x="6911819" y="1726430"/>
              <a:ext cx="114300" cy="114300"/>
            </a:xfrm>
            <a:custGeom>
              <a:rect b="b" l="l" r="r" t="t"/>
              <a:pathLst>
                <a:path extrusionOk="0" h="114300" w="114300">
                  <a:moveTo>
                    <a:pt x="57150" y="0"/>
                  </a:moveTo>
                  <a:lnTo>
                    <a:pt x="34905" y="4491"/>
                  </a:lnTo>
                  <a:lnTo>
                    <a:pt x="16739" y="16738"/>
                  </a:lnTo>
                  <a:lnTo>
                    <a:pt x="4491" y="34904"/>
                  </a:lnTo>
                  <a:lnTo>
                    <a:pt x="0" y="57150"/>
                  </a:lnTo>
                  <a:lnTo>
                    <a:pt x="4491" y="79395"/>
                  </a:lnTo>
                  <a:lnTo>
                    <a:pt x="16739" y="97561"/>
                  </a:lnTo>
                  <a:lnTo>
                    <a:pt x="34905" y="109808"/>
                  </a:lnTo>
                  <a:lnTo>
                    <a:pt x="57150" y="114300"/>
                  </a:lnTo>
                  <a:lnTo>
                    <a:pt x="79395" y="109808"/>
                  </a:lnTo>
                  <a:lnTo>
                    <a:pt x="97561" y="97561"/>
                  </a:lnTo>
                  <a:lnTo>
                    <a:pt x="109808" y="79395"/>
                  </a:lnTo>
                  <a:lnTo>
                    <a:pt x="114300" y="57150"/>
                  </a:lnTo>
                  <a:lnTo>
                    <a:pt x="109808" y="34904"/>
                  </a:lnTo>
                  <a:lnTo>
                    <a:pt x="97561" y="16738"/>
                  </a:lnTo>
                  <a:lnTo>
                    <a:pt x="79395" y="4491"/>
                  </a:lnTo>
                  <a:lnTo>
                    <a:pt x="57150"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63"/>
            <p:cNvSpPr/>
            <p:nvPr/>
          </p:nvSpPr>
          <p:spPr>
            <a:xfrm>
              <a:off x="6911819" y="172643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6325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63"/>
            <p:cNvSpPr/>
            <p:nvPr/>
          </p:nvSpPr>
          <p:spPr>
            <a:xfrm>
              <a:off x="7209223" y="1502267"/>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4" y="109808"/>
                  </a:lnTo>
                  <a:lnTo>
                    <a:pt x="97560" y="97561"/>
                  </a:lnTo>
                  <a:lnTo>
                    <a:pt x="109808" y="79395"/>
                  </a:lnTo>
                  <a:lnTo>
                    <a:pt x="114300" y="57150"/>
                  </a:lnTo>
                  <a:lnTo>
                    <a:pt x="109808" y="34904"/>
                  </a:lnTo>
                  <a:lnTo>
                    <a:pt x="97560" y="16738"/>
                  </a:lnTo>
                  <a:lnTo>
                    <a:pt x="79394" y="4491"/>
                  </a:lnTo>
                  <a:lnTo>
                    <a:pt x="57150"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63"/>
            <p:cNvSpPr/>
            <p:nvPr/>
          </p:nvSpPr>
          <p:spPr>
            <a:xfrm>
              <a:off x="7209223" y="1502267"/>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6325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63"/>
            <p:cNvSpPr/>
            <p:nvPr/>
          </p:nvSpPr>
          <p:spPr>
            <a:xfrm>
              <a:off x="7209223" y="1726430"/>
              <a:ext cx="114300" cy="114300"/>
            </a:xfrm>
            <a:custGeom>
              <a:rect b="b" l="l" r="r" t="t"/>
              <a:pathLst>
                <a:path extrusionOk="0" h="114300" w="114300">
                  <a:moveTo>
                    <a:pt x="57150" y="0"/>
                  </a:moveTo>
                  <a:lnTo>
                    <a:pt x="34904" y="4491"/>
                  </a:lnTo>
                  <a:lnTo>
                    <a:pt x="16738" y="16738"/>
                  </a:lnTo>
                  <a:lnTo>
                    <a:pt x="4491" y="34904"/>
                  </a:lnTo>
                  <a:lnTo>
                    <a:pt x="0" y="57150"/>
                  </a:lnTo>
                  <a:lnTo>
                    <a:pt x="4491" y="79395"/>
                  </a:lnTo>
                  <a:lnTo>
                    <a:pt x="16738" y="97561"/>
                  </a:lnTo>
                  <a:lnTo>
                    <a:pt x="34904" y="109808"/>
                  </a:lnTo>
                  <a:lnTo>
                    <a:pt x="57150" y="114300"/>
                  </a:lnTo>
                  <a:lnTo>
                    <a:pt x="79394" y="109808"/>
                  </a:lnTo>
                  <a:lnTo>
                    <a:pt x="97560" y="97561"/>
                  </a:lnTo>
                  <a:lnTo>
                    <a:pt x="109808" y="79395"/>
                  </a:lnTo>
                  <a:lnTo>
                    <a:pt x="114300" y="57150"/>
                  </a:lnTo>
                  <a:lnTo>
                    <a:pt x="109808" y="34904"/>
                  </a:lnTo>
                  <a:lnTo>
                    <a:pt x="97560" y="16738"/>
                  </a:lnTo>
                  <a:lnTo>
                    <a:pt x="79394" y="4491"/>
                  </a:lnTo>
                  <a:lnTo>
                    <a:pt x="57150"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63"/>
            <p:cNvSpPr/>
            <p:nvPr/>
          </p:nvSpPr>
          <p:spPr>
            <a:xfrm>
              <a:off x="7209223" y="1726430"/>
              <a:ext cx="114300" cy="114300"/>
            </a:xfrm>
            <a:custGeom>
              <a:rect b="b" l="l" r="r" t="t"/>
              <a:pathLst>
                <a:path extrusionOk="0" h="114300" w="114300">
                  <a:moveTo>
                    <a:pt x="0" y="57150"/>
                  </a:moveTo>
                  <a:lnTo>
                    <a:pt x="4491" y="34904"/>
                  </a:lnTo>
                  <a:lnTo>
                    <a:pt x="16738" y="16738"/>
                  </a:lnTo>
                  <a:lnTo>
                    <a:pt x="34904" y="4491"/>
                  </a:lnTo>
                  <a:lnTo>
                    <a:pt x="57150" y="0"/>
                  </a:lnTo>
                  <a:lnTo>
                    <a:pt x="79395" y="4491"/>
                  </a:lnTo>
                  <a:lnTo>
                    <a:pt x="97561" y="16738"/>
                  </a:lnTo>
                  <a:lnTo>
                    <a:pt x="109808" y="34904"/>
                  </a:lnTo>
                  <a:lnTo>
                    <a:pt x="114300" y="57150"/>
                  </a:lnTo>
                  <a:lnTo>
                    <a:pt x="109808" y="79395"/>
                  </a:lnTo>
                  <a:lnTo>
                    <a:pt x="97561" y="97561"/>
                  </a:lnTo>
                  <a:lnTo>
                    <a:pt x="79395" y="109808"/>
                  </a:lnTo>
                  <a:lnTo>
                    <a:pt x="57150" y="114300"/>
                  </a:lnTo>
                  <a:lnTo>
                    <a:pt x="34904" y="109808"/>
                  </a:lnTo>
                  <a:lnTo>
                    <a:pt x="16738" y="97561"/>
                  </a:lnTo>
                  <a:lnTo>
                    <a:pt x="4491" y="79395"/>
                  </a:lnTo>
                  <a:lnTo>
                    <a:pt x="0" y="57150"/>
                  </a:lnTo>
                  <a:close/>
                </a:path>
              </a:pathLst>
            </a:custGeom>
            <a:noFill/>
            <a:ln cap="flat" cmpd="sng" w="25400">
              <a:solidFill>
                <a:srgbClr val="6325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63"/>
            <p:cNvSpPr/>
            <p:nvPr/>
          </p:nvSpPr>
          <p:spPr>
            <a:xfrm>
              <a:off x="6683219" y="1606025"/>
              <a:ext cx="0" cy="120650"/>
            </a:xfrm>
            <a:custGeom>
              <a:rect b="b" l="l" r="r" t="t"/>
              <a:pathLst>
                <a:path extrusionOk="0" h="120650" w="120000">
                  <a:moveTo>
                    <a:pt x="0" y="0"/>
                  </a:moveTo>
                  <a:lnTo>
                    <a:pt x="0" y="1204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63"/>
            <p:cNvSpPr/>
            <p:nvPr/>
          </p:nvSpPr>
          <p:spPr>
            <a:xfrm>
              <a:off x="6740369" y="1783580"/>
              <a:ext cx="171450" cy="0"/>
            </a:xfrm>
            <a:custGeom>
              <a:rect b="b" l="l" r="r" t="t"/>
              <a:pathLst>
                <a:path extrusionOk="0" h="120000" w="171450">
                  <a:moveTo>
                    <a:pt x="0" y="0"/>
                  </a:moveTo>
                  <a:lnTo>
                    <a:pt x="171450"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63"/>
            <p:cNvSpPr/>
            <p:nvPr/>
          </p:nvSpPr>
          <p:spPr>
            <a:xfrm>
              <a:off x="6968969" y="1612130"/>
              <a:ext cx="0" cy="114300"/>
            </a:xfrm>
            <a:custGeom>
              <a:rect b="b" l="l" r="r" t="t"/>
              <a:pathLst>
                <a:path extrusionOk="0" h="114300" w="120000">
                  <a:moveTo>
                    <a:pt x="0" y="0"/>
                  </a:moveTo>
                  <a:lnTo>
                    <a:pt x="0" y="11430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63"/>
            <p:cNvSpPr/>
            <p:nvPr/>
          </p:nvSpPr>
          <p:spPr>
            <a:xfrm>
              <a:off x="7266373" y="1616567"/>
              <a:ext cx="0" cy="110489"/>
            </a:xfrm>
            <a:custGeom>
              <a:rect b="b" l="l" r="r" t="t"/>
              <a:pathLst>
                <a:path extrusionOk="0" h="110489" w="120000">
                  <a:moveTo>
                    <a:pt x="0" y="0"/>
                  </a:moveTo>
                  <a:lnTo>
                    <a:pt x="0" y="109862"/>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63"/>
            <p:cNvSpPr/>
            <p:nvPr/>
          </p:nvSpPr>
          <p:spPr>
            <a:xfrm>
              <a:off x="6740369" y="1548875"/>
              <a:ext cx="171450" cy="6350"/>
            </a:xfrm>
            <a:custGeom>
              <a:rect b="b" l="l" r="r" t="t"/>
              <a:pathLst>
                <a:path extrusionOk="0" h="6350" w="171450">
                  <a:moveTo>
                    <a:pt x="0" y="0"/>
                  </a:moveTo>
                  <a:lnTo>
                    <a:pt x="171450" y="61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63"/>
            <p:cNvSpPr/>
            <p:nvPr/>
          </p:nvSpPr>
          <p:spPr>
            <a:xfrm>
              <a:off x="7026121" y="1554978"/>
              <a:ext cx="183515" cy="4445"/>
            </a:xfrm>
            <a:custGeom>
              <a:rect b="b" l="l" r="r" t="t"/>
              <a:pathLst>
                <a:path extrusionOk="0" h="4444" w="183515">
                  <a:moveTo>
                    <a:pt x="183102" y="4439"/>
                  </a:moveTo>
                  <a:lnTo>
                    <a:pt x="0"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63"/>
            <p:cNvSpPr/>
            <p:nvPr/>
          </p:nvSpPr>
          <p:spPr>
            <a:xfrm>
              <a:off x="7026119" y="1783580"/>
              <a:ext cx="183515" cy="0"/>
            </a:xfrm>
            <a:custGeom>
              <a:rect b="b" l="l" r="r" t="t"/>
              <a:pathLst>
                <a:path extrusionOk="0" h="120000" w="183515">
                  <a:moveTo>
                    <a:pt x="0" y="0"/>
                  </a:moveTo>
                  <a:lnTo>
                    <a:pt x="183102" y="0"/>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512" name="Google Shape;512;p63"/>
          <p:cNvSpPr txBox="1"/>
          <p:nvPr/>
        </p:nvSpPr>
        <p:spPr>
          <a:xfrm rot="5400000">
            <a:off x="5653524" y="2180589"/>
            <a:ext cx="148590" cy="242570"/>
          </a:xfrm>
          <a:prstGeom prst="rect">
            <a:avLst/>
          </a:prstGeom>
          <a:noFill/>
          <a:ln>
            <a:noFill/>
          </a:ln>
        </p:spPr>
        <p:txBody>
          <a:bodyPr anchorCtr="0" anchor="t" bIns="0" lIns="0" spcFirstLastPara="1" rIns="0" wrap="square" tIns="38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513" name="Google Shape;513;p63"/>
          <p:cNvSpPr txBox="1"/>
          <p:nvPr/>
        </p:nvSpPr>
        <p:spPr>
          <a:xfrm rot="5400000">
            <a:off x="6885919" y="2189733"/>
            <a:ext cx="148590" cy="242570"/>
          </a:xfrm>
          <a:prstGeom prst="rect">
            <a:avLst/>
          </a:prstGeom>
          <a:noFill/>
          <a:ln>
            <a:noFill/>
          </a:ln>
        </p:spPr>
        <p:txBody>
          <a:bodyPr anchorCtr="0" anchor="t" bIns="0" lIns="0" spcFirstLastPara="1" rIns="0" wrap="square" tIns="38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514" name="Google Shape;514;p63"/>
          <p:cNvSpPr txBox="1"/>
          <p:nvPr/>
        </p:nvSpPr>
        <p:spPr>
          <a:xfrm rot="5400000">
            <a:off x="6073763" y="3265677"/>
            <a:ext cx="148590" cy="242570"/>
          </a:xfrm>
          <a:prstGeom prst="rect">
            <a:avLst/>
          </a:prstGeom>
          <a:noFill/>
          <a:ln>
            <a:noFill/>
          </a:ln>
        </p:spPr>
        <p:txBody>
          <a:bodyPr anchorCtr="0" anchor="t" bIns="0" lIns="0" spcFirstLastPara="1" rIns="0" wrap="square" tIns="38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515" name="Google Shape;515;p63"/>
          <p:cNvSpPr txBox="1"/>
          <p:nvPr/>
        </p:nvSpPr>
        <p:spPr>
          <a:xfrm rot="5400000">
            <a:off x="6579362" y="3277869"/>
            <a:ext cx="148590" cy="242570"/>
          </a:xfrm>
          <a:prstGeom prst="rect">
            <a:avLst/>
          </a:prstGeom>
          <a:noFill/>
          <a:ln>
            <a:noFill/>
          </a:ln>
        </p:spPr>
        <p:txBody>
          <a:bodyPr anchorCtr="0" anchor="t" bIns="0" lIns="0" spcFirstLastPara="1" rIns="0" wrap="square" tIns="38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Calibri"/>
              <a:ea typeface="Calibri"/>
              <a:cs typeface="Calibri"/>
              <a:sym typeface="Calibri"/>
            </a:endParaRPr>
          </a:p>
        </p:txBody>
      </p:sp>
      <p:sp>
        <p:nvSpPr>
          <p:cNvPr id="516" name="Google Shape;516;p63"/>
          <p:cNvSpPr/>
          <p:nvPr/>
        </p:nvSpPr>
        <p:spPr>
          <a:xfrm>
            <a:off x="5670612" y="2851396"/>
            <a:ext cx="0" cy="120650"/>
          </a:xfrm>
          <a:custGeom>
            <a:rect b="b" l="l" r="r" t="t"/>
            <a:pathLst>
              <a:path extrusionOk="0" h="120650" w="120000">
                <a:moveTo>
                  <a:pt x="0" y="0"/>
                </a:moveTo>
                <a:lnTo>
                  <a:pt x="0" y="1204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63"/>
          <p:cNvSpPr/>
          <p:nvPr/>
        </p:nvSpPr>
        <p:spPr>
          <a:xfrm>
            <a:off x="5957472" y="2845292"/>
            <a:ext cx="0" cy="120650"/>
          </a:xfrm>
          <a:custGeom>
            <a:rect b="b" l="l" r="r" t="t"/>
            <a:pathLst>
              <a:path extrusionOk="0" h="120650" w="120000">
                <a:moveTo>
                  <a:pt x="0" y="0"/>
                </a:moveTo>
                <a:lnTo>
                  <a:pt x="0" y="120404"/>
                </a:lnTo>
              </a:path>
            </a:pathLst>
          </a:custGeom>
          <a:noFill/>
          <a:ln cap="flat" cmpd="sng" w="1905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18" name="Google Shape;518;p63"/>
          <p:cNvPicPr preferRelativeResize="0"/>
          <p:nvPr/>
        </p:nvPicPr>
        <p:blipFill rotWithShape="1">
          <a:blip r:embed="rId3">
            <a:alphaModFix/>
          </a:blip>
          <a:srcRect b="0" l="0" r="0" t="0"/>
          <a:stretch/>
        </p:blipFill>
        <p:spPr>
          <a:xfrm>
            <a:off x="6556219" y="2739655"/>
            <a:ext cx="425450" cy="374403"/>
          </a:xfrm>
          <a:prstGeom prst="rect">
            <a:avLst/>
          </a:prstGeom>
          <a:noFill/>
          <a:ln>
            <a:noFill/>
          </a:ln>
        </p:spPr>
      </p:pic>
      <p:grpSp>
        <p:nvGrpSpPr>
          <p:cNvPr id="519" name="Google Shape;519;p63"/>
          <p:cNvGrpSpPr/>
          <p:nvPr/>
        </p:nvGrpSpPr>
        <p:grpSpPr>
          <a:xfrm>
            <a:off x="4976210" y="2409590"/>
            <a:ext cx="369570" cy="635636"/>
            <a:chOff x="4976210" y="2409590"/>
            <a:chExt cx="369570" cy="635636"/>
          </a:xfrm>
        </p:grpSpPr>
        <p:sp>
          <p:nvSpPr>
            <p:cNvPr id="520" name="Google Shape;520;p63"/>
            <p:cNvSpPr/>
            <p:nvPr/>
          </p:nvSpPr>
          <p:spPr>
            <a:xfrm>
              <a:off x="4976210" y="2409591"/>
              <a:ext cx="369570" cy="635635"/>
            </a:xfrm>
            <a:custGeom>
              <a:rect b="b" l="l" r="r" t="t"/>
              <a:pathLst>
                <a:path extrusionOk="0" h="635635" w="369570">
                  <a:moveTo>
                    <a:pt x="92617" y="0"/>
                  </a:moveTo>
                  <a:lnTo>
                    <a:pt x="0" y="40869"/>
                  </a:lnTo>
                  <a:lnTo>
                    <a:pt x="230480" y="563178"/>
                  </a:lnTo>
                  <a:lnTo>
                    <a:pt x="184171" y="583614"/>
                  </a:lnTo>
                  <a:lnTo>
                    <a:pt x="317658" y="635361"/>
                  </a:lnTo>
                  <a:lnTo>
                    <a:pt x="369407" y="501874"/>
                  </a:lnTo>
                  <a:lnTo>
                    <a:pt x="323098" y="522309"/>
                  </a:lnTo>
                  <a:lnTo>
                    <a:pt x="92617"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63"/>
            <p:cNvSpPr/>
            <p:nvPr/>
          </p:nvSpPr>
          <p:spPr>
            <a:xfrm>
              <a:off x="4976210" y="2409590"/>
              <a:ext cx="369570" cy="635635"/>
            </a:xfrm>
            <a:custGeom>
              <a:rect b="b" l="l" r="r" t="t"/>
              <a:pathLst>
                <a:path extrusionOk="0" h="635635" w="369570">
                  <a:moveTo>
                    <a:pt x="184171" y="583614"/>
                  </a:moveTo>
                  <a:lnTo>
                    <a:pt x="230480" y="563179"/>
                  </a:lnTo>
                  <a:lnTo>
                    <a:pt x="0" y="40869"/>
                  </a:lnTo>
                  <a:lnTo>
                    <a:pt x="92617" y="0"/>
                  </a:lnTo>
                  <a:lnTo>
                    <a:pt x="323098" y="522309"/>
                  </a:lnTo>
                  <a:lnTo>
                    <a:pt x="369407" y="501874"/>
                  </a:lnTo>
                  <a:lnTo>
                    <a:pt x="317659" y="635362"/>
                  </a:lnTo>
                  <a:lnTo>
                    <a:pt x="184171" y="583614"/>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522" name="Google Shape;522;p63"/>
          <p:cNvGrpSpPr/>
          <p:nvPr/>
        </p:nvGrpSpPr>
        <p:grpSpPr>
          <a:xfrm>
            <a:off x="7258115" y="2443679"/>
            <a:ext cx="294640" cy="662941"/>
            <a:chOff x="7258115" y="2443679"/>
            <a:chExt cx="294640" cy="662941"/>
          </a:xfrm>
        </p:grpSpPr>
        <p:sp>
          <p:nvSpPr>
            <p:cNvPr id="523" name="Google Shape;523;p63"/>
            <p:cNvSpPr/>
            <p:nvPr/>
          </p:nvSpPr>
          <p:spPr>
            <a:xfrm>
              <a:off x="7258115" y="2443680"/>
              <a:ext cx="294640" cy="662940"/>
            </a:xfrm>
            <a:custGeom>
              <a:rect b="b" l="l" r="r" t="t"/>
              <a:pathLst>
                <a:path extrusionOk="0" h="662939" w="294640">
                  <a:moveTo>
                    <a:pt x="222854" y="0"/>
                  </a:moveTo>
                  <a:lnTo>
                    <a:pt x="98868" y="71582"/>
                  </a:lnTo>
                  <a:lnTo>
                    <a:pt x="147760" y="84683"/>
                  </a:lnTo>
                  <a:lnTo>
                    <a:pt x="0" y="636131"/>
                  </a:lnTo>
                  <a:lnTo>
                    <a:pt x="97784" y="662332"/>
                  </a:lnTo>
                  <a:lnTo>
                    <a:pt x="245545" y="110884"/>
                  </a:lnTo>
                  <a:lnTo>
                    <a:pt x="294438" y="123985"/>
                  </a:lnTo>
                  <a:lnTo>
                    <a:pt x="222854" y="0"/>
                  </a:lnTo>
                  <a:close/>
                </a:path>
              </a:pathLst>
            </a:custGeom>
            <a:solidFill>
              <a:srgbClr val="4F81B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63"/>
            <p:cNvSpPr/>
            <p:nvPr/>
          </p:nvSpPr>
          <p:spPr>
            <a:xfrm>
              <a:off x="7258115" y="2443679"/>
              <a:ext cx="294640" cy="662940"/>
            </a:xfrm>
            <a:custGeom>
              <a:rect b="b" l="l" r="r" t="t"/>
              <a:pathLst>
                <a:path extrusionOk="0" h="662939" w="294640">
                  <a:moveTo>
                    <a:pt x="294438" y="123986"/>
                  </a:moveTo>
                  <a:lnTo>
                    <a:pt x="245545" y="110885"/>
                  </a:lnTo>
                  <a:lnTo>
                    <a:pt x="97784" y="662334"/>
                  </a:lnTo>
                  <a:lnTo>
                    <a:pt x="0" y="636132"/>
                  </a:lnTo>
                  <a:lnTo>
                    <a:pt x="147760" y="84683"/>
                  </a:lnTo>
                  <a:lnTo>
                    <a:pt x="98868" y="71583"/>
                  </a:lnTo>
                  <a:lnTo>
                    <a:pt x="222854" y="0"/>
                  </a:lnTo>
                  <a:lnTo>
                    <a:pt x="294438" y="123986"/>
                  </a:lnTo>
                  <a:close/>
                </a:path>
              </a:pathLst>
            </a:custGeom>
            <a:noFill/>
            <a:ln cap="flat" cmpd="sng" w="25375">
              <a:solidFill>
                <a:srgbClr val="385D8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525" name="Google Shape;525;p63"/>
          <p:cNvSpPr txBox="1"/>
          <p:nvPr/>
        </p:nvSpPr>
        <p:spPr>
          <a:xfrm rot="3840000">
            <a:off x="4505704" y="2705376"/>
            <a:ext cx="781850" cy="177800"/>
          </a:xfrm>
          <a:prstGeom prst="rect">
            <a:avLst/>
          </a:prstGeom>
          <a:noFill/>
          <a:ln>
            <a:noFill/>
          </a:ln>
        </p:spPr>
        <p:txBody>
          <a:bodyPr anchorCtr="0" anchor="t" bIns="0" lIns="0" spcFirstLastPara="1" rIns="0" wrap="square" tIns="0">
            <a:spAutoFit/>
          </a:bodyPr>
          <a:lstStyle/>
          <a:p>
            <a:pPr indent="0" lvl="0" marL="0" marR="0" rtl="0" algn="l">
              <a:lnSpc>
                <a:spcPct val="66190"/>
              </a:lnSpc>
              <a:spcBef>
                <a:spcPts val="0"/>
              </a:spcBef>
              <a:spcAft>
                <a:spcPts val="0"/>
              </a:spcAft>
              <a:buNone/>
            </a:pPr>
            <a:r>
              <a:rPr b="0" baseline="30000" i="0" lang="en-US" sz="2100" u="none" cap="none" strike="noStrike">
                <a:solidFill>
                  <a:srgbClr val="000000"/>
                </a:solidFill>
                <a:latin typeface="Calibri"/>
                <a:ea typeface="Calibri"/>
                <a:cs typeface="Calibri"/>
                <a:sym typeface="Calibri"/>
              </a:rPr>
              <a:t>coarse</a:t>
            </a:r>
            <a:r>
              <a:rPr b="0" i="0" lang="en-US" sz="1400" u="none" cap="none" strike="noStrike">
                <a:solidFill>
                  <a:srgbClr val="000000"/>
                </a:solidFill>
                <a:latin typeface="Calibri"/>
                <a:ea typeface="Calibri"/>
                <a:cs typeface="Calibri"/>
                <a:sym typeface="Calibri"/>
              </a:rPr>
              <a:t>ning</a:t>
            </a:r>
            <a:endParaRPr b="0" i="0" sz="1400" u="none" cap="none" strike="noStrike">
              <a:solidFill>
                <a:srgbClr val="000000"/>
              </a:solidFill>
              <a:latin typeface="Calibri"/>
              <a:ea typeface="Calibri"/>
              <a:cs typeface="Calibri"/>
              <a:sym typeface="Calibri"/>
            </a:endParaRPr>
          </a:p>
        </p:txBody>
      </p:sp>
      <p:sp>
        <p:nvSpPr>
          <p:cNvPr id="526" name="Google Shape;526;p63"/>
          <p:cNvSpPr txBox="1"/>
          <p:nvPr/>
        </p:nvSpPr>
        <p:spPr>
          <a:xfrm rot="-4440000">
            <a:off x="7294704" y="2801318"/>
            <a:ext cx="803508" cy="177800"/>
          </a:xfrm>
          <a:prstGeom prst="rect">
            <a:avLst/>
          </a:prstGeom>
          <a:noFill/>
          <a:ln>
            <a:noFill/>
          </a:ln>
        </p:spPr>
        <p:txBody>
          <a:bodyPr anchorCtr="0" anchor="t" bIns="0" lIns="0" spcFirstLastPara="1" rIns="0" wrap="square" tIns="0">
            <a:spAutoFit/>
          </a:bodyPr>
          <a:lstStyle/>
          <a:p>
            <a:pPr indent="0" lvl="0" marL="0" marR="0" rtl="0" algn="l">
              <a:lnSpc>
                <a:spcPct val="66428"/>
              </a:lnSpc>
              <a:spcBef>
                <a:spcPts val="0"/>
              </a:spcBef>
              <a:spcAft>
                <a:spcPts val="0"/>
              </a:spcAft>
              <a:buNone/>
            </a:pPr>
            <a:r>
              <a:rPr b="0" i="0" lang="en-US" sz="1400" u="none" cap="none" strike="noStrike">
                <a:solidFill>
                  <a:srgbClr val="000000"/>
                </a:solidFill>
                <a:latin typeface="Calibri"/>
                <a:ea typeface="Calibri"/>
                <a:cs typeface="Calibri"/>
                <a:sym typeface="Calibri"/>
              </a:rPr>
              <a:t>refine</a:t>
            </a:r>
            <a:r>
              <a:rPr b="0" baseline="30000" i="0" lang="en-US" sz="2100" u="none" cap="none" strike="noStrike">
                <a:solidFill>
                  <a:srgbClr val="000000"/>
                </a:solidFill>
                <a:latin typeface="Calibri"/>
                <a:ea typeface="Calibri"/>
                <a:cs typeface="Calibri"/>
                <a:sym typeface="Calibri"/>
              </a:rPr>
              <a:t>ment</a:t>
            </a:r>
            <a:endParaRPr b="0" baseline="30000" i="0" sz="2100" u="none" cap="none" strike="noStrike">
              <a:solidFill>
                <a:srgbClr val="00000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0" name="Shape 530"/>
        <p:cNvGrpSpPr/>
        <p:nvPr/>
      </p:nvGrpSpPr>
      <p:grpSpPr>
        <a:xfrm>
          <a:off x="0" y="0"/>
          <a:ext cx="0" cy="0"/>
          <a:chOff x="0" y="0"/>
          <a:chExt cx="0" cy="0"/>
        </a:xfrm>
      </p:grpSpPr>
      <p:pic>
        <p:nvPicPr>
          <p:cNvPr id="531" name="Google Shape;531;p64"/>
          <p:cNvPicPr preferRelativeResize="0"/>
          <p:nvPr/>
        </p:nvPicPr>
        <p:blipFill rotWithShape="1">
          <a:blip r:embed="rId3">
            <a:alphaModFix/>
          </a:blip>
          <a:srcRect b="0" l="0" r="0" t="0"/>
          <a:stretch/>
        </p:blipFill>
        <p:spPr>
          <a:xfrm>
            <a:off x="356113" y="41623"/>
            <a:ext cx="8431772" cy="5054306"/>
          </a:xfrm>
          <a:prstGeom prst="rect">
            <a:avLst/>
          </a:prstGeom>
          <a:noFill/>
          <a:ln>
            <a:noFill/>
          </a:ln>
        </p:spPr>
      </p:pic>
      <p:sp>
        <p:nvSpPr>
          <p:cNvPr id="532" name="Google Shape;532;p64"/>
          <p:cNvSpPr txBox="1"/>
          <p:nvPr>
            <p:ph type="title"/>
          </p:nvPr>
        </p:nvSpPr>
        <p:spPr>
          <a:xfrm>
            <a:off x="311700" y="315925"/>
            <a:ext cx="8520600" cy="723000"/>
          </a:xfrm>
          <a:prstGeom prst="rect">
            <a:avLst/>
          </a:prstGeom>
          <a:noFill/>
          <a:ln>
            <a:noFill/>
          </a:ln>
        </p:spPr>
        <p:txBody>
          <a:bodyPr anchorCtr="0" anchor="t" bIns="0" lIns="0" spcFirstLastPara="1" rIns="0" wrap="square" tIns="289050">
            <a:spAutoFit/>
          </a:bodyPr>
          <a:lstStyle/>
          <a:p>
            <a:pPr indent="0" lvl="0" marL="3823970" rtl="0" algn="l">
              <a:lnSpc>
                <a:spcPct val="100000"/>
              </a:lnSpc>
              <a:spcBef>
                <a:spcPts val="0"/>
              </a:spcBef>
              <a:spcAft>
                <a:spcPts val="0"/>
              </a:spcAft>
              <a:buClr>
                <a:schemeClr val="accent1"/>
              </a:buClr>
              <a:buSzPts val="2800"/>
              <a:buFont typeface="Trebuchet MS"/>
              <a:buNone/>
            </a:pPr>
            <a:r>
              <a:rPr b="1" lang="en-US" sz="2800"/>
              <a:t>Partitions on the map</a:t>
            </a:r>
            <a:endParaRPr b="1" sz="2800"/>
          </a:p>
        </p:txBody>
      </p:sp>
      <p:sp>
        <p:nvSpPr>
          <p:cNvPr id="533" name="Google Shape;533;p64"/>
          <p:cNvSpPr txBox="1"/>
          <p:nvPr>
            <p:ph idx="12" type="sldNum"/>
          </p:nvPr>
        </p:nvSpPr>
        <p:spPr>
          <a:xfrm>
            <a:off x="8472458" y="4663217"/>
            <a:ext cx="548700" cy="229800"/>
          </a:xfrm>
          <a:prstGeom prst="rect">
            <a:avLst/>
          </a:prstGeom>
          <a:noFill/>
          <a:ln>
            <a:noFill/>
          </a:ln>
        </p:spPr>
        <p:txBody>
          <a:bodyPr anchorCtr="0" anchor="ctr" bIns="0" lIns="0" spcFirstLastPara="1" rIns="0" wrap="square" tIns="75175">
            <a:spAutoFit/>
          </a:bodyPr>
          <a:lstStyle/>
          <a:p>
            <a:pPr indent="0" lvl="0" marL="0" rtl="0" algn="r">
              <a:spcBef>
                <a:spcPts val="0"/>
              </a:spcBef>
              <a:spcAft>
                <a:spcPts val="0"/>
              </a:spcAft>
              <a:buNone/>
            </a:pPr>
            <a:fld id="{00000000-1234-1234-1234-123412341234}" type="slidenum">
              <a:rPr lang="en-US"/>
              <a:t>‹#›</a:t>
            </a:fld>
            <a:endParaRPr/>
          </a:p>
        </p:txBody>
      </p:sp>
      <p:sp>
        <p:nvSpPr>
          <p:cNvPr id="534" name="Google Shape;534;p64"/>
          <p:cNvSpPr txBox="1"/>
          <p:nvPr/>
        </p:nvSpPr>
        <p:spPr>
          <a:xfrm>
            <a:off x="842066" y="1476755"/>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1</a:t>
            </a:r>
            <a:endParaRPr b="0" i="0" sz="1400" u="none" cap="none" strike="noStrike">
              <a:solidFill>
                <a:srgbClr val="000000"/>
              </a:solidFill>
              <a:latin typeface="Calibri"/>
              <a:ea typeface="Calibri"/>
              <a:cs typeface="Calibri"/>
              <a:sym typeface="Calibri"/>
            </a:endParaRPr>
          </a:p>
        </p:txBody>
      </p:sp>
      <p:sp>
        <p:nvSpPr>
          <p:cNvPr id="535" name="Google Shape;535;p64"/>
          <p:cNvSpPr txBox="1"/>
          <p:nvPr/>
        </p:nvSpPr>
        <p:spPr>
          <a:xfrm>
            <a:off x="2362089" y="1546859"/>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2</a:t>
            </a:r>
            <a:endParaRPr b="0" i="0" sz="1400" u="none" cap="none" strike="noStrike">
              <a:solidFill>
                <a:srgbClr val="000000"/>
              </a:solidFill>
              <a:latin typeface="Calibri"/>
              <a:ea typeface="Calibri"/>
              <a:cs typeface="Calibri"/>
              <a:sym typeface="Calibri"/>
            </a:endParaRPr>
          </a:p>
        </p:txBody>
      </p:sp>
      <p:sp>
        <p:nvSpPr>
          <p:cNvPr id="536" name="Google Shape;536;p64"/>
          <p:cNvSpPr txBox="1"/>
          <p:nvPr/>
        </p:nvSpPr>
        <p:spPr>
          <a:xfrm>
            <a:off x="1622972" y="3671316"/>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4</a:t>
            </a:r>
            <a:endParaRPr b="0" i="0" sz="1400" u="none" cap="none" strike="noStrike">
              <a:solidFill>
                <a:srgbClr val="000000"/>
              </a:solidFill>
              <a:latin typeface="Calibri"/>
              <a:ea typeface="Calibri"/>
              <a:cs typeface="Calibri"/>
              <a:sym typeface="Calibri"/>
            </a:endParaRPr>
          </a:p>
        </p:txBody>
      </p:sp>
      <p:sp>
        <p:nvSpPr>
          <p:cNvPr id="537" name="Google Shape;537;p64"/>
          <p:cNvSpPr txBox="1"/>
          <p:nvPr/>
        </p:nvSpPr>
        <p:spPr>
          <a:xfrm>
            <a:off x="3761520" y="2278379"/>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8</a:t>
            </a:r>
            <a:endParaRPr b="0" i="0" sz="1400" u="none" cap="none" strike="noStrike">
              <a:solidFill>
                <a:srgbClr val="000000"/>
              </a:solidFill>
              <a:latin typeface="Calibri"/>
              <a:ea typeface="Calibri"/>
              <a:cs typeface="Calibri"/>
              <a:sym typeface="Calibri"/>
            </a:endParaRPr>
          </a:p>
        </p:txBody>
      </p:sp>
      <p:sp>
        <p:nvSpPr>
          <p:cNvPr id="538" name="Google Shape;538;p64"/>
          <p:cNvSpPr txBox="1"/>
          <p:nvPr/>
        </p:nvSpPr>
        <p:spPr>
          <a:xfrm>
            <a:off x="4039816" y="4546091"/>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3</a:t>
            </a:r>
            <a:endParaRPr b="0" i="0" sz="1400" u="none" cap="none" strike="noStrike">
              <a:solidFill>
                <a:srgbClr val="000000"/>
              </a:solidFill>
              <a:latin typeface="Calibri"/>
              <a:ea typeface="Calibri"/>
              <a:cs typeface="Calibri"/>
              <a:sym typeface="Calibri"/>
            </a:endParaRPr>
          </a:p>
        </p:txBody>
      </p:sp>
      <p:sp>
        <p:nvSpPr>
          <p:cNvPr id="539" name="Google Shape;539;p64"/>
          <p:cNvSpPr txBox="1"/>
          <p:nvPr/>
        </p:nvSpPr>
        <p:spPr>
          <a:xfrm>
            <a:off x="4039816" y="3567684"/>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7</a:t>
            </a:r>
            <a:endParaRPr b="0" i="0" sz="1400" u="none" cap="none" strike="noStrike">
              <a:solidFill>
                <a:srgbClr val="000000"/>
              </a:solidFill>
              <a:latin typeface="Calibri"/>
              <a:ea typeface="Calibri"/>
              <a:cs typeface="Calibri"/>
              <a:sym typeface="Calibri"/>
            </a:endParaRPr>
          </a:p>
        </p:txBody>
      </p:sp>
      <p:sp>
        <p:nvSpPr>
          <p:cNvPr id="540" name="Google Shape;540;p64"/>
          <p:cNvSpPr txBox="1"/>
          <p:nvPr/>
        </p:nvSpPr>
        <p:spPr>
          <a:xfrm>
            <a:off x="5601670" y="2436876"/>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5</a:t>
            </a:r>
            <a:endParaRPr b="0" i="0" sz="1400" u="none" cap="none" strike="noStrike">
              <a:solidFill>
                <a:srgbClr val="000000"/>
              </a:solidFill>
              <a:latin typeface="Calibri"/>
              <a:ea typeface="Calibri"/>
              <a:cs typeface="Calibri"/>
              <a:sym typeface="Calibri"/>
            </a:endParaRPr>
          </a:p>
        </p:txBody>
      </p:sp>
      <p:sp>
        <p:nvSpPr>
          <p:cNvPr id="541" name="Google Shape;541;p64"/>
          <p:cNvSpPr txBox="1"/>
          <p:nvPr/>
        </p:nvSpPr>
        <p:spPr>
          <a:xfrm>
            <a:off x="6625682" y="3259835"/>
            <a:ext cx="78168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rgbClr val="000000"/>
                </a:solidFill>
                <a:latin typeface="Calibri"/>
                <a:ea typeface="Calibri"/>
                <a:cs typeface="Calibri"/>
                <a:sym typeface="Calibri"/>
              </a:rPr>
              <a:t>Partition 6</a:t>
            </a:r>
            <a:endParaRPr b="0" i="0" sz="1400" u="none" cap="none" strike="noStrike">
              <a:solidFill>
                <a:srgbClr val="000000"/>
              </a:solidFill>
              <a:latin typeface="Calibri"/>
              <a:ea typeface="Calibri"/>
              <a:cs typeface="Calibri"/>
              <a:sym typeface="Calibri"/>
            </a:endParaRPr>
          </a:p>
        </p:txBody>
      </p:sp>
      <p:sp>
        <p:nvSpPr>
          <p:cNvPr id="542" name="Google Shape;542;p64"/>
          <p:cNvSpPr txBox="1"/>
          <p:nvPr/>
        </p:nvSpPr>
        <p:spPr>
          <a:xfrm>
            <a:off x="4154514" y="2407411"/>
            <a:ext cx="8255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Partition</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5"/>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700"/>
              <a:buFont typeface="Trebuchet MS"/>
              <a:buNone/>
            </a:pPr>
            <a:r>
              <a:rPr b="1" lang="en-US" sz="2700"/>
              <a:t>Coarsening</a:t>
            </a:r>
            <a:endParaRPr b="1" sz="2700"/>
          </a:p>
        </p:txBody>
      </p:sp>
      <p:sp>
        <p:nvSpPr>
          <p:cNvPr id="548" name="Google Shape;548;p65"/>
          <p:cNvSpPr txBox="1"/>
          <p:nvPr>
            <p:ph idx="1" type="body"/>
          </p:nvPr>
        </p:nvSpPr>
        <p:spPr>
          <a:xfrm>
            <a:off x="311700" y="894750"/>
            <a:ext cx="8520600" cy="33540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00000"/>
              </a:lnSpc>
              <a:spcBef>
                <a:spcPts val="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Definition</a:t>
            </a:r>
            <a:r>
              <a:rPr b="0" i="0" lang="en-US" sz="1900" u="none" cap="none" strike="noStrike">
                <a:solidFill>
                  <a:schemeClr val="dk1"/>
                </a:solidFill>
                <a:latin typeface="Arial"/>
                <a:ea typeface="Arial"/>
                <a:cs typeface="Arial"/>
                <a:sym typeface="Arial"/>
              </a:rPr>
              <a:t>: The process of reducing the size of the graph by merging 	nodes and edges while preserving its structural properties.</a:t>
            </a:r>
            <a:endParaRPr sz="1900"/>
          </a:p>
          <a:p>
            <a:pPr indent="-349250" lvl="0" marL="457200" marR="0" rtl="0" algn="l">
              <a:lnSpc>
                <a:spcPct val="100000"/>
              </a:lnSpc>
              <a:spcBef>
                <a:spcPts val="100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Goal</a:t>
            </a:r>
            <a:r>
              <a:rPr b="0" i="0" lang="en-US" sz="1900" u="none" cap="none" strike="noStrike">
                <a:solidFill>
                  <a:schemeClr val="dk1"/>
                </a:solidFill>
                <a:latin typeface="Arial"/>
                <a:ea typeface="Arial"/>
                <a:cs typeface="Arial"/>
                <a:sym typeface="Arial"/>
              </a:rPr>
              <a:t>: Simplify the problem by creating a smaller, easier-to-manage graph.</a:t>
            </a:r>
            <a:endParaRPr sz="1900"/>
          </a:p>
          <a:p>
            <a:pPr indent="-349250" lvl="0" marL="457200" marR="0" rtl="0" algn="l">
              <a:lnSpc>
                <a:spcPct val="100000"/>
              </a:lnSpc>
              <a:spcBef>
                <a:spcPts val="100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Steps</a:t>
            </a:r>
            <a:r>
              <a:rPr b="0" i="0" lang="en-US" sz="1900" u="none" cap="none" strike="noStrike">
                <a:solidFill>
                  <a:schemeClr val="dk1"/>
                </a:solidFill>
                <a:latin typeface="Arial"/>
                <a:ea typeface="Arial"/>
                <a:cs typeface="Arial"/>
                <a:sym typeface="Arial"/>
              </a:rPr>
              <a:t>:</a:t>
            </a:r>
            <a:endParaRPr sz="1900"/>
          </a:p>
          <a:p>
            <a:pPr indent="-349250" lvl="1" marL="914400" marR="0" rtl="0" algn="l">
              <a:lnSpc>
                <a:spcPct val="10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Identify clusters of nodes to merge.</a:t>
            </a:r>
            <a:endParaRPr sz="1900"/>
          </a:p>
          <a:p>
            <a:pPr indent="-349250" lvl="1" marL="914400" rtl="0" algn="l">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Combine nodes into supernodes.</a:t>
            </a:r>
            <a:endParaRPr sz="1900"/>
          </a:p>
          <a:p>
            <a:pPr indent="-349250" lvl="1" marL="914400" rtl="0" algn="l">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Adjust edges to reflect the new graph structure.</a:t>
            </a:r>
            <a:endParaRPr sz="1900"/>
          </a:p>
          <a:p>
            <a:pPr indent="-349250" lvl="0" marL="457200" marR="0" rtl="0" algn="l">
              <a:lnSpc>
                <a:spcPct val="100000"/>
              </a:lnSpc>
              <a:spcBef>
                <a:spcPts val="1000"/>
              </a:spcBef>
              <a:spcAft>
                <a:spcPts val="0"/>
              </a:spcAft>
              <a:buClr>
                <a:schemeClr val="dk1"/>
              </a:buClr>
              <a:buSzPts val="1900"/>
              <a:buFont typeface="Arial"/>
              <a:buChar char="●"/>
            </a:pPr>
            <a:r>
              <a:rPr b="1" i="0" lang="en-US" sz="1900" u="none" cap="none" strike="noStrike">
                <a:solidFill>
                  <a:schemeClr val="dk1"/>
                </a:solidFill>
                <a:latin typeface="Arial"/>
                <a:ea typeface="Arial"/>
                <a:cs typeface="Arial"/>
                <a:sym typeface="Arial"/>
              </a:rPr>
              <a:t>Benefits</a:t>
            </a:r>
            <a:r>
              <a:rPr b="0" i="0" lang="en-US" sz="1900" u="none" cap="none" strike="noStrike">
                <a:solidFill>
                  <a:schemeClr val="dk1"/>
                </a:solidFill>
                <a:latin typeface="Arial"/>
                <a:ea typeface="Arial"/>
                <a:cs typeface="Arial"/>
                <a:sym typeface="Arial"/>
              </a:rPr>
              <a:t>:</a:t>
            </a:r>
            <a:endParaRPr sz="1900"/>
          </a:p>
          <a:p>
            <a:pPr indent="-349250" lvl="1" marL="914400" marR="0" rtl="0" algn="l">
              <a:lnSpc>
                <a:spcPct val="10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Reduces computational complexity.</a:t>
            </a:r>
            <a:endParaRPr sz="1900"/>
          </a:p>
          <a:p>
            <a:pPr indent="-349250" lvl="1" marL="914400" marR="0" rtl="0" algn="l">
              <a:lnSpc>
                <a:spcPct val="10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Facilitates efficient initial partitioning</a:t>
            </a:r>
            <a:endParaRPr sz="1900"/>
          </a:p>
          <a:p>
            <a:pPr indent="0" lvl="0" marL="0" marR="0" rtl="0" algn="l">
              <a:lnSpc>
                <a:spcPct val="100000"/>
              </a:lnSpc>
              <a:spcBef>
                <a:spcPts val="0"/>
              </a:spcBef>
              <a:spcAft>
                <a:spcPts val="0"/>
              </a:spcAft>
              <a:buNone/>
            </a:pPr>
            <a:r>
              <a:t/>
            </a:r>
            <a:endParaRPr sz="19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6"/>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700"/>
              <a:buFont typeface="Trebuchet MS"/>
              <a:buNone/>
            </a:pPr>
            <a:r>
              <a:rPr b="1" lang="en-US" sz="2900"/>
              <a:t>Initial Partitioning</a:t>
            </a:r>
            <a:endParaRPr b="1" sz="2900"/>
          </a:p>
        </p:txBody>
      </p:sp>
      <p:sp>
        <p:nvSpPr>
          <p:cNvPr id="554" name="Google Shape;554;p66"/>
          <p:cNvSpPr txBox="1"/>
          <p:nvPr>
            <p:ph idx="1" type="body"/>
          </p:nvPr>
        </p:nvSpPr>
        <p:spPr>
          <a:xfrm>
            <a:off x="311700" y="959325"/>
            <a:ext cx="8520600" cy="33540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dk1"/>
              </a:buClr>
              <a:buSzPts val="1800"/>
              <a:buFont typeface="Arial"/>
              <a:buChar char="●"/>
            </a:pPr>
            <a:r>
              <a:rPr b="1" i="0" lang="en-US" u="none" cap="none" strike="noStrike">
                <a:solidFill>
                  <a:schemeClr val="dk1"/>
                </a:solidFill>
                <a:latin typeface="Arial"/>
                <a:ea typeface="Arial"/>
                <a:cs typeface="Arial"/>
                <a:sym typeface="Arial"/>
              </a:rPr>
              <a:t>Definition</a:t>
            </a:r>
            <a:r>
              <a:rPr b="0" i="0" lang="en-US" u="none" cap="none" strike="noStrike">
                <a:solidFill>
                  <a:schemeClr val="dk1"/>
                </a:solidFill>
                <a:latin typeface="Arial"/>
                <a:ea typeface="Arial"/>
                <a:cs typeface="Arial"/>
                <a:sym typeface="Arial"/>
              </a:rPr>
              <a:t>: Dividing the coarse graph into parts or clusters to minimize edge cuts and balance node weights.</a:t>
            </a:r>
            <a:endParaRPr>
              <a:solidFill>
                <a:schemeClr val="dk1"/>
              </a:solidFill>
            </a:endParaRPr>
          </a:p>
          <a:p>
            <a:pPr indent="-342900" lvl="0" marL="457200" marR="0" rtl="0" algn="l">
              <a:lnSpc>
                <a:spcPct val="100000"/>
              </a:lnSpc>
              <a:spcBef>
                <a:spcPts val="1000"/>
              </a:spcBef>
              <a:spcAft>
                <a:spcPts val="0"/>
              </a:spcAft>
              <a:buClr>
                <a:schemeClr val="dk1"/>
              </a:buClr>
              <a:buSzPts val="1800"/>
              <a:buFont typeface="Arial"/>
              <a:buChar char="●"/>
            </a:pPr>
            <a:r>
              <a:rPr b="1" i="0" lang="en-US" u="none" cap="none" strike="noStrike">
                <a:solidFill>
                  <a:schemeClr val="dk1"/>
                </a:solidFill>
                <a:latin typeface="Arial"/>
                <a:ea typeface="Arial"/>
                <a:cs typeface="Arial"/>
                <a:sym typeface="Arial"/>
              </a:rPr>
              <a:t>Techniques</a:t>
            </a:r>
            <a:r>
              <a:rPr b="0" i="0" lang="en-US" u="none" cap="none" strike="noStrike">
                <a:solidFill>
                  <a:schemeClr val="dk1"/>
                </a:solidFill>
                <a:latin typeface="Arial"/>
                <a:ea typeface="Arial"/>
                <a:cs typeface="Arial"/>
                <a:sym typeface="Arial"/>
              </a:rPr>
              <a:t>:</a:t>
            </a:r>
            <a:endParaRPr>
              <a:solidFill>
                <a:schemeClr val="dk1"/>
              </a:solidFill>
            </a:endParaRPr>
          </a:p>
          <a:p>
            <a:pPr indent="-342900" lvl="1" marL="91440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Recursive bisection.</a:t>
            </a:r>
            <a:endParaRPr sz="1800">
              <a:solidFill>
                <a:schemeClr val="dk1"/>
              </a:solidFill>
            </a:endParaRPr>
          </a:p>
          <a:p>
            <a:pPr indent="-342900" lvl="1" marL="91440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Spectral methods.</a:t>
            </a:r>
            <a:endParaRPr sz="1800">
              <a:solidFill>
                <a:schemeClr val="dk1"/>
              </a:solidFill>
            </a:endParaRPr>
          </a:p>
          <a:p>
            <a:pPr indent="-342900" lvl="1" marL="91440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Heuristic approaches.</a:t>
            </a:r>
            <a:endParaRPr sz="1800">
              <a:solidFill>
                <a:schemeClr val="dk1"/>
              </a:solidFill>
            </a:endParaRPr>
          </a:p>
          <a:p>
            <a:pPr indent="-342900" lvl="0" marL="457200" marR="0" rtl="0" algn="l">
              <a:lnSpc>
                <a:spcPct val="100000"/>
              </a:lnSpc>
              <a:spcBef>
                <a:spcPts val="1000"/>
              </a:spcBef>
              <a:spcAft>
                <a:spcPts val="0"/>
              </a:spcAft>
              <a:buClr>
                <a:schemeClr val="dk1"/>
              </a:buClr>
              <a:buSzPts val="1800"/>
              <a:buChar char="●"/>
            </a:pPr>
            <a:r>
              <a:rPr b="1" i="0" lang="en-US" u="none" cap="none" strike="noStrike">
                <a:solidFill>
                  <a:schemeClr val="dk1"/>
                </a:solidFill>
                <a:latin typeface="Arial"/>
                <a:ea typeface="Arial"/>
                <a:cs typeface="Arial"/>
                <a:sym typeface="Arial"/>
              </a:rPr>
              <a:t>Key Factors</a:t>
            </a:r>
            <a:r>
              <a:rPr b="1" lang="en-US">
                <a:solidFill>
                  <a:schemeClr val="dk1"/>
                </a:solidFill>
              </a:rPr>
              <a:t>:</a:t>
            </a:r>
            <a:endParaRPr>
              <a:solidFill>
                <a:schemeClr val="dk1"/>
              </a:solidFill>
              <a:latin typeface="Arial"/>
              <a:ea typeface="Arial"/>
              <a:cs typeface="Arial"/>
              <a:sym typeface="Arial"/>
            </a:endParaRPr>
          </a:p>
          <a:p>
            <a:pPr indent="-342900" lvl="1" marL="91440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Maintain balance between partitions.</a:t>
            </a:r>
            <a:endParaRPr sz="1800">
              <a:solidFill>
                <a:schemeClr val="dk1"/>
              </a:solidFill>
            </a:endParaRPr>
          </a:p>
          <a:p>
            <a:pPr indent="-342900" lvl="1" marL="91440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Minimize communication cost (edge cuts).</a:t>
            </a:r>
            <a:endParaRPr sz="1800">
              <a:solidFill>
                <a:schemeClr val="dk1"/>
              </a:solidFill>
            </a:endParaRPr>
          </a:p>
          <a:p>
            <a:pPr indent="-342900" lvl="0" marL="457200" marR="0" rtl="0" algn="l">
              <a:lnSpc>
                <a:spcPct val="100000"/>
              </a:lnSpc>
              <a:spcBef>
                <a:spcPts val="1000"/>
              </a:spcBef>
              <a:spcAft>
                <a:spcPts val="0"/>
              </a:spcAft>
              <a:buClr>
                <a:schemeClr val="dk1"/>
              </a:buClr>
              <a:buSzPts val="1800"/>
              <a:buChar char="●"/>
            </a:pPr>
            <a:r>
              <a:rPr b="1" i="0" lang="en-US" u="none" cap="none" strike="noStrike">
                <a:solidFill>
                  <a:schemeClr val="dk1"/>
                </a:solidFill>
                <a:latin typeface="Arial"/>
                <a:ea typeface="Arial"/>
                <a:cs typeface="Arial"/>
                <a:sym typeface="Arial"/>
              </a:rPr>
              <a:t>Outcome</a:t>
            </a:r>
            <a:r>
              <a:rPr b="0" i="0" lang="en-US" u="none" cap="none" strike="noStrike">
                <a:solidFill>
                  <a:schemeClr val="dk1"/>
                </a:solidFill>
                <a:latin typeface="Arial"/>
                <a:ea typeface="Arial"/>
                <a:cs typeface="Arial"/>
                <a:sym typeface="Arial"/>
              </a:rPr>
              <a:t>:</a:t>
            </a:r>
            <a:r>
              <a:rPr lang="en-US">
                <a:solidFill>
                  <a:schemeClr val="dk1"/>
                </a:solidFill>
              </a:rPr>
              <a:t> </a:t>
            </a:r>
            <a:r>
              <a:rPr b="0" i="0" lang="en-US" u="none" cap="none" strike="noStrike">
                <a:solidFill>
                  <a:schemeClr val="dk1"/>
                </a:solidFill>
                <a:latin typeface="Arial"/>
                <a:ea typeface="Arial"/>
                <a:cs typeface="Arial"/>
                <a:sym typeface="Arial"/>
              </a:rPr>
              <a:t>A preliminary, but potentially unoptimized, partition.</a:t>
            </a:r>
            <a:endParaRPr>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7"/>
          <p:cNvSpPr txBox="1"/>
          <p:nvPr>
            <p:ph type="title"/>
          </p:nvPr>
        </p:nvSpPr>
        <p:spPr>
          <a:xfrm>
            <a:off x="311700" y="315925"/>
            <a:ext cx="8520600" cy="831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700"/>
              <a:buFont typeface="Trebuchet MS"/>
              <a:buNone/>
            </a:pPr>
            <a:r>
              <a:rPr b="1" lang="en-US" sz="2700"/>
              <a:t>Refinement</a:t>
            </a:r>
            <a:endParaRPr b="1" sz="2700"/>
          </a:p>
        </p:txBody>
      </p:sp>
      <p:sp>
        <p:nvSpPr>
          <p:cNvPr id="560" name="Google Shape;560;p67"/>
          <p:cNvSpPr txBox="1"/>
          <p:nvPr>
            <p:ph idx="1" type="body"/>
          </p:nvPr>
        </p:nvSpPr>
        <p:spPr>
          <a:xfrm>
            <a:off x="311700" y="834675"/>
            <a:ext cx="8520600" cy="33540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Char char="●"/>
            </a:pPr>
            <a:r>
              <a:rPr b="1" lang="en-US" sz="1600">
                <a:solidFill>
                  <a:schemeClr val="dk1"/>
                </a:solidFill>
              </a:rPr>
              <a:t>Definition</a:t>
            </a:r>
            <a:r>
              <a:rPr lang="en-US" sz="1600">
                <a:solidFill>
                  <a:schemeClr val="dk1"/>
                </a:solidFill>
              </a:rPr>
              <a:t>: Improving the quality of the initial partition by fine-tuning the boundaries between partitions.</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Methods</a:t>
            </a:r>
            <a:r>
              <a:rPr lang="en-US" sz="1600">
                <a:solidFill>
                  <a:schemeClr val="dk1"/>
                </a:solidFill>
              </a:rPr>
              <a:t>:</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Local optimization algorithms (e.g., Kernighan-Lin, Fiduccia-Mattheyses).</a:t>
            </a:r>
            <a:endParaRPr sz="1600">
              <a:solidFill>
                <a:schemeClr val="dk1"/>
              </a:solidFill>
            </a:endParaRPr>
          </a:p>
          <a:p>
            <a:pPr indent="-330200" lvl="1" marL="914400" rtl="0" algn="l">
              <a:spcBef>
                <a:spcPts val="1000"/>
              </a:spcBef>
              <a:spcAft>
                <a:spcPts val="0"/>
              </a:spcAft>
              <a:buClr>
                <a:schemeClr val="dk1"/>
              </a:buClr>
              <a:buSzPts val="1600"/>
              <a:buChar char="○"/>
            </a:pPr>
            <a:r>
              <a:rPr lang="en-US" sz="1600">
                <a:solidFill>
                  <a:schemeClr val="dk1"/>
                </a:solidFill>
              </a:rPr>
              <a:t>Move nodes between partitions to reduce edge cuts.</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Objective</a:t>
            </a:r>
            <a:r>
              <a:rPr lang="en-US" sz="1600">
                <a:solidFill>
                  <a:schemeClr val="dk1"/>
                </a:solidFill>
              </a:rPr>
              <a:t>:</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Achieve a balance between partitions.</a:t>
            </a:r>
            <a:endParaRPr sz="1600">
              <a:solidFill>
                <a:schemeClr val="dk1"/>
              </a:solidFill>
            </a:endParaRPr>
          </a:p>
          <a:p>
            <a:pPr indent="-330200" lvl="1" marL="914400" rtl="0" algn="l">
              <a:spcBef>
                <a:spcPts val="1000"/>
              </a:spcBef>
              <a:spcAft>
                <a:spcPts val="0"/>
              </a:spcAft>
              <a:buClr>
                <a:schemeClr val="dk1"/>
              </a:buClr>
              <a:buSzPts val="1600"/>
              <a:buChar char="○"/>
            </a:pPr>
            <a:r>
              <a:rPr lang="en-US" sz="1600">
                <a:solidFill>
                  <a:schemeClr val="dk1"/>
                </a:solidFill>
              </a:rPr>
              <a:t>Further reduce the communication cost.</a:t>
            </a:r>
            <a:endParaRPr sz="1600">
              <a:solidFill>
                <a:schemeClr val="dk1"/>
              </a:solidFill>
            </a:endParaRPr>
          </a:p>
          <a:p>
            <a:pPr indent="-330200" lvl="0" marL="457200" rtl="0" algn="l">
              <a:spcBef>
                <a:spcPts val="1000"/>
              </a:spcBef>
              <a:spcAft>
                <a:spcPts val="0"/>
              </a:spcAft>
              <a:buClr>
                <a:schemeClr val="dk1"/>
              </a:buClr>
              <a:buSzPts val="1600"/>
              <a:buChar char="●"/>
            </a:pPr>
            <a:r>
              <a:rPr b="1" lang="en-US" sz="1600">
                <a:solidFill>
                  <a:schemeClr val="dk1"/>
                </a:solidFill>
              </a:rPr>
              <a:t>Benefits</a:t>
            </a:r>
            <a:r>
              <a:rPr lang="en-US" sz="1600">
                <a:solidFill>
                  <a:schemeClr val="dk1"/>
                </a:solidFill>
              </a:rPr>
              <a:t>:</a:t>
            </a:r>
            <a:endParaRPr sz="1600">
              <a:solidFill>
                <a:schemeClr val="dk1"/>
              </a:solidFill>
            </a:endParaRPr>
          </a:p>
          <a:p>
            <a:pPr indent="-330200" lvl="1" marL="914400" rtl="0" algn="l">
              <a:spcBef>
                <a:spcPts val="750"/>
              </a:spcBef>
              <a:spcAft>
                <a:spcPts val="0"/>
              </a:spcAft>
              <a:buClr>
                <a:schemeClr val="dk1"/>
              </a:buClr>
              <a:buSzPts val="1600"/>
              <a:buChar char="○"/>
            </a:pPr>
            <a:r>
              <a:rPr lang="en-US" sz="1600">
                <a:solidFill>
                  <a:schemeClr val="dk1"/>
                </a:solidFill>
              </a:rPr>
              <a:t>Optimized partitions for better performance.</a:t>
            </a:r>
            <a:endParaRPr sz="1600">
              <a:solidFill>
                <a:schemeClr val="dk1"/>
              </a:solidFill>
            </a:endParaRPr>
          </a:p>
          <a:p>
            <a:pPr indent="0" lvl="0" marL="457200" marR="0" rtl="0" algn="l">
              <a:lnSpc>
                <a:spcPct val="100000"/>
              </a:lnSpc>
              <a:spcBef>
                <a:spcPts val="1000"/>
              </a:spcBef>
              <a:spcAft>
                <a:spcPts val="1000"/>
              </a:spcAft>
              <a:buNone/>
            </a:pPr>
            <a:r>
              <a:t/>
            </a:r>
            <a:endParaRPr sz="16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4" name="Shape 564"/>
        <p:cNvGrpSpPr/>
        <p:nvPr/>
      </p:nvGrpSpPr>
      <p:grpSpPr>
        <a:xfrm>
          <a:off x="0" y="0"/>
          <a:ext cx="0" cy="0"/>
          <a:chOff x="0" y="0"/>
          <a:chExt cx="0" cy="0"/>
        </a:xfrm>
      </p:grpSpPr>
      <p:sp>
        <p:nvSpPr>
          <p:cNvPr id="565" name="Google Shape;565;p68"/>
          <p:cNvSpPr txBox="1"/>
          <p:nvPr>
            <p:ph type="title"/>
          </p:nvPr>
        </p:nvSpPr>
        <p:spPr>
          <a:xfrm>
            <a:off x="311700" y="315925"/>
            <a:ext cx="8520600" cy="520800"/>
          </a:xfrm>
          <a:prstGeom prst="rect">
            <a:avLst/>
          </a:prstGeom>
          <a:noFill/>
          <a:ln>
            <a:noFill/>
          </a:ln>
        </p:spPr>
        <p:txBody>
          <a:bodyPr anchorCtr="0" anchor="t" bIns="0" lIns="0" spcFirstLastPara="1" rIns="0" wrap="square" tIns="149850">
            <a:spAutoFit/>
          </a:bodyPr>
          <a:lstStyle/>
          <a:p>
            <a:pPr indent="0" lvl="0" marL="187960" rtl="0" algn="l">
              <a:lnSpc>
                <a:spcPct val="100000"/>
              </a:lnSpc>
              <a:spcBef>
                <a:spcPts val="0"/>
              </a:spcBef>
              <a:spcAft>
                <a:spcPts val="0"/>
              </a:spcAft>
              <a:buClr>
                <a:schemeClr val="accent1"/>
              </a:buClr>
              <a:buSzPts val="2700"/>
              <a:buFont typeface="Trebuchet MS"/>
              <a:buNone/>
            </a:pPr>
            <a:r>
              <a:rPr b="1" lang="en-US" sz="2400"/>
              <a:t>Simultaneous execution of DCRNN</a:t>
            </a:r>
            <a:endParaRPr b="1" sz="2400"/>
          </a:p>
        </p:txBody>
      </p:sp>
      <p:sp>
        <p:nvSpPr>
          <p:cNvPr id="566" name="Google Shape;566;p68"/>
          <p:cNvSpPr txBox="1"/>
          <p:nvPr>
            <p:ph idx="12" type="sldNum"/>
          </p:nvPr>
        </p:nvSpPr>
        <p:spPr>
          <a:xfrm>
            <a:off x="8472458" y="4663217"/>
            <a:ext cx="548700" cy="159000"/>
          </a:xfrm>
          <a:prstGeom prst="rect">
            <a:avLst/>
          </a:prstGeom>
          <a:noFill/>
          <a:ln>
            <a:noFill/>
          </a:ln>
        </p:spPr>
        <p:txBody>
          <a:bodyPr anchorCtr="0" anchor="ctr" bIns="0" lIns="0" spcFirstLastPara="1" rIns="0" wrap="square" tIns="5075">
            <a:spAutoFit/>
          </a:bodyPr>
          <a:lstStyle/>
          <a:p>
            <a:pPr indent="0" lvl="0" marL="0" rtl="0" algn="r">
              <a:spcBef>
                <a:spcPts val="0"/>
              </a:spcBef>
              <a:spcAft>
                <a:spcPts val="0"/>
              </a:spcAft>
              <a:buNone/>
            </a:pPr>
            <a:fld id="{00000000-1234-1234-1234-123412341234}" type="slidenum">
              <a:rPr lang="en-US"/>
              <a:t>‹#›</a:t>
            </a:fld>
            <a:endParaRPr/>
          </a:p>
        </p:txBody>
      </p:sp>
      <p:pic>
        <p:nvPicPr>
          <p:cNvPr id="567" name="Google Shape;567;p68"/>
          <p:cNvPicPr preferRelativeResize="0"/>
          <p:nvPr/>
        </p:nvPicPr>
        <p:blipFill rotWithShape="1">
          <a:blip r:embed="rId3">
            <a:alphaModFix/>
          </a:blip>
          <a:srcRect b="0" l="0" r="0" t="0"/>
          <a:stretch/>
        </p:blipFill>
        <p:spPr>
          <a:xfrm>
            <a:off x="457200" y="1491185"/>
            <a:ext cx="8229600" cy="301837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1" name="Shape 571"/>
        <p:cNvGrpSpPr/>
        <p:nvPr/>
      </p:nvGrpSpPr>
      <p:grpSpPr>
        <a:xfrm>
          <a:off x="0" y="0"/>
          <a:ext cx="0" cy="0"/>
          <a:chOff x="0" y="0"/>
          <a:chExt cx="0" cy="0"/>
        </a:xfrm>
      </p:grpSpPr>
      <p:sp>
        <p:nvSpPr>
          <p:cNvPr id="572" name="Google Shape;572;p69"/>
          <p:cNvSpPr txBox="1"/>
          <p:nvPr>
            <p:ph type="title"/>
          </p:nvPr>
        </p:nvSpPr>
        <p:spPr>
          <a:xfrm>
            <a:off x="311700" y="315925"/>
            <a:ext cx="85206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accent1"/>
              </a:buClr>
              <a:buSzPts val="2700"/>
              <a:buFont typeface="Trebuchet MS"/>
              <a:buNone/>
            </a:pPr>
            <a:r>
              <a:rPr b="1" lang="en-US" sz="2400"/>
              <a:t>Data set</a:t>
            </a:r>
            <a:endParaRPr b="1" sz="2400"/>
          </a:p>
        </p:txBody>
      </p:sp>
      <p:sp>
        <p:nvSpPr>
          <p:cNvPr id="573" name="Google Shape;573;p69"/>
          <p:cNvSpPr txBox="1"/>
          <p:nvPr>
            <p:ph idx="1" type="body"/>
          </p:nvPr>
        </p:nvSpPr>
        <p:spPr>
          <a:xfrm>
            <a:off x="311700" y="965563"/>
            <a:ext cx="4615800" cy="939900"/>
          </a:xfrm>
          <a:prstGeom prst="rect">
            <a:avLst/>
          </a:prstGeom>
          <a:noFill/>
          <a:ln>
            <a:noFill/>
          </a:ln>
        </p:spPr>
        <p:txBody>
          <a:bodyPr anchorCtr="0" anchor="t" bIns="0" lIns="0" spcFirstLastPara="1" rIns="0" wrap="square" tIns="106675">
            <a:spAutoFit/>
          </a:bodyPr>
          <a:lstStyle/>
          <a:p>
            <a:pPr indent="-342900" lvl="0" marL="457200" rtl="0" algn="l">
              <a:lnSpc>
                <a:spcPct val="100000"/>
              </a:lnSpc>
              <a:spcBef>
                <a:spcPts val="0"/>
              </a:spcBef>
              <a:spcAft>
                <a:spcPts val="0"/>
              </a:spcAft>
              <a:buClr>
                <a:schemeClr val="dk1"/>
              </a:buClr>
              <a:buSzPts val="1800"/>
              <a:buChar char="●"/>
            </a:pPr>
            <a:r>
              <a:rPr lang="en-US">
                <a:solidFill>
                  <a:schemeClr val="dk1"/>
                </a:solidFill>
              </a:rPr>
              <a:t>Total stations: 11160</a:t>
            </a:r>
            <a:endParaRPr>
              <a:solidFill>
                <a:schemeClr val="dk1"/>
              </a:solidFill>
            </a:endParaRPr>
          </a:p>
          <a:p>
            <a:pPr indent="-342900" lvl="0" marL="457200" marR="5080" rtl="0" algn="l">
              <a:lnSpc>
                <a:spcPct val="100299"/>
              </a:lnSpc>
              <a:spcBef>
                <a:spcPts val="0"/>
              </a:spcBef>
              <a:spcAft>
                <a:spcPts val="0"/>
              </a:spcAft>
              <a:buClr>
                <a:schemeClr val="dk1"/>
              </a:buClr>
              <a:buSzPts val="1800"/>
              <a:buChar char="●"/>
            </a:pPr>
            <a:r>
              <a:rPr lang="en-US">
                <a:solidFill>
                  <a:schemeClr val="dk1"/>
                </a:solidFill>
              </a:rPr>
              <a:t>Divide the whole data set in different number of partitions</a:t>
            </a:r>
            <a:endParaRPr>
              <a:solidFill>
                <a:schemeClr val="dk1"/>
              </a:solidFill>
            </a:endParaRPr>
          </a:p>
        </p:txBody>
      </p:sp>
      <p:graphicFrame>
        <p:nvGraphicFramePr>
          <p:cNvPr id="574" name="Google Shape;574;p69"/>
          <p:cNvGraphicFramePr/>
          <p:nvPr/>
        </p:nvGraphicFramePr>
        <p:xfrm>
          <a:off x="5113725" y="339776"/>
          <a:ext cx="3000000" cy="3000000"/>
        </p:xfrm>
        <a:graphic>
          <a:graphicData uri="http://schemas.openxmlformats.org/drawingml/2006/table">
            <a:tbl>
              <a:tblPr bandRow="1" firstRow="1">
                <a:noFill/>
                <a:tableStyleId>{C82C37F3-269D-42A0-BB0A-0287565DEFEB}</a:tableStyleId>
              </a:tblPr>
              <a:tblGrid>
                <a:gridCol w="1354600"/>
                <a:gridCol w="1771200"/>
              </a:tblGrid>
              <a:tr h="533850">
                <a:tc>
                  <a:txBody>
                    <a:bodyPr/>
                    <a:lstStyle/>
                    <a:p>
                      <a:pPr indent="0" lvl="0" marL="91440" marR="351155"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Number of partitions</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90805" marR="29083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Stations per partition (aprox)</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2</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5580</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4</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2790</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8</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1395</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16</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697</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32</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348</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64</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174</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128</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87</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256</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43</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512</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21</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8E8"/>
                    </a:solidFill>
                  </a:tcPr>
                </a:tc>
              </a:tr>
              <a:tr h="309050">
                <a:tc>
                  <a:txBody>
                    <a:bodyPr/>
                    <a:lstStyle/>
                    <a:p>
                      <a:pPr indent="0" lvl="0" marL="91440" marR="0" rtl="0" algn="l">
                        <a:lnSpc>
                          <a:spcPct val="100000"/>
                        </a:lnSpc>
                        <a:spcBef>
                          <a:spcPts val="0"/>
                        </a:spcBef>
                        <a:spcAft>
                          <a:spcPts val="0"/>
                        </a:spcAft>
                        <a:buNone/>
                      </a:pPr>
                      <a:r>
                        <a:rPr lang="en-US" sz="1600" u="none" cap="none" strike="noStrike">
                          <a:latin typeface="Calibri"/>
                          <a:ea typeface="Calibri"/>
                          <a:cs typeface="Calibri"/>
                          <a:sym typeface="Calibri"/>
                        </a:rPr>
                        <a:t>1024</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c>
                  <a:txBody>
                    <a:bodyPr/>
                    <a:lstStyle/>
                    <a:p>
                      <a:pPr indent="0" lvl="0" marL="90805" marR="0" rtl="0" algn="l">
                        <a:lnSpc>
                          <a:spcPct val="100000"/>
                        </a:lnSpc>
                        <a:spcBef>
                          <a:spcPts val="0"/>
                        </a:spcBef>
                        <a:spcAft>
                          <a:spcPts val="0"/>
                        </a:spcAft>
                        <a:buNone/>
                      </a:pPr>
                      <a:r>
                        <a:rPr lang="en-US" sz="1600" u="none" cap="none" strike="noStrike">
                          <a:latin typeface="Calibri"/>
                          <a:ea typeface="Calibri"/>
                          <a:cs typeface="Calibri"/>
                          <a:sym typeface="Calibri"/>
                        </a:rPr>
                        <a:t>11</a:t>
                      </a:r>
                      <a:endParaRPr sz="1600" u="none" cap="none" strike="noStrike">
                        <a:latin typeface="Calibri"/>
                        <a:ea typeface="Calibri"/>
                        <a:cs typeface="Calibri"/>
                        <a:sym typeface="Calibri"/>
                      </a:endParaRPr>
                    </a:p>
                  </a:txBody>
                  <a:tcPr marT="317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DF4"/>
                    </a:solidFill>
                  </a:tcPr>
                </a:tc>
              </a:tr>
            </a:tbl>
          </a:graphicData>
        </a:graphic>
      </p:graphicFrame>
      <p:sp>
        <p:nvSpPr>
          <p:cNvPr id="575" name="Google Shape;575;p69"/>
          <p:cNvSpPr txBox="1"/>
          <p:nvPr/>
        </p:nvSpPr>
        <p:spPr>
          <a:xfrm>
            <a:off x="311700" y="2172900"/>
            <a:ext cx="4320900" cy="2326500"/>
          </a:xfrm>
          <a:prstGeom prst="rect">
            <a:avLst/>
          </a:prstGeom>
          <a:noFill/>
          <a:ln>
            <a:noFill/>
          </a:ln>
        </p:spPr>
        <p:txBody>
          <a:bodyPr anchorCtr="0" anchor="t" bIns="91425" lIns="91425" spcFirstLastPara="1" rIns="91425" wrap="square" tIns="91425">
            <a:noAutofit/>
          </a:bodyPr>
          <a:lstStyle/>
          <a:p>
            <a:pPr indent="-57150" lvl="0" marL="0" marR="1097915" rtl="0" algn="l">
              <a:lnSpc>
                <a:spcPct val="118437"/>
              </a:lnSpc>
              <a:spcBef>
                <a:spcPts val="0"/>
              </a:spcBef>
              <a:spcAft>
                <a:spcPts val="0"/>
              </a:spcAft>
              <a:buNone/>
            </a:pPr>
            <a:r>
              <a:rPr b="1" lang="en-US" sz="2300">
                <a:solidFill>
                  <a:schemeClr val="dk1"/>
                </a:solidFill>
                <a:latin typeface="Economica"/>
                <a:ea typeface="Economica"/>
                <a:cs typeface="Economica"/>
                <a:sym typeface="Economica"/>
              </a:rPr>
              <a:t>Summary</a:t>
            </a:r>
            <a:endParaRPr b="1" sz="2300">
              <a:solidFill>
                <a:schemeClr val="dk1"/>
              </a:solidFill>
              <a:latin typeface="Economica"/>
              <a:ea typeface="Economica"/>
              <a:cs typeface="Economica"/>
              <a:sym typeface="Economica"/>
            </a:endParaRPr>
          </a:p>
          <a:p>
            <a:pPr indent="-342900" lvl="0" marL="457200" marR="1097915" rtl="0" algn="l">
              <a:lnSpc>
                <a:spcPct val="118437"/>
              </a:lnSpc>
              <a:spcBef>
                <a:spcPts val="1000"/>
              </a:spcBef>
              <a:spcAft>
                <a:spcPts val="0"/>
              </a:spcAft>
              <a:buClr>
                <a:schemeClr val="dk1"/>
              </a:buClr>
              <a:buSzPts val="1800"/>
              <a:buChar char="●"/>
            </a:pPr>
            <a:r>
              <a:rPr lang="en-US" sz="1800">
                <a:solidFill>
                  <a:schemeClr val="dk1"/>
                </a:solidFill>
              </a:rPr>
              <a:t>DCRNN captures the spatial as well as temporal dynamics well</a:t>
            </a:r>
            <a:endParaRPr sz="1800">
              <a:solidFill>
                <a:schemeClr val="dk1"/>
              </a:solidFill>
            </a:endParaRPr>
          </a:p>
          <a:p>
            <a:pPr indent="-342900" lvl="0" marL="457200" marR="5080" rtl="0" algn="l">
              <a:lnSpc>
                <a:spcPct val="101200"/>
              </a:lnSpc>
              <a:spcBef>
                <a:spcPts val="0"/>
              </a:spcBef>
              <a:spcAft>
                <a:spcPts val="0"/>
              </a:spcAft>
              <a:buClr>
                <a:schemeClr val="dk1"/>
              </a:buClr>
              <a:buSzPts val="1800"/>
              <a:buChar char="●"/>
            </a:pPr>
            <a:r>
              <a:rPr lang="en-US" sz="1800">
                <a:solidFill>
                  <a:schemeClr val="dk1"/>
                </a:solidFill>
              </a:rPr>
              <a:t>DCRNN is scalable for large network without performance degradation</a:t>
            </a:r>
            <a:endParaRPr sz="1800">
              <a:solidFill>
                <a:schemeClr val="dk1"/>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0"/>
          <p:cNvSpPr txBox="1"/>
          <p:nvPr>
            <p:ph idx="1" type="body"/>
          </p:nvPr>
        </p:nvSpPr>
        <p:spPr>
          <a:xfrm>
            <a:off x="311700" y="423775"/>
            <a:ext cx="8520600" cy="4155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rPr b="1" i="0" lang="en-US" sz="2500" u="sng">
                <a:solidFill>
                  <a:schemeClr val="dk1"/>
                </a:solidFill>
              </a:rPr>
              <a:t>Attention Temporal Graph Convolutional Network </a:t>
            </a:r>
            <a:endParaRPr sz="2500" u="sng">
              <a:solidFill>
                <a:schemeClr val="dk1"/>
              </a:solidFill>
            </a:endParaRPr>
          </a:p>
          <a:p>
            <a:pPr indent="0" lvl="0" marL="0" rtl="0" algn="l">
              <a:lnSpc>
                <a:spcPct val="90000"/>
              </a:lnSpc>
              <a:spcBef>
                <a:spcPts val="1000"/>
              </a:spcBef>
              <a:spcAft>
                <a:spcPts val="0"/>
              </a:spcAft>
              <a:buClr>
                <a:schemeClr val="dk1"/>
              </a:buClr>
              <a:buSzPts val="2100"/>
              <a:buNone/>
            </a:pPr>
            <a:r>
              <a:t/>
            </a:r>
            <a:endParaRPr b="1">
              <a:solidFill>
                <a:schemeClr val="dk1"/>
              </a:solidFill>
            </a:endParaRPr>
          </a:p>
          <a:p>
            <a:pPr indent="-342900" lvl="0" marL="457200" rtl="0" algn="l">
              <a:lnSpc>
                <a:spcPct val="90000"/>
              </a:lnSpc>
              <a:spcBef>
                <a:spcPts val="1000"/>
              </a:spcBef>
              <a:spcAft>
                <a:spcPts val="0"/>
              </a:spcAft>
              <a:buClr>
                <a:schemeClr val="dk1"/>
              </a:buClr>
              <a:buSzPts val="1800"/>
              <a:buFont typeface="Arial"/>
              <a:buChar char="●"/>
            </a:pPr>
            <a:r>
              <a:rPr b="0" i="0" lang="en-US">
                <a:solidFill>
                  <a:schemeClr val="dk1"/>
                </a:solidFill>
                <a:latin typeface="Arial"/>
                <a:ea typeface="Arial"/>
                <a:cs typeface="Arial"/>
                <a:sym typeface="Arial"/>
              </a:rPr>
              <a:t>It is a machine learning model designed for traffic forecasting. </a:t>
            </a:r>
            <a:endParaRPr b="0" i="0">
              <a:solidFill>
                <a:schemeClr val="dk1"/>
              </a:solidFill>
              <a:latin typeface="Arial"/>
              <a:ea typeface="Arial"/>
              <a:cs typeface="Arial"/>
              <a:sym typeface="Arial"/>
            </a:endParaRPr>
          </a:p>
          <a:p>
            <a:pPr indent="-342900" lvl="0" marL="457200" rtl="0" algn="l">
              <a:lnSpc>
                <a:spcPct val="90000"/>
              </a:lnSpc>
              <a:spcBef>
                <a:spcPts val="1000"/>
              </a:spcBef>
              <a:spcAft>
                <a:spcPts val="0"/>
              </a:spcAft>
              <a:buClr>
                <a:schemeClr val="dk1"/>
              </a:buClr>
              <a:buSzPts val="1800"/>
              <a:buFont typeface="Arial"/>
              <a:buChar char="●"/>
            </a:pPr>
            <a:r>
              <a:rPr b="0" i="0" lang="en-US">
                <a:solidFill>
                  <a:schemeClr val="dk1"/>
                </a:solidFill>
                <a:latin typeface="Arial"/>
                <a:ea typeface="Arial"/>
                <a:cs typeface="Arial"/>
                <a:sym typeface="Arial"/>
              </a:rPr>
              <a:t>It combines the power of Graph Convolutional Networks (GCNs) to capture spatial dependencies between nodes (e.g., intersections in a road network) and Recurrent Neural Networks (RNNs) to model temporal dependencies (how traffic evolves over time). </a:t>
            </a:r>
            <a:endParaRPr b="0" i="0">
              <a:solidFill>
                <a:schemeClr val="dk1"/>
              </a:solidFill>
              <a:latin typeface="Arial"/>
              <a:ea typeface="Arial"/>
              <a:cs typeface="Arial"/>
              <a:sym typeface="Arial"/>
            </a:endParaRPr>
          </a:p>
          <a:p>
            <a:pPr indent="-342900" lvl="0" marL="457200" rtl="0" algn="l">
              <a:lnSpc>
                <a:spcPct val="90000"/>
              </a:lnSpc>
              <a:spcBef>
                <a:spcPts val="1000"/>
              </a:spcBef>
              <a:spcAft>
                <a:spcPts val="1000"/>
              </a:spcAft>
              <a:buClr>
                <a:schemeClr val="dk1"/>
              </a:buClr>
              <a:buSzPts val="1800"/>
              <a:buFont typeface="Arial"/>
              <a:buChar char="●"/>
            </a:pPr>
            <a:r>
              <a:rPr b="0" i="0" lang="en-US">
                <a:solidFill>
                  <a:schemeClr val="dk1"/>
                </a:solidFill>
                <a:latin typeface="Arial"/>
                <a:ea typeface="Arial"/>
                <a:cs typeface="Arial"/>
                <a:sym typeface="Arial"/>
              </a:rPr>
              <a:t>Additionally, it integrates an </a:t>
            </a:r>
            <a:r>
              <a:rPr b="1" i="0" lang="en-US">
                <a:solidFill>
                  <a:schemeClr val="dk1"/>
                </a:solidFill>
                <a:latin typeface="Arial"/>
                <a:ea typeface="Arial"/>
                <a:cs typeface="Arial"/>
                <a:sym typeface="Arial"/>
              </a:rPr>
              <a:t>attention mechanism</a:t>
            </a:r>
            <a:r>
              <a:rPr b="0" i="0" lang="en-US">
                <a:solidFill>
                  <a:schemeClr val="dk1"/>
                </a:solidFill>
                <a:latin typeface="Arial"/>
                <a:ea typeface="Arial"/>
                <a:cs typeface="Arial"/>
                <a:sym typeface="Arial"/>
              </a:rPr>
              <a:t> to dynamically focus on the most important temporal features, improving its predictive accuracy.</a:t>
            </a:r>
            <a:endParaRPr>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1"/>
          <p:cNvSpPr txBox="1"/>
          <p:nvPr>
            <p:ph type="title"/>
          </p:nvPr>
        </p:nvSpPr>
        <p:spPr>
          <a:xfrm>
            <a:off x="311700" y="58325"/>
            <a:ext cx="8520600" cy="831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sz="2400"/>
              <a:t>How Does A3TGCN Work?</a:t>
            </a:r>
            <a:endParaRPr b="1" sz="2400"/>
          </a:p>
        </p:txBody>
      </p:sp>
      <p:sp>
        <p:nvSpPr>
          <p:cNvPr id="586" name="Google Shape;586;p71"/>
          <p:cNvSpPr txBox="1"/>
          <p:nvPr>
            <p:ph idx="1" type="body"/>
          </p:nvPr>
        </p:nvSpPr>
        <p:spPr>
          <a:xfrm>
            <a:off x="311700" y="710050"/>
            <a:ext cx="8520600" cy="335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688"/>
              <a:buNone/>
            </a:pPr>
            <a:r>
              <a:rPr b="1" i="0" lang="en-US" sz="1631">
                <a:solidFill>
                  <a:schemeClr val="dk1"/>
                </a:solidFill>
                <a:latin typeface="Arial"/>
                <a:ea typeface="Arial"/>
                <a:cs typeface="Arial"/>
                <a:sym typeface="Arial"/>
              </a:rPr>
              <a:t>1. Input Data:</a:t>
            </a:r>
            <a:endParaRPr sz="1725">
              <a:solidFill>
                <a:schemeClr val="dk1"/>
              </a:solidFill>
            </a:endParaRPr>
          </a:p>
          <a:p>
            <a:pPr indent="0" lvl="0" marL="0" rtl="0" algn="l">
              <a:lnSpc>
                <a:spcPct val="115000"/>
              </a:lnSpc>
              <a:spcBef>
                <a:spcPts val="1000"/>
              </a:spcBef>
              <a:spcAft>
                <a:spcPts val="0"/>
              </a:spcAft>
              <a:buSzPts val="688"/>
              <a:buNone/>
            </a:pPr>
            <a:r>
              <a:rPr b="0" i="0" lang="en-US" sz="1631">
                <a:solidFill>
                  <a:schemeClr val="dk1"/>
                </a:solidFill>
                <a:latin typeface="Arial"/>
                <a:ea typeface="Arial"/>
                <a:cs typeface="Arial"/>
                <a:sym typeface="Arial"/>
              </a:rPr>
              <a:t>The road network is represented as a graph G=(V,E,A):</a:t>
            </a:r>
            <a:endParaRPr sz="1725">
              <a:solidFill>
                <a:schemeClr val="dk1"/>
              </a:solidFill>
            </a:endParaRPr>
          </a:p>
          <a:p>
            <a:pPr indent="0" lvl="0" marL="457200" rtl="0" algn="l">
              <a:lnSpc>
                <a:spcPct val="115000"/>
              </a:lnSpc>
              <a:spcBef>
                <a:spcPts val="500"/>
              </a:spcBef>
              <a:spcAft>
                <a:spcPts val="0"/>
              </a:spcAft>
              <a:buSzPts val="688"/>
              <a:buNone/>
            </a:pPr>
            <a:r>
              <a:rPr b="0" i="0" lang="en-US" sz="1631">
                <a:solidFill>
                  <a:schemeClr val="dk1"/>
                </a:solidFill>
                <a:latin typeface="Arial"/>
                <a:ea typeface="Arial"/>
                <a:cs typeface="Arial"/>
                <a:sym typeface="Arial"/>
              </a:rPr>
              <a:t>V: Set of nodes (e.g., traffic sensors or intersections).</a:t>
            </a:r>
            <a:endParaRPr sz="1725">
              <a:solidFill>
                <a:schemeClr val="dk1"/>
              </a:solidFill>
            </a:endParaRPr>
          </a:p>
          <a:p>
            <a:pPr indent="0" lvl="0" marL="457200" rtl="0" algn="l">
              <a:lnSpc>
                <a:spcPct val="115000"/>
              </a:lnSpc>
              <a:spcBef>
                <a:spcPts val="500"/>
              </a:spcBef>
              <a:spcAft>
                <a:spcPts val="0"/>
              </a:spcAft>
              <a:buSzPts val="688"/>
              <a:buNone/>
            </a:pPr>
            <a:r>
              <a:rPr b="0" i="0" lang="en-US" sz="1631">
                <a:solidFill>
                  <a:schemeClr val="dk1"/>
                </a:solidFill>
                <a:latin typeface="Arial"/>
                <a:ea typeface="Arial"/>
                <a:cs typeface="Arial"/>
                <a:sym typeface="Arial"/>
              </a:rPr>
              <a:t>E: Set of edges (e.g., roads connecting intersections).</a:t>
            </a:r>
            <a:endParaRPr sz="1725">
              <a:solidFill>
                <a:schemeClr val="dk1"/>
              </a:solidFill>
            </a:endParaRPr>
          </a:p>
          <a:p>
            <a:pPr indent="0" lvl="0" marL="457200" rtl="0" algn="l">
              <a:lnSpc>
                <a:spcPct val="115000"/>
              </a:lnSpc>
              <a:spcBef>
                <a:spcPts val="500"/>
              </a:spcBef>
              <a:spcAft>
                <a:spcPts val="0"/>
              </a:spcAft>
              <a:buSzPts val="688"/>
              <a:buNone/>
            </a:pPr>
            <a:r>
              <a:rPr b="0" i="0" lang="en-US" sz="1631">
                <a:solidFill>
                  <a:schemeClr val="dk1"/>
                </a:solidFill>
                <a:latin typeface="Arial"/>
                <a:ea typeface="Arial"/>
                <a:cs typeface="Arial"/>
                <a:sym typeface="Arial"/>
              </a:rPr>
              <a:t>A: Adjacency matrix representing connectivity between nodes.</a:t>
            </a:r>
            <a:endParaRPr sz="1725">
              <a:solidFill>
                <a:schemeClr val="dk1"/>
              </a:solidFill>
            </a:endParaRPr>
          </a:p>
          <a:p>
            <a:pPr indent="0" lvl="0" marL="0" rtl="0" algn="l">
              <a:lnSpc>
                <a:spcPct val="115000"/>
              </a:lnSpc>
              <a:spcBef>
                <a:spcPts val="1000"/>
              </a:spcBef>
              <a:spcAft>
                <a:spcPts val="0"/>
              </a:spcAft>
              <a:buSzPts val="688"/>
              <a:buNone/>
            </a:pPr>
            <a:r>
              <a:rPr b="0" i="0" lang="en-US" sz="1631">
                <a:solidFill>
                  <a:schemeClr val="dk1"/>
                </a:solidFill>
                <a:latin typeface="Arial"/>
                <a:ea typeface="Arial"/>
                <a:cs typeface="Arial"/>
                <a:sym typeface="Arial"/>
              </a:rPr>
              <a:t>Traffic data (e.g., speed, flow) is associated with nodes, forming a time-series graph.</a:t>
            </a:r>
            <a:endParaRPr sz="1725">
              <a:solidFill>
                <a:schemeClr val="dk1"/>
              </a:solidFill>
            </a:endParaRPr>
          </a:p>
          <a:p>
            <a:pPr indent="0" lvl="0" marL="0" rtl="0" algn="l">
              <a:lnSpc>
                <a:spcPct val="115000"/>
              </a:lnSpc>
              <a:spcBef>
                <a:spcPts val="1000"/>
              </a:spcBef>
              <a:spcAft>
                <a:spcPts val="0"/>
              </a:spcAft>
              <a:buSzPts val="688"/>
              <a:buNone/>
            </a:pPr>
            <a:r>
              <a:t/>
            </a:r>
            <a:endParaRPr sz="1631">
              <a:latin typeface="Arial"/>
              <a:ea typeface="Arial"/>
              <a:cs typeface="Arial"/>
              <a:sym typeface="Arial"/>
            </a:endParaRPr>
          </a:p>
          <a:p>
            <a:pPr indent="0" lvl="0" marL="0" rtl="0" algn="l">
              <a:lnSpc>
                <a:spcPct val="115000"/>
              </a:lnSpc>
              <a:spcBef>
                <a:spcPts val="1000"/>
              </a:spcBef>
              <a:spcAft>
                <a:spcPts val="0"/>
              </a:spcAft>
              <a:buSzPts val="688"/>
              <a:buNone/>
            </a:pPr>
            <a:r>
              <a:rPr b="1" i="0" lang="en-US" sz="1631">
                <a:solidFill>
                  <a:schemeClr val="dk1"/>
                </a:solidFill>
                <a:latin typeface="Arial"/>
                <a:ea typeface="Arial"/>
                <a:cs typeface="Arial"/>
                <a:sym typeface="Arial"/>
              </a:rPr>
              <a:t>Graph Convolutional Network (GCN)</a:t>
            </a:r>
            <a:r>
              <a:rPr b="0" i="0" lang="en-US" sz="1631">
                <a:solidFill>
                  <a:schemeClr val="dk1"/>
                </a:solidFill>
                <a:latin typeface="Arial"/>
                <a:ea typeface="Arial"/>
                <a:cs typeface="Arial"/>
                <a:sym typeface="Arial"/>
              </a:rPr>
              <a:t>: Captures spatial relationships between nodes by aggregating information from neighboring nodes.</a:t>
            </a:r>
            <a:endParaRPr sz="1725">
              <a:solidFill>
                <a:schemeClr val="dk1"/>
              </a:solidFill>
            </a:endParaRPr>
          </a:p>
          <a:p>
            <a:pPr indent="0" lvl="0" marL="0" rtl="0" algn="l">
              <a:lnSpc>
                <a:spcPct val="115000"/>
              </a:lnSpc>
              <a:spcBef>
                <a:spcPts val="1000"/>
              </a:spcBef>
              <a:spcAft>
                <a:spcPts val="0"/>
              </a:spcAft>
              <a:buSzPts val="688"/>
              <a:buNone/>
            </a:pPr>
            <a:r>
              <a:rPr b="1" i="0" lang="en-US" sz="1631">
                <a:solidFill>
                  <a:schemeClr val="dk1"/>
                </a:solidFill>
                <a:latin typeface="Arial"/>
                <a:ea typeface="Arial"/>
                <a:cs typeface="Arial"/>
                <a:sym typeface="Arial"/>
              </a:rPr>
              <a:t>Recurrent Neural Network (GRU)</a:t>
            </a:r>
            <a:r>
              <a:rPr b="0" i="0" lang="en-US" sz="1631">
                <a:solidFill>
                  <a:schemeClr val="dk1"/>
                </a:solidFill>
                <a:latin typeface="Arial"/>
                <a:ea typeface="Arial"/>
                <a:cs typeface="Arial"/>
                <a:sym typeface="Arial"/>
              </a:rPr>
              <a:t>: GRUs (a variant of RNNs) are used to process the time-series data, learning sequential patterns such as recurring traffic peaks during rush hours.</a:t>
            </a:r>
            <a:endParaRPr sz="1725">
              <a:solidFill>
                <a:schemeClr val="dk1"/>
              </a:solidFill>
            </a:endParaRPr>
          </a:p>
          <a:p>
            <a:pPr indent="0" lvl="0" marL="0" rtl="0" algn="l">
              <a:lnSpc>
                <a:spcPct val="70000"/>
              </a:lnSpc>
              <a:spcBef>
                <a:spcPts val="1000"/>
              </a:spcBef>
              <a:spcAft>
                <a:spcPts val="0"/>
              </a:spcAft>
              <a:buSzPts val="688"/>
              <a:buNone/>
            </a:pPr>
            <a:r>
              <a:t/>
            </a:r>
            <a:endParaRPr b="0" i="0" sz="1631">
              <a:solidFill>
                <a:schemeClr val="dk1"/>
              </a:solidFill>
              <a:latin typeface="Arial"/>
              <a:ea typeface="Arial"/>
              <a:cs typeface="Arial"/>
              <a:sym typeface="Arial"/>
            </a:endParaRPr>
          </a:p>
          <a:p>
            <a:pPr indent="0" lvl="0" marL="0" rtl="0" algn="l">
              <a:lnSpc>
                <a:spcPct val="70000"/>
              </a:lnSpc>
              <a:spcBef>
                <a:spcPts val="1000"/>
              </a:spcBef>
              <a:spcAft>
                <a:spcPts val="0"/>
              </a:spcAft>
              <a:buSzPts val="688"/>
              <a:buNone/>
            </a:pPr>
            <a:r>
              <a:t/>
            </a:r>
            <a:endParaRPr b="0" i="0" sz="1631">
              <a:solidFill>
                <a:schemeClr val="dk1"/>
              </a:solidFill>
              <a:latin typeface="Arial"/>
              <a:ea typeface="Arial"/>
              <a:cs typeface="Arial"/>
              <a:sym typeface="Arial"/>
            </a:endParaRPr>
          </a:p>
          <a:p>
            <a:pPr indent="0" lvl="0" marL="0" rtl="0" algn="l">
              <a:lnSpc>
                <a:spcPct val="70000"/>
              </a:lnSpc>
              <a:spcBef>
                <a:spcPts val="1000"/>
              </a:spcBef>
              <a:spcAft>
                <a:spcPts val="0"/>
              </a:spcAft>
              <a:buSzPts val="688"/>
              <a:buNone/>
            </a:pPr>
            <a:r>
              <a:t/>
            </a:r>
            <a:endParaRPr sz="1631">
              <a:solidFill>
                <a:schemeClr val="dk1"/>
              </a:solidFill>
              <a:latin typeface="Arial"/>
              <a:ea typeface="Arial"/>
              <a:cs typeface="Arial"/>
              <a:sym typeface="Arial"/>
            </a:endParaRPr>
          </a:p>
          <a:p>
            <a:pPr indent="0" lvl="0" marL="0" rtl="0" algn="l">
              <a:lnSpc>
                <a:spcPct val="70000"/>
              </a:lnSpc>
              <a:spcBef>
                <a:spcPts val="1000"/>
              </a:spcBef>
              <a:spcAft>
                <a:spcPts val="0"/>
              </a:spcAft>
              <a:buSzPts val="688"/>
              <a:buNone/>
            </a:pPr>
            <a:r>
              <a:t/>
            </a:r>
            <a:endParaRPr b="0" i="0" sz="1631">
              <a:solidFill>
                <a:schemeClr val="dk1"/>
              </a:solidFill>
              <a:latin typeface="Arial"/>
              <a:ea typeface="Arial"/>
              <a:cs typeface="Arial"/>
              <a:sym typeface="Arial"/>
            </a:endParaRPr>
          </a:p>
          <a:p>
            <a:pPr indent="0" lvl="0" marL="0" rtl="0" algn="l">
              <a:lnSpc>
                <a:spcPct val="70000"/>
              </a:lnSpc>
              <a:spcBef>
                <a:spcPts val="1000"/>
              </a:spcBef>
              <a:spcAft>
                <a:spcPts val="1200"/>
              </a:spcAft>
              <a:buSzPts val="688"/>
              <a:buNone/>
            </a:pPr>
            <a:r>
              <a:t/>
            </a:r>
            <a:endParaRPr sz="1725">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2"/>
          <p:cNvSpPr txBox="1"/>
          <p:nvPr>
            <p:ph idx="1" type="body"/>
          </p:nvPr>
        </p:nvSpPr>
        <p:spPr>
          <a:xfrm>
            <a:off x="311700" y="527250"/>
            <a:ext cx="8520600" cy="3354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100"/>
              <a:buChar char="●"/>
            </a:pPr>
            <a:r>
              <a:rPr b="1" i="0" lang="en-US">
                <a:solidFill>
                  <a:schemeClr val="dk1"/>
                </a:solidFill>
                <a:latin typeface="Arial"/>
                <a:ea typeface="Arial"/>
                <a:cs typeface="Arial"/>
                <a:sym typeface="Arial"/>
              </a:rPr>
              <a:t> </a:t>
            </a:r>
            <a:r>
              <a:rPr b="1" i="0" lang="en-US" sz="1650">
                <a:solidFill>
                  <a:schemeClr val="dk1"/>
                </a:solidFill>
              </a:rPr>
              <a:t>Attention Mechanism:</a:t>
            </a:r>
            <a:endParaRPr>
              <a:solidFill>
                <a:schemeClr val="dk1"/>
              </a:solidFill>
            </a:endParaRPr>
          </a:p>
          <a:p>
            <a:pPr indent="0" lvl="0" marL="0" rtl="0" algn="l">
              <a:lnSpc>
                <a:spcPct val="90000"/>
              </a:lnSpc>
              <a:spcBef>
                <a:spcPts val="1000"/>
              </a:spcBef>
              <a:spcAft>
                <a:spcPts val="0"/>
              </a:spcAft>
              <a:buClr>
                <a:schemeClr val="dk1"/>
              </a:buClr>
              <a:buSzPts val="1650"/>
              <a:buNone/>
            </a:pPr>
            <a:r>
              <a:rPr b="0" i="0" lang="en-US" sz="1650">
                <a:solidFill>
                  <a:schemeClr val="dk1"/>
                </a:solidFill>
              </a:rPr>
              <a:t>Dynamically weights the importance of different time steps in the sequence, helping the model prioritize significant patterns (e.g., unusual traffic surges).</a:t>
            </a:r>
            <a:endParaRPr>
              <a:solidFill>
                <a:schemeClr val="dk1"/>
              </a:solidFill>
            </a:endParaRPr>
          </a:p>
          <a:p>
            <a:pPr indent="-95250" lvl="0" marL="228600" rtl="0" algn="l">
              <a:lnSpc>
                <a:spcPct val="90000"/>
              </a:lnSpc>
              <a:spcBef>
                <a:spcPts val="1000"/>
              </a:spcBef>
              <a:spcAft>
                <a:spcPts val="1200"/>
              </a:spcAft>
              <a:buClr>
                <a:schemeClr val="dk1"/>
              </a:buClr>
              <a:buSzPts val="2100"/>
              <a:buNone/>
            </a:pPr>
            <a:r>
              <a:t/>
            </a:r>
            <a:endParaRPr>
              <a:solidFill>
                <a:schemeClr val="dk1"/>
              </a:solidFill>
            </a:endParaRPr>
          </a:p>
        </p:txBody>
      </p:sp>
      <p:pic>
        <p:nvPicPr>
          <p:cNvPr descr="Ijgi 10 00485 g001" id="592" name="Google Shape;592;p72"/>
          <p:cNvPicPr preferRelativeResize="0"/>
          <p:nvPr/>
        </p:nvPicPr>
        <p:blipFill rotWithShape="1">
          <a:blip r:embed="rId3">
            <a:alphaModFix/>
          </a:blip>
          <a:srcRect b="0" l="0" r="0" t="0"/>
          <a:stretch/>
        </p:blipFill>
        <p:spPr>
          <a:xfrm>
            <a:off x="266308" y="1723083"/>
            <a:ext cx="8611383" cy="253245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3"/>
          <p:cNvSpPr txBox="1"/>
          <p:nvPr>
            <p:ph type="title"/>
          </p:nvPr>
        </p:nvSpPr>
        <p:spPr>
          <a:xfrm>
            <a:off x="311700" y="315925"/>
            <a:ext cx="8520600" cy="831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78571"/>
              <a:buFont typeface="Calibri"/>
              <a:buNone/>
            </a:pPr>
            <a:br>
              <a:rPr b="1" i="0" lang="en-US"/>
            </a:br>
            <a:r>
              <a:rPr b="1" i="0" lang="en-US"/>
              <a:t>Mathematics Behind A3T-GCN</a:t>
            </a:r>
            <a:br>
              <a:rPr b="1" i="0" lang="en-US"/>
            </a:br>
            <a:endParaRPr b="1"/>
          </a:p>
        </p:txBody>
      </p:sp>
      <p:sp>
        <p:nvSpPr>
          <p:cNvPr id="598" name="Google Shape;598;p73"/>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50"/>
              <a:buNone/>
            </a:pPr>
            <a:r>
              <a:rPr b="1" i="0" lang="en-US" sz="1650">
                <a:solidFill>
                  <a:schemeClr val="dk1"/>
                </a:solidFill>
                <a:latin typeface="Arial"/>
                <a:ea typeface="Arial"/>
                <a:cs typeface="Arial"/>
                <a:sym typeface="Arial"/>
              </a:rPr>
              <a:t>Graph Convolution layer</a:t>
            </a:r>
            <a:endParaRPr>
              <a:solidFill>
                <a:schemeClr val="dk1"/>
              </a:solidFill>
            </a:endParaRPr>
          </a:p>
          <a:p>
            <a:pPr indent="-228600" lvl="0" marL="228600" rtl="0" algn="l">
              <a:lnSpc>
                <a:spcPct val="90000"/>
              </a:lnSpc>
              <a:spcBef>
                <a:spcPts val="1000"/>
              </a:spcBef>
              <a:spcAft>
                <a:spcPts val="0"/>
              </a:spcAft>
              <a:buClr>
                <a:schemeClr val="dk1"/>
              </a:buClr>
              <a:buSzPts val="1650"/>
              <a:buChar char="●"/>
            </a:pPr>
            <a:r>
              <a:rPr b="0" i="0" lang="en-US" sz="1650">
                <a:solidFill>
                  <a:schemeClr val="dk1"/>
                </a:solidFill>
                <a:latin typeface="Arial"/>
                <a:ea typeface="Arial"/>
                <a:cs typeface="Arial"/>
                <a:sym typeface="Arial"/>
              </a:rPr>
              <a:t>The GCN captures </a:t>
            </a:r>
            <a:r>
              <a:rPr b="1" i="0" lang="en-US" sz="1650">
                <a:solidFill>
                  <a:schemeClr val="dk1"/>
                </a:solidFill>
                <a:latin typeface="Arial"/>
                <a:ea typeface="Arial"/>
                <a:cs typeface="Arial"/>
                <a:sym typeface="Arial"/>
              </a:rPr>
              <a:t>spatial dependencies</a:t>
            </a:r>
            <a:r>
              <a:rPr b="0" i="0" lang="en-US" sz="1650">
                <a:solidFill>
                  <a:schemeClr val="dk1"/>
                </a:solidFill>
                <a:latin typeface="Arial"/>
                <a:ea typeface="Arial"/>
                <a:cs typeface="Arial"/>
                <a:sym typeface="Arial"/>
              </a:rPr>
              <a:t> in the traffic network graph. The operation at each layer of the GCN is defined as:</a:t>
            </a:r>
            <a:endParaRPr>
              <a:solidFill>
                <a:schemeClr val="dk1"/>
              </a:solidFill>
            </a:endParaRPr>
          </a:p>
          <a:p>
            <a:pPr indent="0" lvl="0" marL="0" rtl="0" algn="l">
              <a:lnSpc>
                <a:spcPct val="90000"/>
              </a:lnSpc>
              <a:spcBef>
                <a:spcPts val="1000"/>
              </a:spcBef>
              <a:spcAft>
                <a:spcPts val="0"/>
              </a:spcAft>
              <a:buClr>
                <a:schemeClr val="dk1"/>
              </a:buClr>
              <a:buSzPts val="1650"/>
              <a:buNone/>
            </a:pPr>
            <a:r>
              <a:t/>
            </a:r>
            <a:endParaRPr b="0" i="0" sz="1650">
              <a:solidFill>
                <a:schemeClr val="dk1"/>
              </a:solidFill>
              <a:latin typeface="Arial"/>
              <a:ea typeface="Arial"/>
              <a:cs typeface="Arial"/>
              <a:sym typeface="Arial"/>
            </a:endParaRPr>
          </a:p>
          <a:p>
            <a:pPr indent="-95250" lvl="0" marL="228600" rtl="0" algn="l">
              <a:lnSpc>
                <a:spcPct val="90000"/>
              </a:lnSpc>
              <a:spcBef>
                <a:spcPts val="1000"/>
              </a:spcBef>
              <a:spcAft>
                <a:spcPts val="1200"/>
              </a:spcAft>
              <a:buClr>
                <a:schemeClr val="dk1"/>
              </a:buClr>
              <a:buSzPts val="2100"/>
              <a:buNone/>
            </a:pPr>
            <a:r>
              <a:t/>
            </a:r>
            <a:endParaRPr>
              <a:solidFill>
                <a:schemeClr val="dk1"/>
              </a:solidFill>
            </a:endParaRPr>
          </a:p>
        </p:txBody>
      </p:sp>
      <p:pic>
        <p:nvPicPr>
          <p:cNvPr id="599" name="Google Shape;599;p73"/>
          <p:cNvPicPr preferRelativeResize="0"/>
          <p:nvPr/>
        </p:nvPicPr>
        <p:blipFill rotWithShape="1">
          <a:blip r:embed="rId3">
            <a:alphaModFix/>
          </a:blip>
          <a:srcRect b="0" l="0" r="0" t="0"/>
          <a:stretch/>
        </p:blipFill>
        <p:spPr>
          <a:xfrm>
            <a:off x="612050" y="2704688"/>
            <a:ext cx="7678722" cy="199376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4"/>
          <p:cNvSpPr txBox="1"/>
          <p:nvPr>
            <p:ph idx="1" type="body"/>
          </p:nvPr>
        </p:nvSpPr>
        <p:spPr>
          <a:xfrm>
            <a:off x="311700" y="178250"/>
            <a:ext cx="8520600" cy="3354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D0D0D"/>
              </a:buClr>
              <a:buSzPts val="1650"/>
              <a:buChar char="●"/>
            </a:pPr>
            <a:r>
              <a:rPr b="1" i="0" lang="en-US" sz="1650">
                <a:solidFill>
                  <a:srgbClr val="0D0D0D"/>
                </a:solidFill>
              </a:rPr>
              <a:t>Temporal Modeling with GRU</a:t>
            </a:r>
            <a:endParaRPr/>
          </a:p>
          <a:p>
            <a:pPr indent="0" lvl="0" marL="0" rtl="0" algn="l">
              <a:lnSpc>
                <a:spcPct val="90000"/>
              </a:lnSpc>
              <a:spcBef>
                <a:spcPts val="1000"/>
              </a:spcBef>
              <a:spcAft>
                <a:spcPts val="0"/>
              </a:spcAft>
              <a:buClr>
                <a:schemeClr val="dk1"/>
              </a:buClr>
              <a:buSzPts val="1650"/>
              <a:buNone/>
            </a:pPr>
            <a:r>
              <a:t/>
            </a:r>
            <a:endParaRPr b="1" sz="1650">
              <a:solidFill>
                <a:srgbClr val="0D0D0D"/>
              </a:solidFill>
            </a:endParaRPr>
          </a:p>
          <a:p>
            <a:pPr indent="0" lvl="0" marL="0" rtl="0" algn="l">
              <a:lnSpc>
                <a:spcPct val="90000"/>
              </a:lnSpc>
              <a:spcBef>
                <a:spcPts val="1000"/>
              </a:spcBef>
              <a:spcAft>
                <a:spcPts val="0"/>
              </a:spcAft>
              <a:buClr>
                <a:schemeClr val="dk1"/>
              </a:buClr>
              <a:buSzPts val="1650"/>
              <a:buNone/>
            </a:pPr>
            <a:r>
              <a:t/>
            </a:r>
            <a:endParaRPr b="1" i="0" sz="1650">
              <a:solidFill>
                <a:srgbClr val="0D0D0D"/>
              </a:solidFill>
            </a:endParaRPr>
          </a:p>
          <a:p>
            <a:pPr indent="-95250" lvl="0" marL="228600" rtl="0" algn="l">
              <a:lnSpc>
                <a:spcPct val="90000"/>
              </a:lnSpc>
              <a:spcBef>
                <a:spcPts val="1000"/>
              </a:spcBef>
              <a:spcAft>
                <a:spcPts val="1200"/>
              </a:spcAft>
              <a:buClr>
                <a:schemeClr val="dk1"/>
              </a:buClr>
              <a:buSzPts val="2100"/>
              <a:buNone/>
            </a:pPr>
            <a:r>
              <a:t/>
            </a:r>
            <a:endParaRPr/>
          </a:p>
        </p:txBody>
      </p:sp>
      <p:pic>
        <p:nvPicPr>
          <p:cNvPr id="605" name="Google Shape;605;p74"/>
          <p:cNvPicPr preferRelativeResize="0"/>
          <p:nvPr/>
        </p:nvPicPr>
        <p:blipFill rotWithShape="1">
          <a:blip r:embed="rId3">
            <a:alphaModFix/>
          </a:blip>
          <a:srcRect b="0" l="0" r="0" t="0"/>
          <a:stretch/>
        </p:blipFill>
        <p:spPr>
          <a:xfrm>
            <a:off x="570474" y="793233"/>
            <a:ext cx="7886699" cy="364110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5"/>
          <p:cNvSpPr txBox="1"/>
          <p:nvPr>
            <p:ph idx="1" type="body"/>
          </p:nvPr>
        </p:nvSpPr>
        <p:spPr>
          <a:xfrm>
            <a:off x="311700" y="377675"/>
            <a:ext cx="8520600" cy="3354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100"/>
              <a:buChar char="●"/>
            </a:pPr>
            <a:r>
              <a:rPr lang="en-US">
                <a:solidFill>
                  <a:schemeClr val="dk1"/>
                </a:solidFill>
              </a:rPr>
              <a:t>Attention Mechanism</a:t>
            </a:r>
            <a:endParaRPr>
              <a:solidFill>
                <a:schemeClr val="dk1"/>
              </a:solidFill>
            </a:endParaRPr>
          </a:p>
          <a:p>
            <a:pPr indent="0" lvl="0" marL="0" rtl="0" algn="l">
              <a:lnSpc>
                <a:spcPct val="90000"/>
              </a:lnSpc>
              <a:spcBef>
                <a:spcPts val="1000"/>
              </a:spcBef>
              <a:spcAft>
                <a:spcPts val="1200"/>
              </a:spcAft>
              <a:buClr>
                <a:schemeClr val="dk1"/>
              </a:buClr>
              <a:buSzPts val="2100"/>
              <a:buNone/>
            </a:pPr>
            <a:r>
              <a:t/>
            </a:r>
            <a:endParaRPr>
              <a:solidFill>
                <a:schemeClr val="dk1"/>
              </a:solidFill>
            </a:endParaRPr>
          </a:p>
        </p:txBody>
      </p:sp>
      <p:pic>
        <p:nvPicPr>
          <p:cNvPr id="611" name="Google Shape;611;p75"/>
          <p:cNvPicPr preferRelativeResize="0"/>
          <p:nvPr/>
        </p:nvPicPr>
        <p:blipFill rotWithShape="1">
          <a:blip r:embed="rId3">
            <a:alphaModFix/>
          </a:blip>
          <a:srcRect b="0" l="0" r="0" t="0"/>
          <a:stretch/>
        </p:blipFill>
        <p:spPr>
          <a:xfrm>
            <a:off x="545750" y="1001125"/>
            <a:ext cx="7886701" cy="37552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6"/>
          <p:cNvSpPr txBox="1"/>
          <p:nvPr>
            <p:ph type="title"/>
          </p:nvPr>
        </p:nvSpPr>
        <p:spPr>
          <a:xfrm>
            <a:off x="311700" y="63450"/>
            <a:ext cx="8520600" cy="831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sz="2400"/>
              <a:t>Results and Analysis</a:t>
            </a:r>
            <a:endParaRPr b="1" sz="2400"/>
          </a:p>
        </p:txBody>
      </p:sp>
      <p:pic>
        <p:nvPicPr>
          <p:cNvPr id="617" name="Google Shape;617;p76"/>
          <p:cNvPicPr preferRelativeResize="0"/>
          <p:nvPr>
            <p:ph idx="1" type="body"/>
          </p:nvPr>
        </p:nvPicPr>
        <p:blipFill rotWithShape="1">
          <a:blip r:embed="rId3">
            <a:alphaModFix/>
          </a:blip>
          <a:srcRect b="0" l="0" r="0" t="0"/>
          <a:stretch/>
        </p:blipFill>
        <p:spPr>
          <a:xfrm>
            <a:off x="419750" y="894750"/>
            <a:ext cx="7183500" cy="2827500"/>
          </a:xfrm>
          <a:prstGeom prst="rect">
            <a:avLst/>
          </a:prstGeom>
          <a:noFill/>
          <a:ln>
            <a:noFill/>
          </a:ln>
        </p:spPr>
      </p:pic>
      <p:sp>
        <p:nvSpPr>
          <p:cNvPr id="618" name="Google Shape;618;p76"/>
          <p:cNvSpPr txBox="1"/>
          <p:nvPr/>
        </p:nvSpPr>
        <p:spPr>
          <a:xfrm>
            <a:off x="535352" y="4105013"/>
            <a:ext cx="80733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D0D0D"/>
                </a:solidFill>
                <a:latin typeface="Arial"/>
                <a:ea typeface="Arial"/>
                <a:cs typeface="Arial"/>
                <a:sym typeface="Arial"/>
              </a:rPr>
              <a:t>This plot represents the </a:t>
            </a:r>
            <a:r>
              <a:rPr b="1" i="0" lang="en-US" sz="1400" u="none" cap="none" strike="noStrike">
                <a:solidFill>
                  <a:srgbClr val="0D0D0D"/>
                </a:solidFill>
                <a:latin typeface="Arial"/>
                <a:ea typeface="Arial"/>
                <a:cs typeface="Arial"/>
                <a:sym typeface="Arial"/>
              </a:rPr>
              <a:t>traffic data over time</a:t>
            </a:r>
            <a:r>
              <a:rPr b="0" i="0" lang="en-US" sz="1400" u="none" cap="none" strike="noStrike">
                <a:solidFill>
                  <a:srgbClr val="0D0D0D"/>
                </a:solidFill>
                <a:latin typeface="Arial"/>
                <a:ea typeface="Arial"/>
                <a:cs typeface="Arial"/>
                <a:sym typeface="Arial"/>
              </a:rPr>
              <a:t> for a specific traffic sensor, likely extracted from the dataset where</a:t>
            </a:r>
            <a:endParaRPr/>
          </a:p>
          <a:p>
            <a:pPr indent="0" lvl="0" marL="0" marR="0" rtl="0" algn="l">
              <a:lnSpc>
                <a:spcPct val="100000"/>
              </a:lnSpc>
              <a:spcBef>
                <a:spcPts val="0"/>
              </a:spcBef>
              <a:spcAft>
                <a:spcPts val="0"/>
              </a:spcAft>
              <a:buNone/>
            </a:pPr>
            <a:r>
              <a:rPr b="0" i="0" lang="en-US" sz="1400" u="none" cap="none" strike="noStrike">
                <a:solidFill>
                  <a:srgbClr val="0D0D0D"/>
                </a:solidFill>
                <a:latin typeface="Arial"/>
                <a:ea typeface="Arial"/>
                <a:cs typeface="Arial"/>
                <a:sym typeface="Arial"/>
              </a:rPr>
              <a:t>X axis represents 24hrs time and Y axis Represents the flow from sensor number 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77"/>
          <p:cNvPicPr preferRelativeResize="0"/>
          <p:nvPr/>
        </p:nvPicPr>
        <p:blipFill rotWithShape="1">
          <a:blip r:embed="rId3">
            <a:alphaModFix/>
          </a:blip>
          <a:srcRect b="0" l="0" r="0" t="0"/>
          <a:stretch/>
        </p:blipFill>
        <p:spPr>
          <a:xfrm>
            <a:off x="191739" y="153222"/>
            <a:ext cx="8293893" cy="2164556"/>
          </a:xfrm>
          <a:prstGeom prst="rect">
            <a:avLst/>
          </a:prstGeom>
          <a:noFill/>
          <a:ln>
            <a:noFill/>
          </a:ln>
        </p:spPr>
      </p:pic>
      <p:sp>
        <p:nvSpPr>
          <p:cNvPr id="624" name="Google Shape;624;p77"/>
          <p:cNvSpPr txBox="1"/>
          <p:nvPr/>
        </p:nvSpPr>
        <p:spPr>
          <a:xfrm>
            <a:off x="247454" y="2825721"/>
            <a:ext cx="8238300" cy="154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1400" u="none" cap="none" strike="noStrike">
                <a:solidFill>
                  <a:srgbClr val="0D0D0D"/>
                </a:solidFill>
                <a:latin typeface="Arial"/>
                <a:ea typeface="Arial"/>
                <a:cs typeface="Arial"/>
                <a:sym typeface="Arial"/>
              </a:rPr>
              <a:t>This plot can demonstrate:</a:t>
            </a:r>
            <a:endParaRPr/>
          </a:p>
          <a:p>
            <a:pPr indent="-317500" lvl="0" marL="457200" marR="0" rtl="0" algn="l">
              <a:lnSpc>
                <a:spcPct val="115000"/>
              </a:lnSpc>
              <a:spcBef>
                <a:spcPts val="0"/>
              </a:spcBef>
              <a:spcAft>
                <a:spcPts val="0"/>
              </a:spcAft>
              <a:buClr>
                <a:srgbClr val="0D0D0D"/>
              </a:buClr>
              <a:buSzPts val="1400"/>
              <a:buFont typeface="Arial"/>
              <a:buChar char="●"/>
            </a:pPr>
            <a:r>
              <a:rPr b="1" i="0" lang="en-US" sz="1400" u="none" cap="none" strike="noStrike">
                <a:solidFill>
                  <a:srgbClr val="0D0D0D"/>
                </a:solidFill>
                <a:latin typeface="Arial"/>
                <a:ea typeface="Arial"/>
                <a:cs typeface="Arial"/>
                <a:sym typeface="Arial"/>
              </a:rPr>
              <a:t>Model performance</a:t>
            </a:r>
            <a:r>
              <a:rPr b="0" i="0" lang="en-US" sz="1400" u="none" cap="none" strike="noStrike">
                <a:solidFill>
                  <a:srgbClr val="0D0D0D"/>
                </a:solidFill>
                <a:latin typeface="Arial"/>
                <a:ea typeface="Arial"/>
                <a:cs typeface="Arial"/>
                <a:sym typeface="Arial"/>
              </a:rPr>
              <a:t>: The ability of the model to forecast traffic patterns.</a:t>
            </a:r>
            <a:endParaRPr/>
          </a:p>
          <a:p>
            <a:pPr indent="-317500" lvl="0" marL="457200" marR="0" rtl="0" algn="l">
              <a:lnSpc>
                <a:spcPct val="115000"/>
              </a:lnSpc>
              <a:spcBef>
                <a:spcPts val="0"/>
              </a:spcBef>
              <a:spcAft>
                <a:spcPts val="0"/>
              </a:spcAft>
              <a:buClr>
                <a:srgbClr val="0D0D0D"/>
              </a:buClr>
              <a:buSzPts val="1400"/>
              <a:buFont typeface="Arial"/>
              <a:buChar char="●"/>
            </a:pPr>
            <a:r>
              <a:rPr b="1" i="0" lang="en-US" sz="1400" u="none" cap="none" strike="noStrike">
                <a:solidFill>
                  <a:srgbClr val="0D0D0D"/>
                </a:solidFill>
                <a:latin typeface="Arial"/>
                <a:ea typeface="Arial"/>
                <a:cs typeface="Arial"/>
                <a:sym typeface="Arial"/>
              </a:rPr>
              <a:t>Error trends</a:t>
            </a:r>
            <a:r>
              <a:rPr b="0" i="0" lang="en-US" sz="1400" u="none" cap="none" strike="noStrike">
                <a:solidFill>
                  <a:srgbClr val="0D0D0D"/>
                </a:solidFill>
                <a:latin typeface="Arial"/>
                <a:ea typeface="Arial"/>
                <a:cs typeface="Arial"/>
                <a:sym typeface="Arial"/>
              </a:rPr>
              <a:t>: Illustrate how prediction accuracy degrades with increasing time horizons, common in time-series forecasting tasks.</a:t>
            </a:r>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0" lvl="0" marL="0" marR="0" rtl="0" algn="l">
              <a:lnSpc>
                <a:spcPct val="115000"/>
              </a:lnSpc>
              <a:spcBef>
                <a:spcPts val="0"/>
              </a:spcBef>
              <a:spcAft>
                <a:spcPts val="0"/>
              </a:spcAft>
              <a:buNone/>
            </a:pPr>
            <a:r>
              <a:rPr b="0" i="0" lang="en-US" sz="1400" u="none" cap="none" strike="noStrike">
                <a:solidFill>
                  <a:srgbClr val="0D0D0D"/>
                </a:solidFill>
                <a:latin typeface="Arial"/>
                <a:ea typeface="Arial"/>
                <a:cs typeface="Arial"/>
                <a:sym typeface="Arial"/>
              </a:rPr>
              <a:t>Here RMSE Value is 0.52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8"/>
          <p:cNvSpPr txBox="1"/>
          <p:nvPr>
            <p:ph type="title"/>
          </p:nvPr>
        </p:nvSpPr>
        <p:spPr>
          <a:xfrm>
            <a:off x="311700" y="315925"/>
            <a:ext cx="8520600" cy="831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sz="2400"/>
              <a:t>Why to choose DCRNN over A3TGCN?</a:t>
            </a:r>
            <a:endParaRPr b="1" sz="2400"/>
          </a:p>
        </p:txBody>
      </p:sp>
      <p:sp>
        <p:nvSpPr>
          <p:cNvPr id="630" name="Google Shape;630;p78"/>
          <p:cNvSpPr txBox="1"/>
          <p:nvPr>
            <p:ph idx="1" type="body"/>
          </p:nvPr>
        </p:nvSpPr>
        <p:spPr>
          <a:xfrm>
            <a:off x="311700" y="1225225"/>
            <a:ext cx="8520600" cy="3354000"/>
          </a:xfrm>
          <a:prstGeom prst="rect">
            <a:avLst/>
          </a:prstGeom>
          <a:noFill/>
          <a:ln>
            <a:noFill/>
          </a:ln>
        </p:spPr>
        <p:txBody>
          <a:bodyPr anchorCtr="0" anchor="t" bIns="45700" lIns="91425" spcFirstLastPara="1" rIns="91425" wrap="square" tIns="45700">
            <a:noAutofit/>
          </a:bodyPr>
          <a:lstStyle/>
          <a:p>
            <a:pPr indent="-209550" lvl="0" marL="228600" rtl="0" algn="l">
              <a:lnSpc>
                <a:spcPct val="90000"/>
              </a:lnSpc>
              <a:spcBef>
                <a:spcPts val="0"/>
              </a:spcBef>
              <a:spcAft>
                <a:spcPts val="0"/>
              </a:spcAft>
              <a:buClr>
                <a:schemeClr val="dk1"/>
              </a:buClr>
              <a:buSzPts val="1500"/>
              <a:buChar char="●"/>
            </a:pPr>
            <a:r>
              <a:rPr b="1" lang="en-US" sz="1500">
                <a:solidFill>
                  <a:schemeClr val="dk1"/>
                </a:solidFill>
              </a:rPr>
              <a:t>Captures Directionality in Traffic :</a:t>
            </a:r>
            <a:r>
              <a:rPr lang="en-US" sz="1500">
                <a:solidFill>
                  <a:schemeClr val="dk1"/>
                </a:solidFill>
              </a:rPr>
              <a:t> Traffic flow is inherently </a:t>
            </a:r>
            <a:r>
              <a:rPr b="1" lang="en-US" sz="1500">
                <a:solidFill>
                  <a:schemeClr val="dk1"/>
                </a:solidFill>
              </a:rPr>
              <a:t>directional</a:t>
            </a:r>
            <a:r>
              <a:rPr lang="en-US" sz="1500">
                <a:solidFill>
                  <a:schemeClr val="dk1"/>
                </a:solidFill>
              </a:rPr>
              <a:t> (e.g., congestion propagates upstream). DCRNN's diffusion convolution explicitly models this directionality, while A3TGCN does not inherently account for it.</a:t>
            </a:r>
            <a:endParaRPr sz="1500">
              <a:solidFill>
                <a:schemeClr val="dk1"/>
              </a:solidFill>
            </a:endParaRPr>
          </a:p>
          <a:p>
            <a:pPr indent="-152400" lvl="0" marL="228600" rtl="0" algn="l">
              <a:lnSpc>
                <a:spcPct val="90000"/>
              </a:lnSpc>
              <a:spcBef>
                <a:spcPts val="1000"/>
              </a:spcBef>
              <a:spcAft>
                <a:spcPts val="0"/>
              </a:spcAft>
              <a:buClr>
                <a:schemeClr val="dk1"/>
              </a:buClr>
              <a:buSzPts val="1200"/>
              <a:buNone/>
            </a:pPr>
            <a:r>
              <a:t/>
            </a:r>
            <a:endParaRPr b="0" i="0" sz="1500">
              <a:solidFill>
                <a:schemeClr val="dk1"/>
              </a:solidFill>
            </a:endParaRPr>
          </a:p>
          <a:p>
            <a:pPr indent="-209550" lvl="0" marL="228600" rtl="0" algn="l">
              <a:lnSpc>
                <a:spcPct val="90000"/>
              </a:lnSpc>
              <a:spcBef>
                <a:spcPts val="1000"/>
              </a:spcBef>
              <a:spcAft>
                <a:spcPts val="0"/>
              </a:spcAft>
              <a:buClr>
                <a:schemeClr val="dk1"/>
              </a:buClr>
              <a:buSzPts val="1500"/>
              <a:buChar char="●"/>
            </a:pPr>
            <a:r>
              <a:rPr b="1" lang="en-US" sz="1500">
                <a:solidFill>
                  <a:schemeClr val="dk1"/>
                </a:solidFill>
              </a:rPr>
              <a:t>Handles Long-Term Dependencies: </a:t>
            </a:r>
            <a:r>
              <a:rPr lang="en-US" sz="1500">
                <a:solidFill>
                  <a:schemeClr val="dk1"/>
                </a:solidFill>
              </a:rPr>
              <a:t>DCRNN uses RNNs to model temporal dependencies, which are particularly effective for capturing long-term patterns in traffic data.</a:t>
            </a:r>
            <a:endParaRPr sz="1500">
              <a:solidFill>
                <a:schemeClr val="dk1"/>
              </a:solidFill>
            </a:endParaRPr>
          </a:p>
          <a:p>
            <a:pPr indent="-152400" lvl="0" marL="228600" rtl="0" algn="l">
              <a:lnSpc>
                <a:spcPct val="90000"/>
              </a:lnSpc>
              <a:spcBef>
                <a:spcPts val="1000"/>
              </a:spcBef>
              <a:spcAft>
                <a:spcPts val="0"/>
              </a:spcAft>
              <a:buClr>
                <a:schemeClr val="dk1"/>
              </a:buClr>
              <a:buSzPts val="1200"/>
              <a:buNone/>
            </a:pPr>
            <a:r>
              <a:t/>
            </a:r>
            <a:endParaRPr b="1" i="0" sz="1500">
              <a:solidFill>
                <a:schemeClr val="dk1"/>
              </a:solidFill>
            </a:endParaRPr>
          </a:p>
          <a:p>
            <a:pPr indent="-209550" lvl="0" marL="228600" rtl="0" algn="l">
              <a:lnSpc>
                <a:spcPct val="90000"/>
              </a:lnSpc>
              <a:spcBef>
                <a:spcPts val="1000"/>
              </a:spcBef>
              <a:spcAft>
                <a:spcPts val="0"/>
              </a:spcAft>
              <a:buClr>
                <a:schemeClr val="dk1"/>
              </a:buClr>
              <a:buSzPts val="1500"/>
              <a:buChar char="●"/>
            </a:pPr>
            <a:r>
              <a:rPr b="1" lang="en-US" sz="1500">
                <a:solidFill>
                  <a:schemeClr val="dk1"/>
                </a:solidFill>
              </a:rPr>
              <a:t>Proven Performance: </a:t>
            </a:r>
            <a:r>
              <a:rPr lang="en-US" sz="1500">
                <a:solidFill>
                  <a:schemeClr val="dk1"/>
                </a:solidFill>
              </a:rPr>
              <a:t>DCRNN has been extensively evaluated on traffic forecasting datasets (e.g., METR-LA, PEMS-BAY) and has consistently demonstrated state-of-the-art results for long-horizon predictions.</a:t>
            </a:r>
            <a:endParaRPr b="1" i="0" sz="1500">
              <a:solidFill>
                <a:schemeClr val="dk1"/>
              </a:solidFill>
            </a:endParaRPr>
          </a:p>
          <a:p>
            <a:pPr indent="0" lvl="0" marL="0" rtl="0" algn="l">
              <a:lnSpc>
                <a:spcPct val="90000"/>
              </a:lnSpc>
              <a:spcBef>
                <a:spcPts val="1000"/>
              </a:spcBef>
              <a:spcAft>
                <a:spcPts val="0"/>
              </a:spcAft>
              <a:buClr>
                <a:schemeClr val="dk1"/>
              </a:buClr>
              <a:buSzPts val="1650"/>
              <a:buNone/>
            </a:pPr>
            <a:r>
              <a:t/>
            </a:r>
            <a:endParaRPr b="0" i="0" sz="1500">
              <a:solidFill>
                <a:schemeClr val="dk1"/>
              </a:solidFill>
            </a:endParaRPr>
          </a:p>
          <a:p>
            <a:pPr indent="0" lvl="0" marL="0" rtl="0" algn="l">
              <a:lnSpc>
                <a:spcPct val="90000"/>
              </a:lnSpc>
              <a:spcBef>
                <a:spcPts val="1000"/>
              </a:spcBef>
              <a:spcAft>
                <a:spcPts val="1200"/>
              </a:spcAft>
              <a:buClr>
                <a:schemeClr val="dk1"/>
              </a:buClr>
              <a:buSzPts val="2100"/>
              <a:buNone/>
            </a:pPr>
            <a:r>
              <a:t/>
            </a:r>
            <a:endParaRPr sz="150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9"/>
          <p:cNvSpPr txBox="1"/>
          <p:nvPr>
            <p:ph idx="1" type="body"/>
          </p:nvPr>
        </p:nvSpPr>
        <p:spPr>
          <a:xfrm>
            <a:off x="311700" y="207725"/>
            <a:ext cx="8520600" cy="47115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US" sz="6800" u="sng"/>
              <a:t>Conclusion and Future Scope</a:t>
            </a:r>
            <a:endParaRPr b="1" sz="6800" u="sng">
              <a:latin typeface="Arial"/>
              <a:ea typeface="Arial"/>
              <a:cs typeface="Arial"/>
              <a:sym typeface="Arial"/>
            </a:endParaRPr>
          </a:p>
          <a:p>
            <a:pPr indent="-322384" lvl="0" marL="457200" rtl="0" algn="l">
              <a:spcBef>
                <a:spcPts val="1200"/>
              </a:spcBef>
              <a:spcAft>
                <a:spcPts val="0"/>
              </a:spcAft>
              <a:buSzPct val="100000"/>
              <a:buFont typeface="Arial"/>
              <a:buChar char="●"/>
            </a:pPr>
            <a:r>
              <a:rPr lang="en-US" sz="5907">
                <a:latin typeface="Arial"/>
                <a:ea typeface="Arial"/>
                <a:cs typeface="Arial"/>
                <a:sym typeface="Arial"/>
              </a:rPr>
              <a:t>This project establishes a strong foundation for an Intelligent Transport System by developing robust traffic prediction models like LSTM, DCRNN, and GAT, which effectively capture spatial-temporal dependencies. Comprehensive preprocessing and evaluation validate the models' accuracy and scalability for large networks.</a:t>
            </a:r>
            <a:endParaRPr sz="5907">
              <a:latin typeface="Arial"/>
              <a:ea typeface="Arial"/>
              <a:cs typeface="Arial"/>
              <a:sym typeface="Arial"/>
            </a:endParaRPr>
          </a:p>
          <a:p>
            <a:pPr indent="-322384" lvl="0" marL="457200" rtl="0" algn="l">
              <a:spcBef>
                <a:spcPts val="1000"/>
              </a:spcBef>
              <a:spcAft>
                <a:spcPts val="0"/>
              </a:spcAft>
              <a:buSzPct val="100000"/>
              <a:buFont typeface="Arial"/>
              <a:buChar char="●"/>
            </a:pPr>
            <a:r>
              <a:rPr lang="en-US" sz="5907">
                <a:latin typeface="Arial"/>
                <a:ea typeface="Arial"/>
                <a:cs typeface="Arial"/>
                <a:sym typeface="Arial"/>
              </a:rPr>
              <a:t>The next step is to implement the route optimization module, leveraging Generative AI and LLMs to deliver real-time, personalized route suggestions. This work highlights the potential of AI-powered solutions to reduce congestion, improve commute efficiency, and support sustainable urban mobility.</a:t>
            </a:r>
            <a:endParaRPr sz="5907">
              <a:latin typeface="Arial"/>
              <a:ea typeface="Arial"/>
              <a:cs typeface="Arial"/>
              <a:sym typeface="Arial"/>
            </a:endParaRPr>
          </a:p>
          <a:p>
            <a:pPr indent="-322384" lvl="0" marL="457200" rtl="0" algn="l">
              <a:spcBef>
                <a:spcPts val="1000"/>
              </a:spcBef>
              <a:spcAft>
                <a:spcPts val="0"/>
              </a:spcAft>
              <a:buSzPct val="100000"/>
              <a:buFont typeface="Arial"/>
              <a:buChar char="●"/>
            </a:pPr>
            <a:r>
              <a:rPr lang="en-US" sz="5907">
                <a:latin typeface="Arial"/>
                <a:ea typeface="Arial"/>
                <a:cs typeface="Arial"/>
                <a:sym typeface="Arial"/>
              </a:rPr>
              <a:t>Future Scope - </a:t>
            </a:r>
            <a:endParaRPr sz="5907">
              <a:latin typeface="Arial"/>
              <a:ea typeface="Arial"/>
              <a:cs typeface="Arial"/>
              <a:sym typeface="Arial"/>
            </a:endParaRPr>
          </a:p>
          <a:p>
            <a:pPr indent="-322384" lvl="1" marL="914400" rtl="0" algn="l">
              <a:spcBef>
                <a:spcPts val="1000"/>
              </a:spcBef>
              <a:spcAft>
                <a:spcPts val="0"/>
              </a:spcAft>
              <a:buSzPct val="100000"/>
              <a:buFont typeface="Arial"/>
              <a:buChar char="○"/>
            </a:pPr>
            <a:r>
              <a:rPr lang="en-US" sz="5907">
                <a:latin typeface="Arial"/>
                <a:ea typeface="Arial"/>
                <a:cs typeface="Arial"/>
                <a:sym typeface="Arial"/>
              </a:rPr>
              <a:t>After analyzing multiple models, including LSTM, A3TGCN and DCRNN, we believe that DCRNN will be the most effective model for traffic prediction due to its ability to capture spatial-temporal dependencies, making it a strong candidate for our project. We plan to implement this model in the future. </a:t>
            </a:r>
            <a:endParaRPr sz="5907">
              <a:latin typeface="Arial"/>
              <a:ea typeface="Arial"/>
              <a:cs typeface="Arial"/>
              <a:sym typeface="Arial"/>
            </a:endParaRPr>
          </a:p>
          <a:p>
            <a:pPr indent="-322384" lvl="1" marL="914400" rtl="0" algn="l">
              <a:spcBef>
                <a:spcPts val="1200"/>
              </a:spcBef>
              <a:spcAft>
                <a:spcPts val="0"/>
              </a:spcAft>
              <a:buSzPct val="100000"/>
              <a:buFont typeface="Arial"/>
              <a:buChar char="○"/>
            </a:pPr>
            <a:r>
              <a:rPr lang="en-US" sz="5907">
                <a:latin typeface="Arial"/>
                <a:ea typeface="Arial"/>
                <a:cs typeface="Arial"/>
                <a:sym typeface="Arial"/>
              </a:rPr>
              <a:t>We have 2 </a:t>
            </a:r>
            <a:r>
              <a:rPr lang="en-US" sz="5907">
                <a:latin typeface="Arial"/>
                <a:ea typeface="Arial"/>
                <a:cs typeface="Arial"/>
                <a:sym typeface="Arial"/>
              </a:rPr>
              <a:t>datasets</a:t>
            </a:r>
            <a:r>
              <a:rPr lang="en-US" sz="5907">
                <a:latin typeface="Arial"/>
                <a:ea typeface="Arial"/>
                <a:cs typeface="Arial"/>
                <a:sym typeface="Arial"/>
              </a:rPr>
              <a:t>, METRLA and PEMS. Since the PEMS dataset offers more comprehensive features, we have decided to proceed with PEMS to maximize the model’s performance and provide more insightful results.</a:t>
            </a:r>
            <a:endParaRPr sz="5907">
              <a:latin typeface="Arial"/>
              <a:ea typeface="Arial"/>
              <a:cs typeface="Arial"/>
              <a:sym typeface="Arial"/>
            </a:endParaRPr>
          </a:p>
          <a:p>
            <a:pPr indent="0" lvl="0" marL="914400" rtl="0" algn="l">
              <a:spcBef>
                <a:spcPts val="1200"/>
              </a:spcBef>
              <a:spcAft>
                <a:spcPts val="0"/>
              </a:spcAft>
              <a:buNone/>
            </a:pPr>
            <a:r>
              <a:t/>
            </a:r>
            <a:endParaRPr sz="2400">
              <a:latin typeface="Arial"/>
              <a:ea typeface="Arial"/>
              <a:cs typeface="Arial"/>
              <a:sym typeface="Arial"/>
            </a:endParaRPr>
          </a:p>
          <a:p>
            <a:pPr indent="0" lvl="0" marL="0" rtl="0" algn="l">
              <a:spcBef>
                <a:spcPts val="1200"/>
              </a:spcBef>
              <a:spcAft>
                <a:spcPts val="1200"/>
              </a:spcAft>
              <a:buNone/>
            </a:pPr>
            <a:r>
              <a:t/>
            </a:r>
            <a:endParaRPr b="1"/>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References</a:t>
            </a:r>
            <a:endParaRPr/>
          </a:p>
        </p:txBody>
      </p:sp>
      <p:sp>
        <p:nvSpPr>
          <p:cNvPr id="641" name="Google Shape;641;p80"/>
          <p:cNvSpPr txBox="1"/>
          <p:nvPr>
            <p:ph idx="1" type="body"/>
          </p:nvPr>
        </p:nvSpPr>
        <p:spPr>
          <a:xfrm>
            <a:off x="311700" y="1225225"/>
            <a:ext cx="8654100" cy="33540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lang="en-US" sz="1900" u="sng">
                <a:solidFill>
                  <a:schemeClr val="hlink"/>
                </a:solidFill>
                <a:hlinkClick r:id="rId3"/>
              </a:rPr>
              <a:t>https://www.sciencedirect.com/science/article/pii/S0925231224012128</a:t>
            </a:r>
            <a:endParaRPr sz="1900"/>
          </a:p>
          <a:p>
            <a:pPr indent="-349250" lvl="0" marL="457200" rtl="0" algn="l">
              <a:spcBef>
                <a:spcPts val="0"/>
              </a:spcBef>
              <a:spcAft>
                <a:spcPts val="0"/>
              </a:spcAft>
              <a:buSzPts val="1900"/>
              <a:buAutoNum type="arabicPeriod"/>
            </a:pPr>
            <a:r>
              <a:rPr lang="en-US" sz="1900" u="sng">
                <a:solidFill>
                  <a:schemeClr val="hlink"/>
                </a:solidFill>
                <a:hlinkClick r:id="rId4"/>
              </a:rPr>
              <a:t>https://ieeexplore.ieee.org/stamp/stamp.jsp?tp=&amp;arnumber=8903252</a:t>
            </a:r>
            <a:endParaRPr sz="1900"/>
          </a:p>
          <a:p>
            <a:pPr indent="-349250" lvl="0" marL="457200" rtl="0" algn="l">
              <a:spcBef>
                <a:spcPts val="0"/>
              </a:spcBef>
              <a:spcAft>
                <a:spcPts val="0"/>
              </a:spcAft>
              <a:buSzPts val="1900"/>
              <a:buAutoNum type="arabicPeriod"/>
            </a:pPr>
            <a:r>
              <a:rPr lang="en-US" sz="1900" u="sng">
                <a:solidFill>
                  <a:schemeClr val="hlink"/>
                </a:solidFill>
                <a:hlinkClick r:id="rId5"/>
              </a:rPr>
              <a:t>https://arxiv.org/pdf/2006.11583</a:t>
            </a:r>
            <a:endParaRPr sz="1900"/>
          </a:p>
          <a:p>
            <a:pPr indent="0" lvl="0" marL="457200" rtl="0" algn="l">
              <a:spcBef>
                <a:spcPts val="1200"/>
              </a:spcBef>
              <a:spcAft>
                <a:spcPts val="0"/>
              </a:spcAft>
              <a:buNone/>
            </a:pPr>
            <a:r>
              <a:t/>
            </a:r>
            <a:endParaRPr sz="1900"/>
          </a:p>
          <a:p>
            <a:pPr indent="0" lvl="0" marL="457200" rtl="0" algn="l">
              <a:spcBef>
                <a:spcPts val="1200"/>
              </a:spcBef>
              <a:spcAft>
                <a:spcPts val="0"/>
              </a:spcAft>
              <a:buNone/>
            </a:pPr>
            <a:r>
              <a:t/>
            </a:r>
            <a:endParaRPr sz="1900"/>
          </a:p>
          <a:p>
            <a:pPr indent="0" lvl="0" marL="457200" rtl="0" algn="l">
              <a:spcBef>
                <a:spcPts val="1200"/>
              </a:spcBef>
              <a:spcAft>
                <a:spcPts val="1200"/>
              </a:spcAft>
              <a:buNone/>
            </a:pPr>
            <a:r>
              <a:t/>
            </a:r>
            <a:endParaRPr sz="19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1"/>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